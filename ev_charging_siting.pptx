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81cfdd4f8f4838" /><Relationship Type="http://schemas.openxmlformats.org/officeDocument/2006/relationships/extended-properties" Target="/docProps/app.xml" Id="Re925522fbb9d412c" /><Relationship Type="http://schemas.openxmlformats.org/officeDocument/2006/relationships/officeDocument" Target="/ppt/presentation.xml" Id="Rf01e3281cc7f4872" /></Relationships>
</file>

<file path=ppt/presentation.xml><?xml version="1.0" encoding="utf-8"?>
<p:presentation xmlns:p="http://schemas.openxmlformats.org/presentationml/2006/main">
  <p:sldMasterIdLst>
    <p:sldMasterId xmlns:r="http://schemas.openxmlformats.org/officeDocument/2006/relationships" id="2147483648" r:id="Red7d081542bb4596"/>
  </p:sldMasterIdLst>
  <p:notesMasterIdLst>
    <p:notesMasterId xmlns:r="http://schemas.openxmlformats.org/officeDocument/2006/relationships" r:id="R6100a9d6ceae4127"/>
  </p:notesMasterIdLst>
  <p:sldIdLst>
    <p:sldId xmlns:r="http://schemas.openxmlformats.org/officeDocument/2006/relationships" id="256" r:id="R240f271a35db421f"/>
    <p:sldId xmlns:r="http://schemas.openxmlformats.org/officeDocument/2006/relationships" id="257" r:id="Rc81a206f115a4d46"/>
    <p:sldId xmlns:r="http://schemas.openxmlformats.org/officeDocument/2006/relationships" id="258" r:id="R678d5330ae94424e"/>
    <p:sldId xmlns:r="http://schemas.openxmlformats.org/officeDocument/2006/relationships" id="259" r:id="Rb2c9cae35e174a7c"/>
    <p:sldId xmlns:r="http://schemas.openxmlformats.org/officeDocument/2006/relationships" id="260" r:id="R4a36e6a861b346d8"/>
    <p:sldId xmlns:r="http://schemas.openxmlformats.org/officeDocument/2006/relationships" id="261" r:id="R9d4c695824794cfe"/>
    <p:sldId xmlns:r="http://schemas.openxmlformats.org/officeDocument/2006/relationships" id="262" r:id="Rd83abc4fed1d4605"/>
    <p:sldId xmlns:r="http://schemas.openxmlformats.org/officeDocument/2006/relationships" id="263" r:id="R5726395790794795"/>
    <p:sldId xmlns:r="http://schemas.openxmlformats.org/officeDocument/2006/relationships" id="264" r:id="Re2e1657bae0a49b2"/>
    <p:sldId xmlns:r="http://schemas.openxmlformats.org/officeDocument/2006/relationships" id="265" r:id="Rde4180ddbd5946d4"/>
    <p:sldId xmlns:r="http://schemas.openxmlformats.org/officeDocument/2006/relationships" id="266" r:id="Rcbd207393c54415f"/>
    <p:sldId xmlns:r="http://schemas.openxmlformats.org/officeDocument/2006/relationships" id="267" r:id="Rd2f72cc72a0042fb"/>
    <p:sldId xmlns:r="http://schemas.openxmlformats.org/officeDocument/2006/relationships" id="268" r:id="Ra757bc4a3d314c18"/>
    <p:sldId xmlns:r="http://schemas.openxmlformats.org/officeDocument/2006/relationships" id="269" r:id="Ree13cf1a7c5440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6cc25684fd54cfd" /><Relationship Type="http://schemas.openxmlformats.org/officeDocument/2006/relationships/slideMaster" Target="/ppt/slideMasters/slideMaster1.xml" Id="Red7d081542bb4596" /><Relationship Type="http://schemas.openxmlformats.org/officeDocument/2006/relationships/notesMaster" Target="/ppt/notesMasters/notesMaster1.xml" Id="R6100a9d6ceae4127" /><Relationship Type="http://schemas.openxmlformats.org/officeDocument/2006/relationships/presProps" Target="/ppt/presProps.xml" Id="Rac23a071d1be427d" /><Relationship Type="http://schemas.openxmlformats.org/officeDocument/2006/relationships/viewProps" Target="/ppt/viewProps.xml" Id="R8566c52fb2524862" /><Relationship Type="http://schemas.openxmlformats.org/officeDocument/2006/relationships/tableStyles" Target="/ppt/tableStyles.xml" Id="R6097aa24454b4c41" /><Relationship Type="http://schemas.openxmlformats.org/officeDocument/2006/relationships/slide" Target="/ppt/slides/slide1.xml" Id="R240f271a35db421f" /><Relationship Type="http://schemas.openxmlformats.org/officeDocument/2006/relationships/slide" Target="/ppt/slides/slide2.xml" Id="Rc81a206f115a4d46" /><Relationship Type="http://schemas.openxmlformats.org/officeDocument/2006/relationships/slide" Target="/ppt/slides/slide3.xml" Id="R678d5330ae94424e" /><Relationship Type="http://schemas.openxmlformats.org/officeDocument/2006/relationships/slide" Target="/ppt/slides/slide4.xml" Id="Rb2c9cae35e174a7c" /><Relationship Type="http://schemas.openxmlformats.org/officeDocument/2006/relationships/slide" Target="/ppt/slides/slide5.xml" Id="R4a36e6a861b346d8" /><Relationship Type="http://schemas.openxmlformats.org/officeDocument/2006/relationships/slide" Target="/ppt/slides/slide6.xml" Id="R9d4c695824794cfe" /><Relationship Type="http://schemas.openxmlformats.org/officeDocument/2006/relationships/slide" Target="/ppt/slides/slide7.xml" Id="Rd83abc4fed1d4605" /><Relationship Type="http://schemas.openxmlformats.org/officeDocument/2006/relationships/slide" Target="/ppt/slides/slide8.xml" Id="R5726395790794795" /><Relationship Type="http://schemas.openxmlformats.org/officeDocument/2006/relationships/slide" Target="/ppt/slides/slide9.xml" Id="Re2e1657bae0a49b2" /><Relationship Type="http://schemas.openxmlformats.org/officeDocument/2006/relationships/slide" Target="/ppt/slides/slide10.xml" Id="Rde4180ddbd5946d4" /><Relationship Type="http://schemas.openxmlformats.org/officeDocument/2006/relationships/slide" Target="/ppt/slides/slide11.xml" Id="Rcbd207393c54415f" /><Relationship Type="http://schemas.openxmlformats.org/officeDocument/2006/relationships/slide" Target="/ppt/slides/slide12.xml" Id="Rd2f72cc72a0042fb" /><Relationship Type="http://schemas.openxmlformats.org/officeDocument/2006/relationships/slide" Target="/ppt/slides/slide13.xml" Id="Ra757bc4a3d314c18" /><Relationship Type="http://schemas.openxmlformats.org/officeDocument/2006/relationships/slide" Target="/ppt/slides/slide14.xml" Id="Ree13cf1a7c5440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3ca23d43ce44e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ev_charging_siting">
  <a:themeElements>
    <a:clrScheme name="ev_charging_siting">
      <a:dk1>
        <a:srgbClr val="1F2937"/>
      </a:dk1>
      <a:lt1>
        <a:srgbClr val="FFFFFF"/>
      </a:lt1>
      <a:dk2>
        <a:srgbClr val="1F497D"/>
      </a:dk2>
      <a:lt2>
        <a:srgbClr val="F1F5F5"/>
      </a:lt2>
      <a:accent1>
        <a:srgbClr val="0E7C6B"/>
      </a:accent1>
      <a:accent2>
        <a:srgbClr val="F59E0B"/>
      </a:accent2>
      <a:accent3>
        <a:srgbClr val="DC2626"/>
      </a:accent3>
      <a:accent4>
        <a:srgbClr val="0E7C6B"/>
      </a:accent4>
      <a:accent5>
        <a:srgbClr val="E2E8F0"/>
      </a:accent5>
      <a:accent6>
        <a:srgbClr val="F79646"/>
      </a:accent6>
      <a:hlink>
        <a:srgbClr val="F59E0B"/>
      </a:hlink>
      <a:folHlink>
        <a:srgbClr val="DC2626"/>
      </a:folHlink>
    </a:clrScheme>
    <a:fontScheme name="ev_charging_sit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_charging_sit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2e06bc7acd4fc2" /><Relationship Type="http://schemas.openxmlformats.org/officeDocument/2006/relationships/notesMaster" Target="/ppt/notesMasters/notesMaster1.xml" Id="Rbe750743cd78488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ba0c0c84c04637" /><Relationship Type="http://schemas.openxmlformats.org/officeDocument/2006/relationships/notesMaster" Target="/ppt/notesMasters/notesMaster1.xml" Id="R5e7d7dde1b2b4e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6dab4ba7364f0f" /><Relationship Type="http://schemas.openxmlformats.org/officeDocument/2006/relationships/notesMaster" Target="/ppt/notesMasters/notesMaster1.xml" Id="R2cdd3caebac947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7f94f2ecd94f8c" /><Relationship Type="http://schemas.openxmlformats.org/officeDocument/2006/relationships/notesMaster" Target="/ppt/notesMasters/notesMaster1.xml" Id="Rc1c2f791502346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5849bc85514ae4" /><Relationship Type="http://schemas.openxmlformats.org/officeDocument/2006/relationships/notesMaster" Target="/ppt/notesMasters/notesMaster1.xml" Id="R0294d130c9244f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0065d4c7714905" /><Relationship Type="http://schemas.openxmlformats.org/officeDocument/2006/relationships/notesMaster" Target="/ppt/notesMasters/notesMaster1.xml" Id="R8977771f21f646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9a4264285347b4" /><Relationship Type="http://schemas.openxmlformats.org/officeDocument/2006/relationships/notesMaster" Target="/ppt/notesMasters/notesMaster1.xml" Id="Rcf85386d2297412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a4a9a164ca4b3d" /><Relationship Type="http://schemas.openxmlformats.org/officeDocument/2006/relationships/notesMaster" Target="/ppt/notesMasters/notesMaster1.xml" Id="R00f9f29b821442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0f8e8f607ed4b7a" /><Relationship Type="http://schemas.openxmlformats.org/officeDocument/2006/relationships/notesMaster" Target="/ppt/notesMasters/notesMaster1.xml" Id="R204abaf0854a41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f8c985f0dc4903" /><Relationship Type="http://schemas.openxmlformats.org/officeDocument/2006/relationships/notesMaster" Target="/ppt/notesMasters/notesMaster1.xml" Id="R5b4b7deb158b46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eb6cc9192c4f7b" /><Relationship Type="http://schemas.openxmlformats.org/officeDocument/2006/relationships/notesMaster" Target="/ppt/notesMasters/notesMaster1.xml" Id="R7ddbb21f914242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fc906f392d4dd6" /><Relationship Type="http://schemas.openxmlformats.org/officeDocument/2006/relationships/notesMaster" Target="/ppt/notesMasters/notesMaster1.xml" Id="Re47663bc5908473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ad83c384764539" /><Relationship Type="http://schemas.openxmlformats.org/officeDocument/2006/relationships/notesMaster" Target="/ppt/notesMasters/notesMaster1.xml" Id="R3e48aa9e8c364e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ed2c008d7f4adb" /><Relationship Type="http://schemas.openxmlformats.org/officeDocument/2006/relationships/notesMaster" Target="/ppt/notesMasters/notesMaster1.xml" Id="R9725d291be6043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everyone. Our project asks a practical planning question. If Chicago wants to screen possible locations for public EV charging, which sites should it choose when money, capacity, and service distance are limited? We built a mixed integer optimization model over twenty licensed candidate facilities. The headline result on this slide is six sites and five hundred eighty nine thousand dollars. I want to be careful about what that means. It is the cheapest full coverage solution under our current model assumptions. It is not a construction quote or a final city recommendation. During this presentation, I will show where the data comes from, how the optimization works, what changes when assumptions change, and which inputs need real validation before anyone makes a commitment.</a:t>
            </a:r>
          </a:p>
          <a:p xmlns:a="http://schemas.openxmlformats.org/drawingml/2006/main">
            <a:r>
              <a:t/>
            </a:r>
          </a:p>
          <a:p xmlns:a="http://schemas.openxmlformats.org/drawingml/2006/main">
            <a:r>
              <a:t>[Sources]</a:t>
            </a:r>
          </a:p>
          <a:p xmlns:a="http://schemas.openxmlformats.org/drawingml/2006/main">
            <a:r>
              <a:t>Revised project notebook executed on August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me start with the decision context. Imagine that the city or a utility has a fixed construction budget and a list of possible facilities. The planner needs to decide which locations to build and how much demand each location should serve. Building too few sites leaves demand unserved. Building sites in the wrong places creates long assignments. Building unnecessary sites wastes money. Our model compares those outcomes in one consistent framework. The success measure is not simply spending the entire budget. The goal is to find the best feasible service plan and leave money unused when extra spending creates no benefit. This is why we describe the project as a screening tool. It helps a planner compare scenarios before doing detailed engineering, ownership, and grid studies.</a:t>
            </a:r>
          </a:p>
          <a:p xmlns:a="http://schemas.openxmlformats.org/drawingml/2006/main">
            <a:r>
              <a:t/>
            </a:r>
          </a:p>
          <a:p xmlns:a="http://schemas.openxmlformats.org/drawingml/2006/main">
            <a:r>
              <a:t>[Sources]</a:t>
            </a:r>
          </a:p>
          <a:p xmlns:a="http://schemas.openxmlformats.org/drawingml/2006/main">
            <a:r>
              <a:t>City of Chicago Business Licenses Current Active</a:t>
            </a:r>
          </a:p>
          <a:p xmlns:a="http://schemas.openxmlformats.org/drawingml/2006/main">
            <a:r>
              <a:t>City of Chicago ACS Five Year Data by Community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mathematical structure. The first decision variable is y. It equals one when we build candidate site j and zero when we do not. The second variable is x. It records the fraction of demand at location i that is assigned to site j. The demand constraint makes sure each demand point is fully served in the full service model. The linking constraint prevents assignment to a site that was not built. The radius constraint blocks assignments that are too far away. The capacity constraint prevents a station from serving more demand than it can handle. The budget constraint limits total construction cost. For the minimum cost mode, we first minimize construction cost and then minimize distance among solutions with that same cost. For maximum coverage, we maximize served demand, then minimize cost, and finally minimize distance.</a:t>
            </a:r>
          </a:p>
          <a:p xmlns:a="http://schemas.openxmlformats.org/drawingml/2006/main">
            <a:r>
              <a:t/>
            </a:r>
          </a:p>
          <a:p xmlns:a="http://schemas.openxmlformats.org/drawingml/2006/main">
            <a:r>
              <a:t>[Sources]</a:t>
            </a:r>
          </a:p>
          <a:p xmlns:a="http://schemas.openxmlformats.org/drawingml/2006/main">
            <a:r>
              <a:t>Revised project notebook</a:t>
            </a:r>
          </a:p>
          <a:p xmlns:a="http://schemas.openxmlformats.org/drawingml/2006/main">
            <a:r>
              <a:t>Project model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important because it separates what is real from what is assumed. The candidate coordinates and facility types come from active City of Chicago business license records. We began with five hundred fifty three relevant license rows and selected twenty spatially distributed candidates. The city boundary is also official. For demand, we created forty five grid cells and used community population density from the 2023 ACS as a spatial proxy. This tells us where population is concentrated, but it does not measure EV charging sessions. The total demand scale, site costs, capacities, budget, and service radius are scenario assumptions. The distance is a straight line Haversine distance, not driving time. A business license also does not prove that a site has available land, owner approval, or enough electric grid capacity.</a:t>
            </a:r>
          </a:p>
          <a:p xmlns:a="http://schemas.openxmlformats.org/drawingml/2006/main">
            <a:r>
              <a:t/>
            </a:r>
          </a:p>
          <a:p xmlns:a="http://schemas.openxmlformats.org/drawingml/2006/main">
            <a:r>
              <a:t>[Sources]</a:t>
            </a:r>
          </a:p>
          <a:p xmlns:a="http://schemas.openxmlformats.org/drawingml/2006/main">
            <a:r>
              <a:t>City of Chicago Business Licenses Current Active</a:t>
            </a:r>
          </a:p>
          <a:p xmlns:a="http://schemas.openxmlformats.org/drawingml/2006/main">
            <a:r>
              <a:t>City of Chicago Community Area Boundaries</a:t>
            </a:r>
          </a:p>
          <a:p xmlns:a="http://schemas.openxmlformats.org/drawingml/2006/main">
            <a:r>
              <a:t>City of Chicago 2023 ACS Five Year Data</a:t>
            </a:r>
          </a:p>
          <a:p xmlns:a="http://schemas.openxmlformats.org/drawingml/2006/main">
            <a:r>
              <a:t>United States Department of Energy Alternative Fuels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solve the model with PuLP and the CBC solver. The problem is small enough for exact mixed integer optimization. It has twenty binary build variables and nine hundred continuous assignment variables. The main improvement in this version is the ordered objective process. For maximum coverage, the first solve finds the highest possible coverage. The second solve holds that coverage fixed and finds the cheapest plan. The third solve holds both results fixed and finds the shortest assignment distance. This removes arbitrary spending when several solutions have the same coverage. CBC reports an Optimal status under the configured tolerances. We also check every important constraint after the solve. We do not claim a separately verified zero percent optimality gap because the solver output does not provide enough evidence for that stronger statement.</a:t>
            </a:r>
          </a:p>
          <a:p xmlns:a="http://schemas.openxmlformats.org/drawingml/2006/main">
            <a:r>
              <a:t/>
            </a:r>
          </a:p>
          <a:p xmlns:a="http://schemas.openxmlformats.org/drawingml/2006/main">
            <a:r>
              <a:t>[Sources]</a:t>
            </a:r>
          </a:p>
          <a:p xmlns:a="http://schemas.openxmlformats.org/drawingml/2006/main">
            <a:r>
              <a:t>Revised project notebook</a:t>
            </a:r>
          </a:p>
          <a:p xmlns:a="http://schemas.openxmlformats.org/drawingml/2006/main">
            <a:r>
              <a:t>PuLP and CBC solver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is designed so another person can reproduce the analysis. The data preparation file loads the official snapshots, selects the candidates, creates the demand grid, and calculates the distance matrix. The model file contains one solve_model function. Every scenario calls that same function with a different budget, radius, capacity scale, or objective mode. The notebook then runs the baseline, validation checks, sensitivity analyses, charts, and recommendation function. The official source snapshots are included in the data folder, so the notebook does not need internet access. The delivered notebook runs from top to bottom with eighteen executed code cells and no hidden state. We also record the exact Python and package versions and keep CBC bundled with PuLP, which makes the project easier to rerun.</a:t>
            </a:r>
          </a:p>
          <a:p xmlns:a="http://schemas.openxmlformats.org/drawingml/2006/main">
            <a:r>
              <a:t/>
            </a:r>
          </a:p>
          <a:p xmlns:a="http://schemas.openxmlformats.org/drawingml/2006/main">
            <a:r>
              <a:t>[Sources]</a:t>
            </a:r>
          </a:p>
          <a:p xmlns:a="http://schemas.openxmlformats.org/drawingml/2006/main">
            <a:r>
              <a:t>Revised project notebook</a:t>
            </a:r>
          </a:p>
          <a:p xmlns:a="http://schemas.openxmlformats.org/drawingml/2006/main">
            <a:r>
              <a:t>Project requirements file</a:t>
            </a:r>
          </a:p>
          <a:p xmlns:a="http://schemas.openxmlformats.org/drawingml/2006/main">
            <a:r>
              <a:t>Project data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can look at the baseline result. With the current capacities and a five kilometer service radius, the minimum cost model selects six locations. They are S00, S03, S13, S15, S16, and S18. The total assumed construction cost is $589,000. Together, these sites serve one hundred percent of the model demand. The demand weighted average assignment distance is 2.28 kilometers. The map shows each demand point connected to the station serving it. Thicker lines represent larger demand assignments. All six selected sites happen to be garage type candidates with four thousand model capacity units. CBC reports an Optimal status, and our checks confirm that the solution respects the budget, capacity, assignment, linking, and radius constraints. Again, these numbers describe our model scenario rather than observed daily charging operations.</a:t>
            </a:r>
          </a:p>
          <a:p xmlns:a="http://schemas.openxmlformats.org/drawingml/2006/main">
            <a:r>
              <a:t/>
            </a:r>
          </a:p>
          <a:p xmlns:a="http://schemas.openxmlformats.org/drawingml/2006/main">
            <a:r>
              <a:t>[Sources]</a:t>
            </a:r>
          </a:p>
          <a:p xmlns:a="http://schemas.openxmlformats.org/drawingml/2006/main">
            <a:r>
              <a:t>Revised project notebook baseline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modes answer different planning questions. The minimum cost mode asks how much money is required to serve all model demand. If the budget is below $589,000, that requirement is infeasible. The maximum coverage mode asks how much demand can be served when the budget is fixed. At $300,000, it covers about 51.6 percent of demand volume and spends $255,000. At $500,000, it covers about 86 percent and spends $457,000. At $589,000, both modes reach the same six site plan with full coverage. This comparison matters because an infeasible full service model does not mean the project has no useful answer. It means the budget cannot support complete service, so the planner should switch to a transparent partial coverage question.</a:t>
            </a:r>
          </a:p>
          <a:p xmlns:a="http://schemas.openxmlformats.org/drawingml/2006/main">
            <a:r>
              <a:t/>
            </a:r>
          </a:p>
          <a:p xmlns:a="http://schemas.openxmlformats.org/drawingml/2006/main">
            <a:r>
              <a:t>[Sources]</a:t>
            </a:r>
          </a:p>
          <a:p xmlns:a="http://schemas.openxmlformats.org/drawingml/2006/main">
            <a:r>
              <a:t>Revised project notebook mode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budget curve gives us the main headline. Coverage rises as more money becomes available and reaches one hundred percent at $589,000. We call this the knee because it is the cheapest plan that serves everyone in the model. The chart on the right shows something equally important. Once the available budget goes above the knee, actual spending stays at $589,000. For example, if the planner has one million dollars available, the model still spends only $589,000 and leaves $411,000 unused. The earlier formulation could spend extra money without improving coverage because it did not break ties by cost. The corrected formulation removes that behavior. The practical message is simple. More available budget does not automatically justify more construction when the service objective is already achieved.</a:t>
            </a:r>
          </a:p>
          <a:p xmlns:a="http://schemas.openxmlformats.org/drawingml/2006/main">
            <a:r>
              <a:t/>
            </a:r>
          </a:p>
          <a:p xmlns:a="http://schemas.openxmlformats.org/drawingml/2006/main">
            <a:r>
              <a:t>[Sources]</a:t>
            </a:r>
          </a:p>
          <a:p xmlns:a="http://schemas.openxmlformats.org/drawingml/2006/main">
            <a:r>
              <a:t>Revised project notebook budget sensitivity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vary the maximum service radius. The smallest feasible radius is approximately 2.863 kilometers. This threshold comes from demand cell D24 in Humboldt Park. Its nearest sampled candidate is about 2.863 kilometers away. Below that value, the model is infeasible even with unlimited money because no allowed assignment can reach that cell. This is a geography problem, not a budget problem. Once the radius becomes feasible, there is a clear tradeoff. At three kilometers, full service costs about $839,000 and needs seven sites. At five kilometers, it costs $589,000 and needs six sites. At eight kilometers, cost falls to about $543,000, but average assignment distance increases. A wider radius gives the model more flexibility, while a smaller radius provides more local service at a higher construction cost.</a:t>
            </a:r>
          </a:p>
          <a:p xmlns:a="http://schemas.openxmlformats.org/drawingml/2006/main">
            <a:r>
              <a:t/>
            </a:r>
          </a:p>
          <a:p xmlns:a="http://schemas.openxmlformats.org/drawingml/2006/main">
            <a:r>
              <a:t>[Sources]</a:t>
            </a:r>
          </a:p>
          <a:p xmlns:a="http://schemas.openxmlformats.org/drawingml/2006/main">
            <a:r>
              <a:t>Revised project notebook service radius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Capacity is the assumption that changes our answer the most. Capacity means the maximum amount of model demand that one station can serve. In the baseline, garage candidates have four thousand units and filling station candidates have two thousand two hundred units. With those assumptions, six sites are enough. If every capacity is cut in half, the model needs thirteen sites and the assumed cost rises to $1.314 million. A simple total capacity calculation suggests that twelve sites might be enough, but geography and the service radius force one additional site. This is why capacity is more than a total arithmetic question. Demand must be served by sites that are close enough and still have available capacity. Since our capacity values are synthetic, the six site recommendation should remain provisional until charger throughput and grid capacity are measured.</a:t>
            </a:r>
          </a:p>
          <a:p xmlns:a="http://schemas.openxmlformats.org/drawingml/2006/main">
            <a:r>
              <a:t/>
            </a:r>
          </a:p>
          <a:p xmlns:a="http://schemas.openxmlformats.org/drawingml/2006/main">
            <a:r>
              <a:t>[Sources]</a:t>
            </a:r>
          </a:p>
          <a:p xmlns:a="http://schemas.openxmlformats.org/drawingml/2006/main">
            <a:r>
              <a:t>Revised project notebook capacity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makes the budget tradeoff more concrete. With a $300,000 available budget, the model builds three sites and actually spends $255,000. It serves about 51.6 percent of total demand volume. Nineteen of the forty five demand cells are fully served, one cell is partially served, and twenty five cells receive zero service. The red circles on the left identify zero service cells, while the orange circle identifies the partial cell. At the $589,000 knee, all forty five cells are fully served. The extra actual spending needed to move from the low budget plan to the full coverage plan is $334,000. Notice that coverage is measured by demand volume, not by counting cells. A large cell and a small cell do not contribute equally to the percentage.</a:t>
            </a:r>
          </a:p>
          <a:p xmlns:a="http://schemas.openxmlformats.org/drawingml/2006/main">
            <a:r>
              <a:t/>
            </a:r>
          </a:p>
          <a:p xmlns:a="http://schemas.openxmlformats.org/drawingml/2006/main">
            <a:r>
              <a:t>[Sources]</a:t>
            </a:r>
          </a:p>
          <a:p xmlns:a="http://schemas.openxmlformats.org/drawingml/2006/main">
            <a:r>
              <a:t>Revised project notebook scenario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make the analysis easier to use, we added a recommend function. The user enters an available budget. The function first tries the minimum cost full service problem. If the budget is sufficient, it returns the cheapest full coverage plan. If the budget is too low, it automatically switches to maximum coverage and returns the best partial plan. It also reports actual spending, unused budget, coverage, selected sites, and the data scope warning. At $300,000, it recommends the honest partial plan. At $589,000, it identifies the illustrative knee. At $900,000, it still selects the same six sites, spends $589,000, and leaves $311,000 unused. This is decision support rather than automatic approval. The planner still needs to validate all real world inputs before using the result.</a:t>
            </a:r>
          </a:p>
          <a:p xmlns:a="http://schemas.openxmlformats.org/drawingml/2006/main">
            <a:r>
              <a:t/>
            </a:r>
          </a:p>
          <a:p xmlns:a="http://schemas.openxmlformats.org/drawingml/2006/main">
            <a:r>
              <a:t>[Sources]</a:t>
            </a:r>
          </a:p>
          <a:p xmlns:a="http://schemas.openxmlformats.org/drawingml/2006/main">
            <a:r>
              <a:t>Revised project notebook recommendation function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close with three points. First, under the current proxy and assumptions, the minimum cost full coverage scenario is six sites and $589,000. Spending above that knee does not improve modeled coverage. Second, S16, S18, and S13 appear most consistently across the tested budget, radius, and capacity scenarios. That makes them sensible priorities for further investigation, not guaranteed winners. Third, capacity is our riskiest assumption. If real throughput is lower, both the site count and the cost can rise sharply. The model gives us a clear and reproducible way to compare scenarios, but it is still an early screening tool. Before any commitment, we would add road travel time, existing chargers, measured EV demand, grid feasibility, ownership, equity requirements, and explicit charger count decisions. Thank you, and we are happy to take questions.</a:t>
            </a:r>
          </a:p>
          <a:p xmlns:a="http://schemas.openxmlformats.org/drawingml/2006/main">
            <a:r>
              <a:t/>
            </a:r>
          </a:p>
          <a:p xmlns:a="http://schemas.openxmlformats.org/drawingml/2006/main">
            <a:r>
              <a:t>[Sources]</a:t>
            </a:r>
          </a:p>
          <a:p xmlns:a="http://schemas.openxmlformats.org/drawingml/2006/main">
            <a:r>
              <a:t>Revised project notebook</a:t>
            </a:r>
          </a:p>
          <a:p xmlns:a="http://schemas.openxmlformats.org/drawingml/2006/main">
            <a:r>
              <a:t>United States Department of Energy Alternative Fuels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ec8ec76bc941c0" /></Relationships>
</file>

<file path=ppt/slideLayouts/slideLayout1.xml><?xml version="1.0" encoding="utf-8"?>
<p:sldLayout xmlns:p="http://schemas.openxmlformats.org/presentationml/2006/main" type="blank" preserve="1">
  <p:cSld name="ev_charging_siting — 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FF6F696-9747-4EDB-B14A-C0C6CFA95D0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8/16/26</a:t>
            </a:fld>
            <a:endParaRPr/>
          </a:p>
        </p:txBody>
      </p:sp>
      <p:sp>
        <p:nvSpPr>
          <p:cNvPr id="3" name="Footer Placeholder 2">
            <a:extLst xmlns:a="http://schemas.openxmlformats.org/drawingml/2006/main">
              <a:ext uri="{FF2B5EF4-FFF2-40B4-BE49-F238E27FC236}">
                <a16:creationId xmlns:a16="http://schemas.microsoft.com/office/drawing/2014/main" id="{DF93CA6C-98C1-4124-AEE1-DA2726F2D21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42815D9F-6A2B-49A3-B7B9-BA1190490A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a8c52264a94562" /><Relationship Type="http://schemas.openxmlformats.org/officeDocument/2006/relationships/slideLayout" Target="/ppt/slideLayouts/slideLayout1.xml" Id="Re663e3e98e164bbb" /></Relationships>
</file>

<file path=ppt/slideMasters/slideMaster1.xml><?xml version="1.0" encoding="utf-8"?>
<p:sldMaster xmlns:p="http://schemas.openxmlformats.org/presentationml/2006/main">
  <p:cSld name="ev_charging_siting — Master">
    <p:bg>
      <p:bgRef idx="1001">
        <a:schemeClr xmlns:a="http://schemas.openxmlformats.org/drawingml/2006/main" val="bg1"/>
      </p:bgRef>
    </p:bg>
    <p:spTree>
      <p:nvGrpSpPr>
        <p:cNvPr id="1" name=""/>
        <p:cNvGrpSpPr/>
        <p:nvPr/>
      </p:nvGrpSpPr>
      <p:grpSpPr>
        <a:xfrm xmlns:a="http://schemas.openxmlformats.org/drawingml/2006/main"/>
      </p:grpSpPr>
      <p:sp>
        <p:nvSpPr>
          <p:cNvPr id="4" name="Date Placeholder 3">
            <a:extLst xmlns:a="http://schemas.openxmlformats.org/drawingml/2006/main">
              <a:ext uri="{FF2B5EF4-FFF2-40B4-BE49-F238E27FC236}">
                <a16:creationId xmlns:a16="http://schemas.microsoft.com/office/drawing/2014/main" id="{02103E11-3D2D-49B7-A6A6-FBCD399B02A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8/16/26</a:t>
            </a:fld>
            <a:endParaRPr/>
          </a:p>
        </p:txBody>
      </p:sp>
      <p:sp>
        <p:nvSpPr>
          <p:cNvPr id="5" name="Footer Placeholder 4">
            <a:extLst xmlns:a="http://schemas.openxmlformats.org/drawingml/2006/main">
              <a:ext uri="{FF2B5EF4-FFF2-40B4-BE49-F238E27FC236}">
                <a16:creationId xmlns:a16="http://schemas.microsoft.com/office/drawing/2014/main" id="{7FA8E5C4-927D-408B-8B9F-0568C5E1A541}"/>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9920359-B4A2-48BF-9DD3-B85D4065999A}"/>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63e3e98e164bbb"/>
  </p:sldLayoutIdLst>
  <p:txStyles>
    <p:titleStyle>
      <a:lvl1pPr xmlns:a="http://schemas.openxmlformats.org/drawingml/2006/main" algn="ctr" defTabSz="457200">
        <a:spcBef>
          <a:spcPct val="0"/>
        </a:spcBef>
        <a:buNone/>
        <a:defRPr sz="30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165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155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145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135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125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115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105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95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800" kern="1200">
          <a:solidFill>
            <a:schemeClr val="tx1"/>
          </a:solidFill>
          <a:latin typeface="+mn-lt"/>
          <a:ea typeface="+mn-lt"/>
          <a:cs typeface="+mn-lt"/>
        </a:defRPr>
      </a:lvl9pPr>
    </p:bodyStyle>
    <p:otherStyle>
      <a:lvl1pPr xmlns:a="http://schemas.openxmlformats.org/drawingml/2006/main" marL="0" algn="l" defTabSz="457200">
        <a:buNone/>
        <a:defRPr sz="1650" kern="1200">
          <a:solidFill>
            <a:schemeClr val="tx1"/>
          </a:solidFill>
          <a:latin typeface="+mn-lt"/>
          <a:ea typeface="+mn-lt"/>
          <a:cs typeface="+mn-lt"/>
        </a:defRPr>
      </a:lvl1pPr>
      <a:lvl2pPr xmlns:a="http://schemas.openxmlformats.org/drawingml/2006/main" marL="457200" algn="l" defTabSz="457200">
        <a:buNone/>
        <a:defRPr sz="1550" kern="1200">
          <a:solidFill>
            <a:schemeClr val="tx1"/>
          </a:solidFill>
          <a:latin typeface="+mn-lt"/>
          <a:ea typeface="+mn-lt"/>
          <a:cs typeface="+mn-lt"/>
        </a:defRPr>
      </a:lvl2pPr>
      <a:lvl3pPr xmlns:a="http://schemas.openxmlformats.org/drawingml/2006/main" marL="914400" algn="l" defTabSz="457200">
        <a:buNone/>
        <a:defRPr sz="1450" kern="1200">
          <a:solidFill>
            <a:schemeClr val="tx1"/>
          </a:solidFill>
          <a:latin typeface="+mn-lt"/>
          <a:ea typeface="+mn-lt"/>
          <a:cs typeface="+mn-lt"/>
        </a:defRPr>
      </a:lvl3pPr>
      <a:lvl4pPr xmlns:a="http://schemas.openxmlformats.org/drawingml/2006/main" marL="1371600" algn="l" defTabSz="457200">
        <a:buNone/>
        <a:defRPr sz="1350" kern="1200">
          <a:solidFill>
            <a:schemeClr val="tx1"/>
          </a:solidFill>
          <a:latin typeface="+mn-lt"/>
          <a:ea typeface="+mn-lt"/>
          <a:cs typeface="+mn-lt"/>
        </a:defRPr>
      </a:lvl4pPr>
      <a:lvl5pPr xmlns:a="http://schemas.openxmlformats.org/drawingml/2006/main" marL="1828800" algn="l" defTabSz="457200">
        <a:buNone/>
        <a:defRPr sz="1250" kern="1200">
          <a:solidFill>
            <a:schemeClr val="tx1"/>
          </a:solidFill>
          <a:latin typeface="+mn-lt"/>
          <a:ea typeface="+mn-lt"/>
          <a:cs typeface="+mn-lt"/>
        </a:defRPr>
      </a:lvl5pPr>
      <a:lvl6pPr xmlns:a="http://schemas.openxmlformats.org/drawingml/2006/main" marL="2286000" algn="l" defTabSz="457200">
        <a:buNone/>
        <a:defRPr sz="1150" kern="1200">
          <a:solidFill>
            <a:schemeClr val="tx1"/>
          </a:solidFill>
          <a:latin typeface="+mn-lt"/>
          <a:ea typeface="+mn-lt"/>
          <a:cs typeface="+mn-lt"/>
        </a:defRPr>
      </a:lvl6pPr>
      <a:lvl7pPr xmlns:a="http://schemas.openxmlformats.org/drawingml/2006/main" marL="2743200" algn="l" defTabSz="457200">
        <a:buNone/>
        <a:defRPr sz="1050" kern="1200">
          <a:solidFill>
            <a:schemeClr val="tx1"/>
          </a:solidFill>
          <a:latin typeface="+mn-lt"/>
          <a:ea typeface="+mn-lt"/>
          <a:cs typeface="+mn-lt"/>
        </a:defRPr>
      </a:lvl7pPr>
      <a:lvl8pPr xmlns:a="http://schemas.openxmlformats.org/drawingml/2006/main" marL="3200400" algn="l" defTabSz="457200">
        <a:buNone/>
        <a:defRPr sz="950" kern="1200">
          <a:solidFill>
            <a:schemeClr val="tx1"/>
          </a:solidFill>
          <a:latin typeface="+mn-lt"/>
          <a:ea typeface="+mn-lt"/>
          <a:cs typeface="+mn-lt"/>
        </a:defRPr>
      </a:lvl8pPr>
      <a:lvl9pPr xmlns:a="http://schemas.openxmlformats.org/drawingml/2006/main" marL="3657600" algn="l" defTabSz="457200">
        <a:buNone/>
        <a:defRPr sz="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ev_charging_siting">
  <a:themeElements>
    <a:clrScheme name="ev_charging_siting">
      <a:dk1>
        <a:srgbClr val="1F2937"/>
      </a:dk1>
      <a:lt1>
        <a:srgbClr val="FFFFFF"/>
      </a:lt1>
      <a:dk2>
        <a:srgbClr val="1F497D"/>
      </a:dk2>
      <a:lt2>
        <a:srgbClr val="F1F5F5"/>
      </a:lt2>
      <a:accent1>
        <a:srgbClr val="0E7C6B"/>
      </a:accent1>
      <a:accent2>
        <a:srgbClr val="F59E0B"/>
      </a:accent2>
      <a:accent3>
        <a:srgbClr val="DC2626"/>
      </a:accent3>
      <a:accent4>
        <a:srgbClr val="0E7C6B"/>
      </a:accent4>
      <a:accent5>
        <a:srgbClr val="E2E8F0"/>
      </a:accent5>
      <a:accent6>
        <a:srgbClr val="F79646"/>
      </a:accent6>
      <a:hlink>
        <a:srgbClr val="F59E0B"/>
      </a:hlink>
      <a:folHlink>
        <a:srgbClr val="DC2626"/>
      </a:folHlink>
    </a:clrScheme>
    <a:fontScheme name="ev_charging_sit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_charging_sit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e55dac86ef4558" /><Relationship Type="http://schemas.openxmlformats.org/officeDocument/2006/relationships/notesSlide" Target="/ppt/notesSlides/notesSlide1.xml" Id="Ra76c2750f4094d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4ade9dece344955" /><Relationship Type="http://schemas.openxmlformats.org/officeDocument/2006/relationships/notesSlide" Target="/ppt/notesSlides/notesSlide2.xml" Id="Rcd71bf28308a41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91b1d63866440a" /><Relationship Type="http://schemas.openxmlformats.org/officeDocument/2006/relationships/notesSlide" Target="/ppt/notesSlides/notesSlide3.xml" Id="Recf9455e257c41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9d05e077ff40d5" /><Relationship Type="http://schemas.openxmlformats.org/officeDocument/2006/relationships/image" Target="/ppt/media/image.png" Id="Rc8e0f67ca4744271" /><Relationship Type="http://schemas.openxmlformats.org/officeDocument/2006/relationships/notesSlide" Target="/ppt/notesSlides/notesSlide4.xml" Id="R2bbe38c8ecda45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e4d8a9f1034e75" /><Relationship Type="http://schemas.openxmlformats.org/officeDocument/2006/relationships/notesSlide" Target="/ppt/notesSlides/notesSlide5.xml" Id="R5e70d8967c9f4dd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2e9b43d6d54a2f" /><Relationship Type="http://schemas.openxmlformats.org/officeDocument/2006/relationships/notesSlide" Target="/ppt/notesSlides/notesSlide6.xml" Id="R92c485fd6f3f4f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376bc89c85472e" /><Relationship Type="http://schemas.openxmlformats.org/officeDocument/2006/relationships/image" Target="/ppt/media/image2.png" Id="R1b36bcefc6cb45eb" /><Relationship Type="http://schemas.openxmlformats.org/officeDocument/2006/relationships/notesSlide" Target="/ppt/notesSlides/notesSlide7.xml" Id="R0375aef1edba4d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cf66b1be424965" /><Relationship Type="http://schemas.openxmlformats.org/officeDocument/2006/relationships/notesSlide" Target="/ppt/notesSlides/notesSlide8.xml" Id="R7d70eda3c80b49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93815a9a1d74503" /><Relationship Type="http://schemas.openxmlformats.org/officeDocument/2006/relationships/image" Target="/ppt/media/image3.png" Id="R99778f87ae754d63" /><Relationship Type="http://schemas.openxmlformats.org/officeDocument/2006/relationships/notesSlide" Target="/ppt/notesSlides/notesSlide9.xml" Id="R72c4d042760642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e7feadb6a2d49b9" /><Relationship Type="http://schemas.openxmlformats.org/officeDocument/2006/relationships/image" Target="/ppt/media/image4.png" Id="Rf7966e4a1c374d1b" /><Relationship Type="http://schemas.openxmlformats.org/officeDocument/2006/relationships/notesSlide" Target="/ppt/notesSlides/notesSlide10.xml" Id="R4e9694fa329247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949974a9e3644f8" /><Relationship Type="http://schemas.openxmlformats.org/officeDocument/2006/relationships/image" Target="/ppt/media/image5.png" Id="Rcf99cc209a31400d" /><Relationship Type="http://schemas.openxmlformats.org/officeDocument/2006/relationships/image" Target="/ppt/media/image6.png" Id="R3482e23cf0094163" /><Relationship Type="http://schemas.openxmlformats.org/officeDocument/2006/relationships/image" Target="/ppt/media/image7.png" Id="R2e4e9d71e189422b" /><Relationship Type="http://schemas.openxmlformats.org/officeDocument/2006/relationships/notesSlide" Target="/ppt/notesSlides/notesSlide11.xml" Id="R6905e5115e784f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c7b1016157421e" /><Relationship Type="http://schemas.openxmlformats.org/officeDocument/2006/relationships/image" Target="/ppt/media/image8.png" Id="Rec2efc297f454be2" /><Relationship Type="http://schemas.openxmlformats.org/officeDocument/2006/relationships/notesSlide" Target="/ppt/notesSlides/notesSlide12.xml" Id="R050be4e491044c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de98dfbc1f0463f" /><Relationship Type="http://schemas.openxmlformats.org/officeDocument/2006/relationships/notesSlide" Target="/ppt/notesSlides/notesSlide13.xml" Id="R7fe2e9b94ea84a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24c3fda82541ab" /><Relationship Type="http://schemas.openxmlformats.org/officeDocument/2006/relationships/notesSlide" Target="/ppt/notesSlides/notesSlide14.xml" Id="R7ffa6c46996540a5" /></Relationships>
</file>

<file path=ppt/slides/slide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4D4CDF25-52CD-48B7-BBF9-5ABD7F5A78C4}"/>
              </a:ext>
            </a:extLst>
          </p:cNvPr>
          <p:cNvSpPr>
            <a:spLocks xmlns:a="http://schemas.openxmlformats.org/drawingml/2006/main" noGrp="1"/>
          </p:cNvSpPr>
          <p:nvPr/>
        </p:nvSpPr>
        <p:spPr>
          <a:xfrm xmlns:a="http://schemas.openxmlformats.org/drawingml/2006/main" rot="0" flipH="0" flipV="0">
            <a:off x="8572500" y="0"/>
            <a:ext cx="3619500" cy="6858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 name="Freeform 3">
            <a:extLst xmlns:a="http://schemas.openxmlformats.org/drawingml/2006/main">
              <a:ext uri="{FF2B5EF4-FFF2-40B4-BE49-F238E27FC236}">
                <a16:creationId xmlns:a16="http://schemas.microsoft.com/office/drawing/2014/main" id="{A9AC0E14-F87A-455E-84F3-D8B183F0CD33}"/>
              </a:ext>
            </a:extLst>
          </p:cNvPr>
          <p:cNvSpPr>
            <a:spLocks xmlns:a="http://schemas.openxmlformats.org/drawingml/2006/main" noGrp="1"/>
          </p:cNvSpPr>
          <p:nvPr/>
        </p:nvSpPr>
        <p:spPr>
          <a:xfrm xmlns:a="http://schemas.openxmlformats.org/drawingml/2006/main" rot="0" flipH="0" flipV="0">
            <a:off x="10204450" y="2324100"/>
            <a:ext cx="355600" cy="457201"/>
          </a:xfrm>
          <a:custGeom xmlns:a="http://schemas.openxmlformats.org/drawingml/2006/main">
            <a:rect l="l" t="t" r="r" b="b"/>
            <a:pathLst>
              <a:path w="355600" h="457201">
                <a:moveTo>
                  <a:pt x="203200" y="0"/>
                </a:moveTo>
                <a:lnTo>
                  <a:pt x="203200" y="177800"/>
                </a:lnTo>
                <a:lnTo>
                  <a:pt x="355600" y="177800"/>
                </a:lnTo>
                <a:lnTo>
                  <a:pt x="152400" y="457201"/>
                </a:lnTo>
                <a:lnTo>
                  <a:pt x="152400" y="279400"/>
                </a:lnTo>
                <a:lnTo>
                  <a:pt x="0" y="279400"/>
                </a:lnTo>
                <a:lnTo>
                  <a:pt x="203200" y="0"/>
                </a:lnTo>
              </a:path>
            </a:pathLst>
          </a:custGeom>
          <a:noFill xmlns:a="http://schemas.openxmlformats.org/drawingml/2006/main"/>
          <a:ln xmlns:a="http://schemas.openxmlformats.org/drawingml/2006/main" w="50800">
            <a:solidFill>
              <a:srgbClr val="FFFFFF"/>
            </a:solidFill>
          </a:ln>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5965DA46-8C9C-460F-B77E-74A71710C3E4}"/>
              </a:ext>
            </a:extLst>
          </p:cNvPr>
          <p:cNvSpPr>
            <a:spLocks xmlns:a="http://schemas.openxmlformats.org/drawingml/2006/main" noGrp="1"/>
          </p:cNvSpPr>
          <p:nvPr/>
        </p:nvSpPr>
        <p:spPr>
          <a:xfrm xmlns:a="http://schemas.openxmlformats.org/drawingml/2006/main" rot="0" flipH="0" flipV="0">
            <a:off x="9255362" y="3289935"/>
            <a:ext cx="2253777"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5700" b="1">
                <a:solidFill>
                  <a:srgbClr val="FFFFFF"/>
                </a:solidFill>
                <a:latin typeface="Consolas"/>
                <a:ea typeface="Consolas"/>
                <a:cs typeface="Consolas"/>
              </a:rPr>
              <a:t>$589k</a:t>
            </a:r>
          </a:p>
        </p:txBody>
      </p:sp>
      <p:sp>
        <p:nvSpPr>
          <p:cNvPr id="5" name="TextBox 5">
            <a:extLst xmlns:a="http://schemas.openxmlformats.org/drawingml/2006/main">
              <a:ext uri="{FF2B5EF4-FFF2-40B4-BE49-F238E27FC236}">
                <a16:creationId xmlns:a16="http://schemas.microsoft.com/office/drawing/2014/main" id="{F2E96202-C06B-4C85-9831-EE52BF20B96F}"/>
              </a:ext>
            </a:extLst>
          </p:cNvPr>
          <p:cNvSpPr>
            <a:spLocks xmlns:a="http://schemas.openxmlformats.org/drawingml/2006/main" noGrp="1"/>
          </p:cNvSpPr>
          <p:nvPr/>
        </p:nvSpPr>
        <p:spPr>
          <a:xfrm xmlns:a="http://schemas.openxmlformats.org/drawingml/2006/main" rot="0" flipH="0" flipV="0">
            <a:off x="9807668" y="4159568"/>
            <a:ext cx="114916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350" b="1" spc="300">
                <a:solidFill>
                  <a:srgbClr val="FFFFFF"/>
                </a:solidFill>
                <a:latin typeface="+mn-lt"/>
                <a:ea typeface="+mn-lt"/>
                <a:cs typeface="+mn-lt"/>
              </a:rPr>
              <a:t>THE KNEE</a:t>
            </a:r>
          </a:p>
        </p:txBody>
      </p:sp>
      <p:sp>
        <p:nvSpPr>
          <p:cNvPr id="6" name="TextBox 6">
            <a:extLst xmlns:a="http://schemas.openxmlformats.org/drawingml/2006/main">
              <a:ext uri="{FF2B5EF4-FFF2-40B4-BE49-F238E27FC236}">
                <a16:creationId xmlns:a16="http://schemas.microsoft.com/office/drawing/2014/main" id="{BE727EB6-CAE2-4148-B184-4DFEF02DE636}"/>
              </a:ext>
            </a:extLst>
          </p:cNvPr>
          <p:cNvSpPr>
            <a:spLocks xmlns:a="http://schemas.openxmlformats.org/drawingml/2006/main" noGrp="1"/>
          </p:cNvSpPr>
          <p:nvPr/>
        </p:nvSpPr>
        <p:spPr>
          <a:xfrm xmlns:a="http://schemas.openxmlformats.org/drawingml/2006/main" rot="0" flipH="0" flipV="0">
            <a:off x="9281582" y="4491514"/>
            <a:ext cx="2201337"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80">
                <a:solidFill>
                  <a:srgbClr val="FFFFFF"/>
                </a:solidFill>
                <a:latin typeface="+mn-lt"/>
                <a:ea typeface="+mn-lt"/>
                <a:cs typeface="+mn-lt"/>
              </a:rPr>
              <a:t>6 stations · 100% covered</a:t>
            </a:r>
          </a:p>
        </p:txBody>
      </p:sp>
      <p:sp>
        <p:nvSpPr>
          <p:cNvPr id="8" name="Freeform 8">
            <a:extLst xmlns:a="http://schemas.openxmlformats.org/drawingml/2006/main">
              <a:ext uri="{FF2B5EF4-FFF2-40B4-BE49-F238E27FC236}">
                <a16:creationId xmlns:a16="http://schemas.microsoft.com/office/drawing/2014/main" id="{46EDA3A4-3505-4E63-B08E-657B8E5313FF}"/>
              </a:ext>
            </a:extLst>
          </p:cNvPr>
          <p:cNvSpPr>
            <a:spLocks xmlns:a="http://schemas.openxmlformats.org/drawingml/2006/main" noGrp="1"/>
          </p:cNvSpPr>
          <p:nvPr/>
        </p:nvSpPr>
        <p:spPr>
          <a:xfrm xmlns:a="http://schemas.openxmlformats.org/drawingml/2006/main" rot="0" flipH="0" flipV="0">
            <a:off x="550068" y="1016000"/>
            <a:ext cx="61912" cy="61912"/>
          </a:xfrm>
          <a:custGeom xmlns:a="http://schemas.openxmlformats.org/drawingml/2006/main">
            <a:rect l="l" t="t" r="r" b="b"/>
            <a:pathLst>
              <a:path w="61912" h="61912">
                <a:moveTo>
                  <a:pt x="0" y="30956"/>
                </a:moveTo>
                <a:cubicBezTo>
                  <a:pt x="0" y="48053"/>
                  <a:pt x="13860" y="61912"/>
                  <a:pt x="30956" y="61912"/>
                </a:cubicBezTo>
                <a:cubicBezTo>
                  <a:pt x="48053" y="61912"/>
                  <a:pt x="61912" y="48053"/>
                  <a:pt x="61912" y="30956"/>
                </a:cubicBezTo>
                <a:cubicBezTo>
                  <a:pt x="61912" y="13860"/>
                  <a:pt x="48053" y="0"/>
                  <a:pt x="30956" y="0"/>
                </a:cubicBezTo>
                <a:cubicBezTo>
                  <a:pt x="13860" y="0"/>
                  <a:pt x="0" y="13860"/>
                  <a:pt x="0" y="30956"/>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9" name="Freeform 9">
            <a:extLst xmlns:a="http://schemas.openxmlformats.org/drawingml/2006/main">
              <a:ext uri="{FF2B5EF4-FFF2-40B4-BE49-F238E27FC236}">
                <a16:creationId xmlns:a16="http://schemas.microsoft.com/office/drawing/2014/main" id="{DE89E7A7-37F6-4F51-A235-B86F0BD09CE1}"/>
              </a:ext>
            </a:extLst>
          </p:cNvPr>
          <p:cNvSpPr>
            <a:spLocks xmlns:a="http://schemas.openxmlformats.org/drawingml/2006/main" noGrp="1"/>
          </p:cNvSpPr>
          <p:nvPr/>
        </p:nvSpPr>
        <p:spPr>
          <a:xfrm xmlns:a="http://schemas.openxmlformats.org/drawingml/2006/main" rot="0" flipH="0" flipV="0">
            <a:off x="490415" y="956350"/>
            <a:ext cx="181219" cy="200811"/>
          </a:xfrm>
          <a:custGeom xmlns:a="http://schemas.openxmlformats.org/drawingml/2006/main">
            <a:rect l="l" t="t" r="r" b="b"/>
            <a:pathLst>
              <a:path w="181219" h="200811">
                <a:moveTo>
                  <a:pt x="148982" y="148979"/>
                </a:moveTo>
                <a:lnTo>
                  <a:pt x="105200" y="192761"/>
                </a:lnTo>
                <a:cubicBezTo>
                  <a:pt x="97142" y="200811"/>
                  <a:pt x="84087" y="200811"/>
                  <a:pt x="76029" y="192761"/>
                </a:cubicBezTo>
                <a:lnTo>
                  <a:pt x="32236" y="148979"/>
                </a:lnTo>
                <a:cubicBezTo>
                  <a:pt x="0" y="116741"/>
                  <a:pt x="1" y="64474"/>
                  <a:pt x="32238" y="32237"/>
                </a:cubicBezTo>
                <a:cubicBezTo>
                  <a:pt x="64476" y="0"/>
                  <a:pt x="116743" y="0"/>
                  <a:pt x="148980" y="32237"/>
                </a:cubicBezTo>
                <a:cubicBezTo>
                  <a:pt x="181218" y="64474"/>
                  <a:pt x="181219" y="116741"/>
                  <a:pt x="148982" y="148979"/>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B668C4D7-A86F-4B22-8833-BC1BDD7E7C96}"/>
              </a:ext>
            </a:extLst>
          </p:cNvPr>
          <p:cNvSpPr>
            <a:spLocks xmlns:a="http://schemas.openxmlformats.org/drawingml/2006/main" noGrp="1"/>
          </p:cNvSpPr>
          <p:nvPr/>
        </p:nvSpPr>
        <p:spPr>
          <a:xfrm xmlns:a="http://schemas.openxmlformats.org/drawingml/2006/main" rot="0" flipH="0" flipV="0">
            <a:off x="813054" y="994410"/>
            <a:ext cx="416417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FINAL PROJECT · OPTIMIZATION METHODS</a:t>
            </a:r>
          </a:p>
        </p:txBody>
      </p:sp>
      <p:sp>
        <p:nvSpPr>
          <p:cNvPr id="13" name="TextBox 13">
            <a:extLst xmlns:a="http://schemas.openxmlformats.org/drawingml/2006/main">
              <a:ext uri="{FF2B5EF4-FFF2-40B4-BE49-F238E27FC236}">
                <a16:creationId xmlns:a16="http://schemas.microsoft.com/office/drawing/2014/main" id="{1F96C97E-1806-49F9-8FEB-7E0F6450357C}"/>
              </a:ext>
            </a:extLst>
          </p:cNvPr>
          <p:cNvSpPr>
            <a:spLocks xmlns:a="http://schemas.openxmlformats.org/drawingml/2006/main" noGrp="1"/>
          </p:cNvSpPr>
          <p:nvPr/>
        </p:nvSpPr>
        <p:spPr>
          <a:xfrm xmlns:a="http://schemas.openxmlformats.org/drawingml/2006/main" rot="0" flipH="0" flipV="0">
            <a:off x="438150" y="2077402"/>
            <a:ext cx="5438775" cy="1419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4950"/>
              </a:lnSpc>
              <a:buNone/>
            </a:pPr>
            <a:r>
              <a:rPr sz="4050" b="1">
                <a:solidFill>
                  <a:schemeClr val="dk1"/>
                </a:solidFill>
                <a:latin typeface="+mn-lt"/>
                <a:ea typeface="+mn-lt"/>
                <a:cs typeface="+mn-lt"/>
              </a:rPr>
              <a:t>Optimal Siting of</a:t>
            </a:r>
            <a:br/>
            <a:r>
              <a:rPr sz="4050" b="1">
                <a:solidFill>
                  <a:schemeClr val="dk1"/>
                </a:solidFill>
                <a:latin typeface="+mn-lt"/>
                <a:ea typeface="+mn-lt"/>
                <a:cs typeface="+mn-lt"/>
              </a:rPr>
              <a:t>EV Charging Stations</a:t>
            </a:r>
          </a:p>
        </p:txBody>
      </p:sp>
      <p:sp>
        <p:nvSpPr>
          <p:cNvPr id="14" name="Rectangle 14">
            <a:extLst xmlns:a="http://schemas.openxmlformats.org/drawingml/2006/main">
              <a:ext uri="{FF2B5EF4-FFF2-40B4-BE49-F238E27FC236}">
                <a16:creationId xmlns:a16="http://schemas.microsoft.com/office/drawing/2014/main" id="{9520F556-70BC-410D-BDAD-61C6916C0115}"/>
              </a:ext>
            </a:extLst>
          </p:cNvPr>
          <p:cNvSpPr>
            <a:spLocks xmlns:a="http://schemas.openxmlformats.org/drawingml/2006/main" noGrp="1"/>
          </p:cNvSpPr>
          <p:nvPr/>
        </p:nvSpPr>
        <p:spPr>
          <a:xfrm xmlns:a="http://schemas.openxmlformats.org/drawingml/2006/main" rot="0" flipH="0" flipV="0">
            <a:off x="476250" y="3733800"/>
            <a:ext cx="1143000" cy="5715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75135A7F-8632-4ECE-A362-D9295BE12E51}"/>
              </a:ext>
            </a:extLst>
          </p:cNvPr>
          <p:cNvSpPr>
            <a:spLocks xmlns:a="http://schemas.openxmlformats.org/drawingml/2006/main" noGrp="1"/>
          </p:cNvSpPr>
          <p:nvPr/>
        </p:nvSpPr>
        <p:spPr>
          <a:xfrm xmlns:a="http://schemas.openxmlformats.org/drawingml/2006/main" rot="0" flipH="0" flipV="0">
            <a:off x="446532" y="4021455"/>
            <a:ext cx="4688586" cy="7726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850"/>
              </a:lnSpc>
              <a:buNone/>
            </a:pPr>
            <a:r>
              <a:rPr sz="2100">
                <a:solidFill>
                  <a:srgbClr val="334155"/>
                </a:solidFill>
                <a:latin typeface="+mn-lt"/>
                <a:ea typeface="+mn-lt"/>
                <a:cs typeface="+mn-lt"/>
              </a:rPr>
              <a:t>A source-audited facility-location MILP</a:t>
            </a:r>
          </a:p>
          <a:p xmlns:a="http://schemas.openxmlformats.org/drawingml/2006/main">
            <a:pPr algn="l">
              <a:lnSpc>
                <a:spcPts val="2850"/>
              </a:lnSpc>
              <a:buNone/>
            </a:pPr>
            <a:r>
              <a:rPr sz="2100">
                <a:solidFill>
                  <a:srgbClr val="334155"/>
                </a:solidFill>
                <a:latin typeface="+mn-lt"/>
                <a:ea typeface="+mn-lt"/>
                <a:cs typeface="+mn-lt"/>
              </a:rPr>
              <a:t>over 20 licensed candidate sites in Chicago</a:t>
            </a:r>
          </a:p>
        </p:txBody>
      </p:sp>
      <p:sp>
        <p:nvSpPr>
          <p:cNvPr id="17" name="Rectangle 17">
            <a:extLst xmlns:a="http://schemas.openxmlformats.org/drawingml/2006/main">
              <a:ext uri="{FF2B5EF4-FFF2-40B4-BE49-F238E27FC236}">
                <a16:creationId xmlns:a16="http://schemas.microsoft.com/office/drawing/2014/main" id="{487274F5-B6B8-47E7-A247-66B20CE1BCCC}"/>
              </a:ext>
            </a:extLst>
          </p:cNvPr>
          <p:cNvSpPr>
            <a:spLocks xmlns:a="http://schemas.openxmlformats.org/drawingml/2006/main" noGrp="1"/>
          </p:cNvSpPr>
          <p:nvPr/>
        </p:nvSpPr>
        <p:spPr>
          <a:xfrm xmlns:a="http://schemas.openxmlformats.org/drawingml/2006/main" rot="0" flipH="0" flipV="0">
            <a:off x="457200" y="5010150"/>
            <a:ext cx="7734300" cy="1066800"/>
          </a:xfrm>
          <a:prstGeom xmlns:a="http://schemas.openxmlformats.org/drawingml/2006/main" prst="roundRect">
            <a:avLst>
              <a:gd name="adj" fmla="val 8929"/>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8" name="Rectangle 18">
            <a:extLst xmlns:a="http://schemas.openxmlformats.org/drawingml/2006/main">
              <a:ext uri="{FF2B5EF4-FFF2-40B4-BE49-F238E27FC236}">
                <a16:creationId xmlns:a16="http://schemas.microsoft.com/office/drawing/2014/main" id="{2983D4FB-F67E-4996-9955-51E805A2BE62}"/>
              </a:ext>
            </a:extLst>
          </p:cNvPr>
          <p:cNvSpPr>
            <a:spLocks xmlns:a="http://schemas.openxmlformats.org/drawingml/2006/main" noGrp="1"/>
          </p:cNvSpPr>
          <p:nvPr/>
        </p:nvSpPr>
        <p:spPr>
          <a:xfrm xmlns:a="http://schemas.openxmlformats.org/drawingml/2006/main" rot="0" flipH="0" flipV="0">
            <a:off x="457200" y="5010150"/>
            <a:ext cx="57150" cy="1066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4D1BAF48-E584-4A70-9DD1-5E2FE6F6E13F}"/>
              </a:ext>
            </a:extLst>
          </p:cNvPr>
          <p:cNvSpPr>
            <a:spLocks xmlns:a="http://schemas.openxmlformats.org/drawingml/2006/main" noGrp="1"/>
          </p:cNvSpPr>
          <p:nvPr/>
        </p:nvSpPr>
        <p:spPr>
          <a:xfrm xmlns:a="http://schemas.openxmlformats.org/drawingml/2006/main" rot="0" flipH="0" flipV="0">
            <a:off x="753618" y="5270182"/>
            <a:ext cx="5882477"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mn-lt"/>
                <a:ea typeface="+mn-lt"/>
                <a:cs typeface="+mn-lt"/>
              </a:rPr>
              <a:t>Illustrative result: $589k builds 6 sites; model coverage is 100%.</a:t>
            </a:r>
          </a:p>
        </p:txBody>
      </p:sp>
      <p:sp>
        <p:nvSpPr>
          <p:cNvPr id="20" name="TextBox 20">
            <a:extLst xmlns:a="http://schemas.openxmlformats.org/drawingml/2006/main">
              <a:ext uri="{FF2B5EF4-FFF2-40B4-BE49-F238E27FC236}">
                <a16:creationId xmlns:a16="http://schemas.microsoft.com/office/drawing/2014/main" id="{798166F6-3525-452D-859C-A3519E60DF1C}"/>
              </a:ext>
            </a:extLst>
          </p:cNvPr>
          <p:cNvSpPr>
            <a:spLocks xmlns:a="http://schemas.openxmlformats.org/drawingml/2006/main" noGrp="1"/>
          </p:cNvSpPr>
          <p:nvPr/>
        </p:nvSpPr>
        <p:spPr>
          <a:xfrm xmlns:a="http://schemas.openxmlformats.org/drawingml/2006/main" rot="0" flipH="0" flipV="0">
            <a:off x="753618" y="5594032"/>
            <a:ext cx="465551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a:solidFill>
                  <a:srgbClr val="475569"/>
                </a:solidFill>
                <a:latin typeface="+mn-lt"/>
                <a:ea typeface="+mn-lt"/>
                <a:cs typeface="+mn-lt"/>
              </a:rPr>
              <a:t>Illustrative result — validate cost, capacity and grid readiness before commitment.</a:t>
            </a:r>
          </a:p>
        </p:txBody>
      </p:sp>
      <p:sp>
        <p:nvSpPr>
          <p:cNvPr id="22" name="Line 22">
            <a:extLst xmlns:a="http://schemas.openxmlformats.org/drawingml/2006/main">
              <a:ext uri="{FF2B5EF4-FFF2-40B4-BE49-F238E27FC236}">
                <a16:creationId xmlns:a16="http://schemas.microsoft.com/office/drawing/2014/main" id="{BF11E8CC-DC9D-494B-8778-F1ADE63FF5BB}"/>
              </a:ext>
            </a:extLst>
          </p:cNvPr>
          <p:cNvSpPr>
            <a:spLocks xmlns:a="http://schemas.openxmlformats.org/drawingml/2006/main" noGrp="1"/>
          </p:cNvSpPr>
          <p:nvPr/>
        </p:nvSpPr>
        <p:spPr>
          <a:xfrm xmlns:a="http://schemas.openxmlformats.org/drawingml/2006/main" rot="0" flipH="0" flipV="0">
            <a:off x="457200" y="6400800"/>
            <a:ext cx="7734300" cy="9525"/>
          </a:xfrm>
          <a:custGeom xmlns:a="http://schemas.openxmlformats.org/drawingml/2006/main">
            <a:rect l="l" t="t" r="r" b="b"/>
            <a:pathLst>
              <a:path w="7734300" h="9525">
                <a:moveTo>
                  <a:pt x="0" y="0"/>
                </a:moveTo>
                <a:lnTo>
                  <a:pt x="77343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23" name="TextBox 23">
            <a:extLst xmlns:a="http://schemas.openxmlformats.org/drawingml/2006/main">
              <a:ext uri="{FF2B5EF4-FFF2-40B4-BE49-F238E27FC236}">
                <a16:creationId xmlns:a16="http://schemas.microsoft.com/office/drawing/2014/main" id="{1B9935A3-5068-4A97-ACCC-A8F08FAF4BBA}"/>
              </a:ext>
            </a:extLst>
          </p:cNvPr>
          <p:cNvSpPr>
            <a:spLocks xmlns:a="http://schemas.openxmlformats.org/drawingml/2006/main" noGrp="1"/>
          </p:cNvSpPr>
          <p:nvPr/>
        </p:nvSpPr>
        <p:spPr>
          <a:xfrm xmlns:a="http://schemas.openxmlformats.org/drawingml/2006/main" rot="0" flipH="0" flipV="0">
            <a:off x="451104" y="6518910"/>
            <a:ext cx="4422686" cy="3693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Optimization Methods — Final Project · 2026 · </a:t>
            </a:r>
            <a:r>
              <a:rPr sz="1200">
                <a:solidFill>
                  <a:srgbClr val="6B7280"/>
                </a:solidFill>
              </a:rPr>
              <a:t>RJ</a:t>
            </a:r>
            <a:r>
              <a:rPr sz="1200">
                <a:solidFill>
                  <a:srgbClr val="6B7280"/>
                </a:solidFill>
              </a:rPr>
              <a:t> </a:t>
            </a:r>
            <a:r>
              <a:rPr sz="1200">
                <a:solidFill>
                  <a:srgbClr val="6B7280"/>
                </a:solidFill>
              </a:rPr>
              <a:t>Xia, Kevin Fan</a:t>
            </a:r>
          </a:p>
          <a:p xmlns:a="http://schemas.openxmlformats.org/drawingml/2006/main">
            <a:pPr algn="l">
              <a:buNone/>
            </a:pPr>
            <a:endParaRPr sz="1200">
              <a:solidFill>
                <a:srgbClr val="6B7280"/>
              </a:solidFill>
              <a:latin typeface="+mn-lt"/>
              <a:ea typeface="+mn-lt"/>
              <a:cs typeface="+mn-lt"/>
            </a:endParaRPr>
          </a:p>
        </p:txBody>
      </p:sp>
      <p:sp>
        <p:nvSpPr>
          <p:cNvPr id="24" name="TextBox 24">
            <a:extLst xmlns:a="http://schemas.openxmlformats.org/drawingml/2006/main">
              <a:ext uri="{FF2B5EF4-FFF2-40B4-BE49-F238E27FC236}">
                <a16:creationId xmlns:a16="http://schemas.microsoft.com/office/drawing/2014/main" id="{C49B9A85-B921-4970-B6AE-EBE184936B06}"/>
              </a:ext>
            </a:extLst>
          </p:cNvPr>
          <p:cNvSpPr>
            <a:spLocks xmlns:a="http://schemas.openxmlformats.org/drawingml/2006/main" noGrp="1"/>
          </p:cNvSpPr>
          <p:nvPr/>
        </p:nvSpPr>
        <p:spPr>
          <a:xfrm xmlns:a="http://schemas.openxmlformats.org/drawingml/2006/main" rot="0" flipH="0" flipV="0">
            <a:off x="76442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01 / 14</a:t>
            </a:r>
          </a:p>
        </p:txBody>
      </p:sp>
    </p:spTree>
    <p:extLst>
      <p:ext uri="{BB962C8B-B14F-4D97-AF65-F5344CB8AC3E}">
        <p14:creationId xmlns:p14="http://schemas.microsoft.com/office/powerpoint/2010/main" val="51851853"/>
      </p:ext>
    </p:extLst>
  </p:cSld>
</p:sld>
</file>

<file path=ppt/slides/slide2.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9F522909-B00D-49B5-9706-FF5D0F25AB3F}"/>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40AB6017-D1C3-43EF-9DE4-4A1D1A06580A}"/>
              </a:ext>
            </a:extLst>
          </p:cNvPr>
          <p:cNvSpPr>
            <a:spLocks xmlns:a="http://schemas.openxmlformats.org/drawingml/2006/main" noGrp="1"/>
          </p:cNvSpPr>
          <p:nvPr/>
        </p:nvSpPr>
        <p:spPr>
          <a:xfrm xmlns:a="http://schemas.openxmlformats.org/drawingml/2006/main" rot="0" flipH="0" flipV="0">
            <a:off x="451104" y="708660"/>
            <a:ext cx="2356592"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02 · DECISION CONTEXT</a:t>
            </a:r>
          </a:p>
        </p:txBody>
      </p:sp>
      <p:sp>
        <p:nvSpPr>
          <p:cNvPr id="4" name="TextBox 4">
            <a:extLst xmlns:a="http://schemas.openxmlformats.org/drawingml/2006/main">
              <a:ext uri="{FF2B5EF4-FFF2-40B4-BE49-F238E27FC236}">
                <a16:creationId xmlns:a16="http://schemas.microsoft.com/office/drawing/2014/main" id="{D73BE993-E2F6-4002-B50A-EDBD116D64A2}"/>
              </a:ext>
            </a:extLst>
          </p:cNvPr>
          <p:cNvSpPr>
            <a:spLocks xmlns:a="http://schemas.openxmlformats.org/drawingml/2006/main" noGrp="1"/>
          </p:cNvSpPr>
          <p:nvPr/>
        </p:nvSpPr>
        <p:spPr>
          <a:xfrm xmlns:a="http://schemas.openxmlformats.org/drawingml/2006/main" rot="0" flipH="0" flipV="0">
            <a:off x="441960" y="895350"/>
            <a:ext cx="9416786"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A city planner's source-aware budget-vs-coverage problem</a:t>
            </a:r>
          </a:p>
        </p:txBody>
      </p:sp>
      <p:sp>
        <p:nvSpPr>
          <p:cNvPr id="6" name="TextBox 6">
            <a:extLst xmlns:a="http://schemas.openxmlformats.org/drawingml/2006/main">
              <a:ext uri="{FF2B5EF4-FFF2-40B4-BE49-F238E27FC236}">
                <a16:creationId xmlns:a16="http://schemas.microsoft.com/office/drawing/2014/main" id="{99FE4DB8-18BC-4C09-BBC8-7EF3EDF7DB47}"/>
              </a:ext>
            </a:extLst>
          </p:cNvPr>
          <p:cNvSpPr>
            <a:spLocks xmlns:a="http://schemas.openxmlformats.org/drawingml/2006/main" noGrp="1"/>
          </p:cNvSpPr>
          <p:nvPr/>
        </p:nvSpPr>
        <p:spPr>
          <a:xfrm xmlns:a="http://schemas.openxmlformats.org/drawingml/2006/main" rot="0" flipH="0" flipV="0">
            <a:off x="448818" y="1784032"/>
            <a:ext cx="4731639" cy="117995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250"/>
              </a:lnSpc>
              <a:buNone/>
            </a:pPr>
            <a:r>
              <a:rPr sz="1650">
                <a:solidFill>
                  <a:schemeClr val="dk1"/>
                </a:solidFill>
                <a:latin typeface="+mn-lt"/>
                <a:ea typeface="+mn-lt"/>
                <a:cs typeface="+mn-lt"/>
              </a:rPr>
              <a:t>A city screens licensed garages and filling</a:t>
            </a:r>
          </a:p>
          <a:p xmlns:a="http://schemas.openxmlformats.org/drawingml/2006/main">
            <a:pPr algn="l">
              <a:lnSpc>
                <a:spcPts val="2250"/>
              </a:lnSpc>
              <a:buNone/>
            </a:pPr>
            <a:r>
              <a:rPr sz="1650">
                <a:solidFill>
                  <a:schemeClr val="dk1"/>
                </a:solidFill>
                <a:latin typeface="+mn-lt"/>
                <a:ea typeface="+mn-lt"/>
                <a:cs typeface="+mn-lt"/>
              </a:rPr>
              <a:t>stations as candidate charging sites under a</a:t>
            </a:r>
          </a:p>
          <a:p xmlns:a="http://schemas.openxmlformats.org/drawingml/2006/main">
            <a:pPr algn="l">
              <a:lnSpc>
                <a:spcPts val="2250"/>
              </a:lnSpc>
              <a:buNone/>
            </a:pPr>
            <a:r>
              <a:rPr sz="1650">
                <a:solidFill>
                  <a:schemeClr val="dk1"/>
                </a:solidFill>
                <a:latin typeface="+mn-lt"/>
                <a:ea typeface="+mn-lt"/>
                <a:cs typeface="+mn-lt"/>
              </a:rPr>
              <a:t>fixed construction budget. Site cost and</a:t>
            </a:r>
          </a:p>
          <a:p xmlns:a="http://schemas.openxmlformats.org/drawingml/2006/main">
            <a:pPr algn="l">
              <a:lnSpc>
                <a:spcPts val="2250"/>
              </a:lnSpc>
              <a:buNone/>
            </a:pPr>
            <a:r>
              <a:rPr sz="1650">
                <a:solidFill>
                  <a:schemeClr val="dk1"/>
                </a:solidFill>
                <a:latin typeface="+mn-lt"/>
                <a:ea typeface="+mn-lt"/>
                <a:cs typeface="+mn-lt"/>
              </a:rPr>
              <a:t>capacity remain scenario assumptions.</a:t>
            </a:r>
          </a:p>
        </p:txBody>
      </p:sp>
      <p:sp>
        <p:nvSpPr>
          <p:cNvPr id="7" name="TextBox 7">
            <a:extLst xmlns:a="http://schemas.openxmlformats.org/drawingml/2006/main">
              <a:ext uri="{FF2B5EF4-FFF2-40B4-BE49-F238E27FC236}">
                <a16:creationId xmlns:a16="http://schemas.microsoft.com/office/drawing/2014/main" id="{FBC6F210-7AFB-4A2B-8D66-1E6474EA9529}"/>
              </a:ext>
            </a:extLst>
          </p:cNvPr>
          <p:cNvSpPr>
            <a:spLocks xmlns:a="http://schemas.openxmlformats.org/drawingml/2006/main" noGrp="1"/>
          </p:cNvSpPr>
          <p:nvPr/>
        </p:nvSpPr>
        <p:spPr>
          <a:xfrm xmlns:a="http://schemas.openxmlformats.org/drawingml/2006/main" rot="0" flipH="0" flipV="0">
            <a:off x="448818" y="3079432"/>
            <a:ext cx="4710684" cy="1465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250"/>
              </a:lnSpc>
              <a:buNone/>
            </a:pPr>
            <a:r>
              <a:rPr sz="1650">
                <a:solidFill>
                  <a:schemeClr val="dk1"/>
                </a:solidFill>
                <a:latin typeface="+mn-lt"/>
                <a:ea typeface="+mn-lt"/>
                <a:cs typeface="+mn-lt"/>
              </a:rPr>
              <a:t>ACS community population density supplies a</a:t>
            </a:r>
          </a:p>
          <a:p xmlns:a="http://schemas.openxmlformats.org/drawingml/2006/main">
            <a:pPr algn="l">
              <a:lnSpc>
                <a:spcPts val="2250"/>
              </a:lnSpc>
              <a:buNone/>
            </a:pPr>
            <a:r>
              <a:rPr sz="1650">
                <a:solidFill>
                  <a:schemeClr val="dk1"/>
                </a:solidFill>
                <a:latin typeface="+mn-lt"/>
                <a:ea typeface="+mn-lt"/>
                <a:cs typeface="+mn-lt"/>
              </a:rPr>
              <a:t>spatial demand proxy — not measured EV use.</a:t>
            </a:r>
          </a:p>
          <a:p xmlns:a="http://schemas.openxmlformats.org/drawingml/2006/main">
            <a:pPr algn="l">
              <a:lnSpc>
                <a:spcPts val="2250"/>
              </a:lnSpc>
              <a:buNone/>
            </a:pPr>
            <a:r>
              <a:rPr sz="1650">
                <a:solidFill>
                  <a:schemeClr val="dk1"/>
                </a:solidFill>
                <a:latin typeface="+mn-lt"/>
                <a:ea typeface="+mn-lt"/>
                <a:cs typeface="+mn-lt"/>
              </a:rPr>
              <a:t>The model compares coverage, cost and</a:t>
            </a:r>
          </a:p>
          <a:p xmlns:a="http://schemas.openxmlformats.org/drawingml/2006/main">
            <a:pPr algn="l">
              <a:lnSpc>
                <a:spcPts val="2250"/>
              </a:lnSpc>
              <a:buNone/>
            </a:pPr>
            <a:r>
              <a:rPr sz="1650">
                <a:solidFill>
                  <a:schemeClr val="dk1"/>
                </a:solidFill>
                <a:latin typeface="+mn-lt"/>
                <a:ea typeface="+mn-lt"/>
                <a:cs typeface="+mn-lt"/>
              </a:rPr>
              <a:t>straight-line assignment distance.</a:t>
            </a:r>
          </a:p>
        </p:txBody>
      </p:sp>
      <p:sp>
        <p:nvSpPr>
          <p:cNvPr id="8" name="Ellipse 8">
            <a:extLst xmlns:a="http://schemas.openxmlformats.org/drawingml/2006/main">
              <a:ext uri="{FF2B5EF4-FFF2-40B4-BE49-F238E27FC236}">
                <a16:creationId xmlns:a16="http://schemas.microsoft.com/office/drawing/2014/main" id="{BE92656E-0B16-4118-BEA9-DDA816837854}"/>
              </a:ext>
            </a:extLst>
          </p:cNvPr>
          <p:cNvSpPr>
            <a:spLocks xmlns:a="http://schemas.openxmlformats.org/drawingml/2006/main" noGrp="1"/>
          </p:cNvSpPr>
          <p:nvPr/>
        </p:nvSpPr>
        <p:spPr>
          <a:xfrm xmlns:a="http://schemas.openxmlformats.org/drawingml/2006/main" rot="0" flipH="0" flipV="0">
            <a:off x="495300" y="4819650"/>
            <a:ext cx="114300" cy="114300"/>
          </a:xfrm>
          <a:prstGeom xmlns:a="http://schemas.openxmlformats.org/drawingml/2006/main" prst="ellipse">
            <a:avLst/>
          </a:prstGeom>
          <a:solidFill xmlns:a="http://schemas.openxmlformats.org/drawingml/2006/main">
            <a:schemeClr val="accent3"/>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87BF61FD-6F9A-47B0-827E-9BDA5BD73C89}"/>
              </a:ext>
            </a:extLst>
          </p:cNvPr>
          <p:cNvSpPr>
            <a:spLocks xmlns:a="http://schemas.openxmlformats.org/drawingml/2006/main" noGrp="1"/>
          </p:cNvSpPr>
          <p:nvPr/>
        </p:nvSpPr>
        <p:spPr>
          <a:xfrm xmlns:a="http://schemas.openxmlformats.org/drawingml/2006/main" rot="0" flipH="0" flipV="0">
            <a:off x="717042" y="4788218"/>
            <a:ext cx="323674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Too few sites → demand left unserved</a:t>
            </a:r>
          </a:p>
        </p:txBody>
      </p:sp>
      <p:sp>
        <p:nvSpPr>
          <p:cNvPr id="10" name="Ellipse 10">
            <a:extLst xmlns:a="http://schemas.openxmlformats.org/drawingml/2006/main">
              <a:ext uri="{FF2B5EF4-FFF2-40B4-BE49-F238E27FC236}">
                <a16:creationId xmlns:a16="http://schemas.microsoft.com/office/drawing/2014/main" id="{6AE8D5AC-1A66-4F15-BCF5-0436730C66CD}"/>
              </a:ext>
            </a:extLst>
          </p:cNvPr>
          <p:cNvSpPr>
            <a:spLocks xmlns:a="http://schemas.openxmlformats.org/drawingml/2006/main" noGrp="1"/>
          </p:cNvSpPr>
          <p:nvPr/>
        </p:nvSpPr>
        <p:spPr>
          <a:xfrm xmlns:a="http://schemas.openxmlformats.org/drawingml/2006/main" rot="0" flipH="0" flipV="0">
            <a:off x="495300" y="5124450"/>
            <a:ext cx="114300" cy="1143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E74083DC-29D2-4B07-AAE1-CBF6775184DA}"/>
              </a:ext>
            </a:extLst>
          </p:cNvPr>
          <p:cNvSpPr>
            <a:spLocks xmlns:a="http://schemas.openxmlformats.org/drawingml/2006/main" noGrp="1"/>
          </p:cNvSpPr>
          <p:nvPr/>
        </p:nvSpPr>
        <p:spPr>
          <a:xfrm xmlns:a="http://schemas.openxmlformats.org/drawingml/2006/main" rot="0" flipH="0" flipV="0">
            <a:off x="717042" y="5093018"/>
            <a:ext cx="357907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dk1"/>
                </a:solidFill>
                <a:latin typeface="+mn-lt"/>
                <a:ea typeface="+mn-lt"/>
                <a:cs typeface="+mn-lt"/>
              </a:rPr>
              <a:t>Right-sized → best model coverage per dollar</a:t>
            </a:r>
          </a:p>
        </p:txBody>
      </p:sp>
      <p:sp>
        <p:nvSpPr>
          <p:cNvPr id="12" name="Ellipse 12">
            <a:extLst xmlns:a="http://schemas.openxmlformats.org/drawingml/2006/main">
              <a:ext uri="{FF2B5EF4-FFF2-40B4-BE49-F238E27FC236}">
                <a16:creationId xmlns:a16="http://schemas.microsoft.com/office/drawing/2014/main" id="{6EF90E73-F282-4077-A53E-04616E8950F0}"/>
              </a:ext>
            </a:extLst>
          </p:cNvPr>
          <p:cNvSpPr>
            <a:spLocks xmlns:a="http://schemas.openxmlformats.org/drawingml/2006/main" noGrp="1"/>
          </p:cNvSpPr>
          <p:nvPr/>
        </p:nvSpPr>
        <p:spPr>
          <a:xfrm xmlns:a="http://schemas.openxmlformats.org/drawingml/2006/main" rot="0" flipH="0" flipV="0">
            <a:off x="495300" y="5429250"/>
            <a:ext cx="114300" cy="114300"/>
          </a:xfrm>
          <a:prstGeom xmlns:a="http://schemas.openxmlformats.org/drawingml/2006/main" prst="ellipse">
            <a:avLst/>
          </a:prstGeom>
          <a:solidFill xmlns:a="http://schemas.openxmlformats.org/drawingml/2006/main">
            <a:schemeClr val="accen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3" name="TextBox 13">
            <a:extLst xmlns:a="http://schemas.openxmlformats.org/drawingml/2006/main">
              <a:ext uri="{FF2B5EF4-FFF2-40B4-BE49-F238E27FC236}">
                <a16:creationId xmlns:a16="http://schemas.microsoft.com/office/drawing/2014/main" id="{AEB5C97A-70E2-4EC6-8252-6A9DD3BC9E62}"/>
              </a:ext>
            </a:extLst>
          </p:cNvPr>
          <p:cNvSpPr>
            <a:spLocks xmlns:a="http://schemas.openxmlformats.org/drawingml/2006/main" noGrp="1"/>
          </p:cNvSpPr>
          <p:nvPr/>
        </p:nvSpPr>
        <p:spPr>
          <a:xfrm xmlns:a="http://schemas.openxmlformats.org/drawingml/2006/main" rot="0" flipH="0" flipV="0">
            <a:off x="717042" y="5397818"/>
            <a:ext cx="280995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Surplus budget → leave it unspent</a:t>
            </a:r>
          </a:p>
        </p:txBody>
      </p:sp>
      <p:sp>
        <p:nvSpPr>
          <p:cNvPr id="16" name="Rectangle 16">
            <a:extLst xmlns:a="http://schemas.openxmlformats.org/drawingml/2006/main">
              <a:ext uri="{FF2B5EF4-FFF2-40B4-BE49-F238E27FC236}">
                <a16:creationId xmlns:a16="http://schemas.microsoft.com/office/drawing/2014/main" id="{1265D787-13A1-412A-8D2B-34AE73EC858D}"/>
              </a:ext>
            </a:extLst>
          </p:cNvPr>
          <p:cNvSpPr>
            <a:spLocks xmlns:a="http://schemas.openxmlformats.org/drawingml/2006/main" noGrp="1"/>
          </p:cNvSpPr>
          <p:nvPr/>
        </p:nvSpPr>
        <p:spPr>
          <a:xfrm xmlns:a="http://schemas.openxmlformats.org/drawingml/2006/main" rot="0" flipH="0" flipV="0">
            <a:off x="6477000" y="1733550"/>
            <a:ext cx="5257800" cy="3771900"/>
          </a:xfrm>
          <a:prstGeom xmlns:a="http://schemas.openxmlformats.org/drawingml/2006/main" prst="roundRect">
            <a:avLst>
              <a:gd name="adj" fmla="val 3030"/>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7" name="Freeform 17">
            <a:extLst xmlns:a="http://schemas.openxmlformats.org/drawingml/2006/main">
              <a:ext uri="{FF2B5EF4-FFF2-40B4-BE49-F238E27FC236}">
                <a16:creationId xmlns:a16="http://schemas.microsoft.com/office/drawing/2014/main" id="{D2250FDC-9208-45EE-A585-35FFD8B813BE}"/>
              </a:ext>
            </a:extLst>
          </p:cNvPr>
          <p:cNvSpPr>
            <a:spLocks xmlns:a="http://schemas.openxmlformats.org/drawingml/2006/main" noGrp="1"/>
          </p:cNvSpPr>
          <p:nvPr/>
        </p:nvSpPr>
        <p:spPr>
          <a:xfrm xmlns:a="http://schemas.openxmlformats.org/drawingml/2006/main" rot="0" flipH="0" flipV="0">
            <a:off x="6812756" y="2031206"/>
            <a:ext cx="185737" cy="185737"/>
          </a:xfrm>
          <a:custGeom xmlns:a="http://schemas.openxmlformats.org/drawingml/2006/main">
            <a:rect l="l" t="t" r="r" b="b"/>
            <a:pathLst>
              <a:path w="185737" h="185737">
                <a:moveTo>
                  <a:pt x="51594" y="61912"/>
                </a:moveTo>
                <a:lnTo>
                  <a:pt x="103187" y="113506"/>
                </a:lnTo>
                <a:lnTo>
                  <a:pt x="103187" y="185737"/>
                </a:lnTo>
                <a:lnTo>
                  <a:pt x="51594" y="185737"/>
                </a:lnTo>
                <a:lnTo>
                  <a:pt x="51594" y="144462"/>
                </a:lnTo>
                <a:moveTo>
                  <a:pt x="51594" y="185737"/>
                </a:moveTo>
                <a:lnTo>
                  <a:pt x="0" y="185737"/>
                </a:lnTo>
                <a:lnTo>
                  <a:pt x="0" y="113506"/>
                </a:lnTo>
                <a:lnTo>
                  <a:pt x="51594" y="61912"/>
                </a:lnTo>
                <a:moveTo>
                  <a:pt x="61912" y="72231"/>
                </a:moveTo>
                <a:lnTo>
                  <a:pt x="61912" y="10319"/>
                </a:lnTo>
                <a:cubicBezTo>
                  <a:pt x="61912" y="4620"/>
                  <a:pt x="66532" y="0"/>
                  <a:pt x="72231" y="0"/>
                </a:cubicBezTo>
                <a:lnTo>
                  <a:pt x="175418" y="0"/>
                </a:lnTo>
                <a:cubicBezTo>
                  <a:pt x="181117" y="0"/>
                  <a:pt x="185737" y="4620"/>
                  <a:pt x="185737" y="10319"/>
                </a:cubicBezTo>
                <a:lnTo>
                  <a:pt x="185737" y="185737"/>
                </a:lnTo>
                <a:lnTo>
                  <a:pt x="103187" y="185737"/>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8" name="Freeform 18">
            <a:extLst xmlns:a="http://schemas.openxmlformats.org/drawingml/2006/main">
              <a:ext uri="{FF2B5EF4-FFF2-40B4-BE49-F238E27FC236}">
                <a16:creationId xmlns:a16="http://schemas.microsoft.com/office/drawing/2014/main" id="{4976A26A-8F7D-4ED4-9078-CD4755917891}"/>
              </a:ext>
            </a:extLst>
          </p:cNvPr>
          <p:cNvSpPr>
            <a:spLocks xmlns:a="http://schemas.openxmlformats.org/drawingml/2006/main" noGrp="1"/>
          </p:cNvSpPr>
          <p:nvPr/>
        </p:nvSpPr>
        <p:spPr>
          <a:xfrm xmlns:a="http://schemas.openxmlformats.org/drawingml/2006/main" rot="0" flipH="0" flipV="0">
            <a:off x="6915943" y="2072481"/>
            <a:ext cx="9525" cy="9525"/>
          </a:xfrm>
          <a:custGeom xmlns:a="http://schemas.openxmlformats.org/drawingml/2006/main">
            <a:rect l="l" t="t" r="r" b="b"/>
            <a:pathLst>
              <a:path w="9525" h="9525">
                <a:moveTo>
                  <a:pt x="0" y="0"/>
                </a:moveTo>
                <a:lnTo>
                  <a:pt x="0" y="103"/>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9" name="Freeform 19">
            <a:extLst xmlns:a="http://schemas.openxmlformats.org/drawingml/2006/main">
              <a:ext uri="{FF2B5EF4-FFF2-40B4-BE49-F238E27FC236}">
                <a16:creationId xmlns:a16="http://schemas.microsoft.com/office/drawing/2014/main" id="{CBC508AD-B0AC-4B78-9A69-FF4F40374C72}"/>
              </a:ext>
            </a:extLst>
          </p:cNvPr>
          <p:cNvSpPr>
            <a:spLocks xmlns:a="http://schemas.openxmlformats.org/drawingml/2006/main" noGrp="1"/>
          </p:cNvSpPr>
          <p:nvPr/>
        </p:nvSpPr>
        <p:spPr>
          <a:xfrm xmlns:a="http://schemas.openxmlformats.org/drawingml/2006/main" rot="0" flipH="0" flipV="0">
            <a:off x="6957218" y="2072481"/>
            <a:ext cx="9525" cy="9525"/>
          </a:xfrm>
          <a:custGeom xmlns:a="http://schemas.openxmlformats.org/drawingml/2006/main">
            <a:rect l="l" t="t" r="r" b="b"/>
            <a:pathLst>
              <a:path w="9525" h="9525">
                <a:moveTo>
                  <a:pt x="0" y="0"/>
                </a:moveTo>
                <a:lnTo>
                  <a:pt x="0" y="103"/>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0" name="Freeform 20">
            <a:extLst xmlns:a="http://schemas.openxmlformats.org/drawingml/2006/main">
              <a:ext uri="{FF2B5EF4-FFF2-40B4-BE49-F238E27FC236}">
                <a16:creationId xmlns:a16="http://schemas.microsoft.com/office/drawing/2014/main" id="{75957BA1-4B0E-448E-BC48-0F18B7020BEE}"/>
              </a:ext>
            </a:extLst>
          </p:cNvPr>
          <p:cNvSpPr>
            <a:spLocks xmlns:a="http://schemas.openxmlformats.org/drawingml/2006/main" noGrp="1"/>
          </p:cNvSpPr>
          <p:nvPr/>
        </p:nvSpPr>
        <p:spPr>
          <a:xfrm xmlns:a="http://schemas.openxmlformats.org/drawingml/2006/main" rot="0" flipH="0" flipV="0">
            <a:off x="6957218" y="2113756"/>
            <a:ext cx="9525" cy="9525"/>
          </a:xfrm>
          <a:custGeom xmlns:a="http://schemas.openxmlformats.org/drawingml/2006/main">
            <a:rect l="l" t="t" r="r" b="b"/>
            <a:pathLst>
              <a:path w="9525" h="9525">
                <a:moveTo>
                  <a:pt x="0" y="0"/>
                </a:moveTo>
                <a:lnTo>
                  <a:pt x="0" y="103"/>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1" name="Freeform 21">
            <a:extLst xmlns:a="http://schemas.openxmlformats.org/drawingml/2006/main">
              <a:ext uri="{FF2B5EF4-FFF2-40B4-BE49-F238E27FC236}">
                <a16:creationId xmlns:a16="http://schemas.microsoft.com/office/drawing/2014/main" id="{B68A550F-FA57-4CFD-BD47-6B3B3C592DC6}"/>
              </a:ext>
            </a:extLst>
          </p:cNvPr>
          <p:cNvSpPr>
            <a:spLocks xmlns:a="http://schemas.openxmlformats.org/drawingml/2006/main" noGrp="1"/>
          </p:cNvSpPr>
          <p:nvPr/>
        </p:nvSpPr>
        <p:spPr>
          <a:xfrm xmlns:a="http://schemas.openxmlformats.org/drawingml/2006/main" rot="0" flipH="0" flipV="0">
            <a:off x="6957218" y="2155031"/>
            <a:ext cx="9525" cy="9525"/>
          </a:xfrm>
          <a:custGeom xmlns:a="http://schemas.openxmlformats.org/drawingml/2006/main">
            <a:rect l="l" t="t" r="r" b="b"/>
            <a:pathLst>
              <a:path w="9525" h="9525">
                <a:moveTo>
                  <a:pt x="0" y="0"/>
                </a:moveTo>
                <a:lnTo>
                  <a:pt x="0" y="103"/>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3" name="TextBox 23">
            <a:extLst xmlns:a="http://schemas.openxmlformats.org/drawingml/2006/main">
              <a:ext uri="{FF2B5EF4-FFF2-40B4-BE49-F238E27FC236}">
                <a16:creationId xmlns:a16="http://schemas.microsoft.com/office/drawing/2014/main" id="{4CD58A64-4426-492D-8D46-33F9CB5BDC4C}"/>
              </a:ext>
            </a:extLst>
          </p:cNvPr>
          <p:cNvSpPr>
            <a:spLocks xmlns:a="http://schemas.openxmlformats.org/drawingml/2006/main" noGrp="1"/>
          </p:cNvSpPr>
          <p:nvPr/>
        </p:nvSpPr>
        <p:spPr>
          <a:xfrm xmlns:a="http://schemas.openxmlformats.org/drawingml/2006/main" rot="0" flipH="0" flipV="0">
            <a:off x="7118604" y="2061210"/>
            <a:ext cx="220083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DECISION AT A GLANCE</a:t>
            </a:r>
          </a:p>
        </p:txBody>
      </p:sp>
      <p:sp>
        <p:nvSpPr>
          <p:cNvPr id="24" name="Line 24">
            <a:extLst xmlns:a="http://schemas.openxmlformats.org/drawingml/2006/main">
              <a:ext uri="{FF2B5EF4-FFF2-40B4-BE49-F238E27FC236}">
                <a16:creationId xmlns:a16="http://schemas.microsoft.com/office/drawing/2014/main" id="{A3060763-8944-40E5-B5AF-7D99EA753310}"/>
              </a:ext>
            </a:extLst>
          </p:cNvPr>
          <p:cNvSpPr>
            <a:spLocks xmlns:a="http://schemas.openxmlformats.org/drawingml/2006/main" noGrp="1"/>
          </p:cNvSpPr>
          <p:nvPr/>
        </p:nvSpPr>
        <p:spPr>
          <a:xfrm xmlns:a="http://schemas.openxmlformats.org/drawingml/2006/main" rot="0" flipH="0" flipV="0">
            <a:off x="6781800" y="2400300"/>
            <a:ext cx="4648200" cy="9525"/>
          </a:xfrm>
          <a:custGeom xmlns:a="http://schemas.openxmlformats.org/drawingml/2006/main">
            <a:rect l="l" t="t" r="r" b="b"/>
            <a:pathLst>
              <a:path w="4648200" h="9525">
                <a:moveTo>
                  <a:pt x="0" y="0"/>
                </a:moveTo>
                <a:lnTo>
                  <a:pt x="46482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25" name="TextBox 25">
            <a:extLst xmlns:a="http://schemas.openxmlformats.org/drawingml/2006/main">
              <a:ext uri="{FF2B5EF4-FFF2-40B4-BE49-F238E27FC236}">
                <a16:creationId xmlns:a16="http://schemas.microsoft.com/office/drawing/2014/main" id="{4C93686D-0528-498D-958F-051D5934BED3}"/>
              </a:ext>
            </a:extLst>
          </p:cNvPr>
          <p:cNvSpPr>
            <a:spLocks xmlns:a="http://schemas.openxmlformats.org/drawingml/2006/main" noGrp="1"/>
          </p:cNvSpPr>
          <p:nvPr/>
        </p:nvSpPr>
        <p:spPr>
          <a:xfrm xmlns:a="http://schemas.openxmlformats.org/drawingml/2006/main" rot="0" flipH="0" flipV="0">
            <a:off x="6775704" y="2651760"/>
            <a:ext cx="1374282"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DECISION-MAKER</a:t>
            </a:r>
          </a:p>
        </p:txBody>
      </p:sp>
      <p:sp>
        <p:nvSpPr>
          <p:cNvPr id="26" name="TextBox 26">
            <a:extLst xmlns:a="http://schemas.openxmlformats.org/drawingml/2006/main">
              <a:ext uri="{FF2B5EF4-FFF2-40B4-BE49-F238E27FC236}">
                <a16:creationId xmlns:a16="http://schemas.microsoft.com/office/drawing/2014/main" id="{C6D571E9-510D-40DE-9F6F-EC3F9AB3E864}"/>
              </a:ext>
            </a:extLst>
          </p:cNvPr>
          <p:cNvSpPr>
            <a:spLocks xmlns:a="http://schemas.openxmlformats.org/drawingml/2006/main" noGrp="1"/>
          </p:cNvSpPr>
          <p:nvPr/>
        </p:nvSpPr>
        <p:spPr>
          <a:xfrm xmlns:a="http://schemas.openxmlformats.org/drawingml/2006/main" rot="0" flipH="0" flipV="0">
            <a:off x="6774180" y="2886075"/>
            <a:ext cx="361595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Municipal transport planner / utility</a:t>
            </a:r>
          </a:p>
        </p:txBody>
      </p:sp>
      <p:sp>
        <p:nvSpPr>
          <p:cNvPr id="28" name="TextBox 28">
            <a:extLst xmlns:a="http://schemas.openxmlformats.org/drawingml/2006/main">
              <a:ext uri="{FF2B5EF4-FFF2-40B4-BE49-F238E27FC236}">
                <a16:creationId xmlns:a16="http://schemas.microsoft.com/office/drawing/2014/main" id="{20FFD36F-2CF2-4CEF-8C34-799EEAE7FE05}"/>
              </a:ext>
            </a:extLst>
          </p:cNvPr>
          <p:cNvSpPr>
            <a:spLocks xmlns:a="http://schemas.openxmlformats.org/drawingml/2006/main" noGrp="1"/>
          </p:cNvSpPr>
          <p:nvPr/>
        </p:nvSpPr>
        <p:spPr>
          <a:xfrm xmlns:a="http://schemas.openxmlformats.org/drawingml/2006/main" rot="0" flipH="0" flipV="0">
            <a:off x="6775704" y="3299460"/>
            <a:ext cx="60362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LEVERS</a:t>
            </a:r>
          </a:p>
        </p:txBody>
      </p:sp>
      <p:sp>
        <p:nvSpPr>
          <p:cNvPr id="29" name="TextBox 29">
            <a:extLst xmlns:a="http://schemas.openxmlformats.org/drawingml/2006/main">
              <a:ext uri="{FF2B5EF4-FFF2-40B4-BE49-F238E27FC236}">
                <a16:creationId xmlns:a16="http://schemas.microsoft.com/office/drawing/2014/main" id="{4FD53E0E-43BB-4BB7-B002-13EBE4FDFAD3}"/>
              </a:ext>
            </a:extLst>
          </p:cNvPr>
          <p:cNvSpPr>
            <a:spLocks xmlns:a="http://schemas.openxmlformats.org/drawingml/2006/main" noGrp="1"/>
          </p:cNvSpPr>
          <p:nvPr/>
        </p:nvSpPr>
        <p:spPr>
          <a:xfrm xmlns:a="http://schemas.openxmlformats.org/drawingml/2006/main" rot="0" flipH="0" flipV="0">
            <a:off x="6774180" y="3533775"/>
            <a:ext cx="3529965" cy="5600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100"/>
              </a:lnSpc>
              <a:buNone/>
            </a:pPr>
            <a:r>
              <a:rPr sz="1500">
                <a:solidFill>
                  <a:schemeClr val="dk1"/>
                </a:solidFill>
                <a:latin typeface="+mn-lt"/>
                <a:ea typeface="+mn-lt"/>
                <a:cs typeface="+mn-lt"/>
              </a:rPr>
              <a:t>Which sites to build (yⱼ); how demand</a:t>
            </a:r>
            <a:br/>
            <a:r>
              <a:rPr sz="1500">
                <a:solidFill>
                  <a:schemeClr val="dk1"/>
                </a:solidFill>
                <a:latin typeface="+mn-lt"/>
                <a:ea typeface="+mn-lt"/>
                <a:cs typeface="+mn-lt"/>
              </a:rPr>
              <a:t>is served (xᵢⱼ)</a:t>
            </a:r>
          </a:p>
        </p:txBody>
      </p:sp>
      <p:sp>
        <p:nvSpPr>
          <p:cNvPr id="31" name="TextBox 31">
            <a:extLst xmlns:a="http://schemas.openxmlformats.org/drawingml/2006/main">
              <a:ext uri="{FF2B5EF4-FFF2-40B4-BE49-F238E27FC236}">
                <a16:creationId xmlns:a16="http://schemas.microsoft.com/office/drawing/2014/main" id="{AFD32327-740A-4FCB-839F-5E1A65981A69}"/>
              </a:ext>
            </a:extLst>
          </p:cNvPr>
          <p:cNvSpPr>
            <a:spLocks xmlns:a="http://schemas.openxmlformats.org/drawingml/2006/main" noGrp="1"/>
          </p:cNvSpPr>
          <p:nvPr/>
        </p:nvSpPr>
        <p:spPr>
          <a:xfrm xmlns:a="http://schemas.openxmlformats.org/drawingml/2006/main" rot="0" flipH="0" flipV="0">
            <a:off x="6775704" y="4232910"/>
            <a:ext cx="143701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HARD CONSTRAINT</a:t>
            </a:r>
          </a:p>
        </p:txBody>
      </p:sp>
      <p:sp>
        <p:nvSpPr>
          <p:cNvPr id="32" name="TextBox 32">
            <a:extLst xmlns:a="http://schemas.openxmlformats.org/drawingml/2006/main">
              <a:ext uri="{FF2B5EF4-FFF2-40B4-BE49-F238E27FC236}">
                <a16:creationId xmlns:a16="http://schemas.microsoft.com/office/drawing/2014/main" id="{70E21EDF-7F9E-46F1-BBCA-80AF728521E7}"/>
              </a:ext>
            </a:extLst>
          </p:cNvPr>
          <p:cNvSpPr>
            <a:spLocks xmlns:a="http://schemas.openxmlformats.org/drawingml/2006/main" noGrp="1"/>
          </p:cNvSpPr>
          <p:nvPr/>
        </p:nvSpPr>
        <p:spPr>
          <a:xfrm xmlns:a="http://schemas.openxmlformats.org/drawingml/2006/main" rot="0" flipH="0" flipV="0">
            <a:off x="6774180" y="4467225"/>
            <a:ext cx="276796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 fixed construction budget</a:t>
            </a:r>
          </a:p>
        </p:txBody>
      </p:sp>
      <p:sp>
        <p:nvSpPr>
          <p:cNvPr id="34" name="TextBox 34">
            <a:extLst xmlns:a="http://schemas.openxmlformats.org/drawingml/2006/main">
              <a:ext uri="{FF2B5EF4-FFF2-40B4-BE49-F238E27FC236}">
                <a16:creationId xmlns:a16="http://schemas.microsoft.com/office/drawing/2014/main" id="{211CE1E4-CA1A-4925-A6EA-9B8FA5003DA1}"/>
              </a:ext>
            </a:extLst>
          </p:cNvPr>
          <p:cNvSpPr>
            <a:spLocks xmlns:a="http://schemas.openxmlformats.org/drawingml/2006/main" noGrp="1"/>
          </p:cNvSpPr>
          <p:nvPr/>
        </p:nvSpPr>
        <p:spPr>
          <a:xfrm xmlns:a="http://schemas.openxmlformats.org/drawingml/2006/main" rot="0" flipH="0" flipV="0">
            <a:off x="6775704" y="4880610"/>
            <a:ext cx="70219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SUCCESS</a:t>
            </a:r>
          </a:p>
        </p:txBody>
      </p:sp>
      <p:sp>
        <p:nvSpPr>
          <p:cNvPr id="35" name="TextBox 35">
            <a:extLst xmlns:a="http://schemas.openxmlformats.org/drawingml/2006/main">
              <a:ext uri="{FF2B5EF4-FFF2-40B4-BE49-F238E27FC236}">
                <a16:creationId xmlns:a16="http://schemas.microsoft.com/office/drawing/2014/main" id="{769AE8F9-5D56-4A6A-8A02-6D528109CB4F}"/>
              </a:ext>
            </a:extLst>
          </p:cNvPr>
          <p:cNvSpPr>
            <a:spLocks xmlns:a="http://schemas.openxmlformats.org/drawingml/2006/main" noGrp="1"/>
          </p:cNvSpPr>
          <p:nvPr/>
        </p:nvSpPr>
        <p:spPr>
          <a:xfrm xmlns:a="http://schemas.openxmlformats.org/drawingml/2006/main" rot="0" flipH="0" flipV="0">
            <a:off x="6774180" y="5114925"/>
            <a:ext cx="377778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 reproducible screening scenario</a:t>
            </a:r>
          </a:p>
        </p:txBody>
      </p:sp>
      <p:sp>
        <p:nvSpPr>
          <p:cNvPr id="38" name="Rectangle 38">
            <a:extLst xmlns:a="http://schemas.openxmlformats.org/drawingml/2006/main">
              <a:ext uri="{FF2B5EF4-FFF2-40B4-BE49-F238E27FC236}">
                <a16:creationId xmlns:a16="http://schemas.microsoft.com/office/drawing/2014/main" id="{8C7F386B-3D79-492B-B693-0A8B0CB1A3D5}"/>
              </a:ext>
            </a:extLst>
          </p:cNvPr>
          <p:cNvSpPr>
            <a:spLocks xmlns:a="http://schemas.openxmlformats.org/drawingml/2006/main" noGrp="1"/>
          </p:cNvSpPr>
          <p:nvPr/>
        </p:nvSpPr>
        <p:spPr>
          <a:xfrm xmlns:a="http://schemas.openxmlformats.org/drawingml/2006/main" rot="0" flipH="0" flipV="0">
            <a:off x="457200" y="5734050"/>
            <a:ext cx="11277600" cy="495300"/>
          </a:xfrm>
          <a:prstGeom xmlns:a="http://schemas.openxmlformats.org/drawingml/2006/main" prst="roundRect">
            <a:avLst>
              <a:gd name="adj" fmla="val 1538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9" name="Rectangle 39">
            <a:extLst xmlns:a="http://schemas.openxmlformats.org/drawingml/2006/main">
              <a:ext uri="{FF2B5EF4-FFF2-40B4-BE49-F238E27FC236}">
                <a16:creationId xmlns:a16="http://schemas.microsoft.com/office/drawing/2014/main" id="{D08E3011-0658-4C10-B33B-DB870C887F6D}"/>
              </a:ext>
            </a:extLst>
          </p:cNvPr>
          <p:cNvSpPr>
            <a:spLocks xmlns:a="http://schemas.openxmlformats.org/drawingml/2006/main" noGrp="1"/>
          </p:cNvSpPr>
          <p:nvPr/>
        </p:nvSpPr>
        <p:spPr>
          <a:xfrm xmlns:a="http://schemas.openxmlformats.org/drawingml/2006/main" rot="0" flipH="0" flipV="0">
            <a:off x="457200" y="5734050"/>
            <a:ext cx="57150" cy="4953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0" name="Freeform 40">
            <a:extLst xmlns:a="http://schemas.openxmlformats.org/drawingml/2006/main">
              <a:ext uri="{FF2B5EF4-FFF2-40B4-BE49-F238E27FC236}">
                <a16:creationId xmlns:a16="http://schemas.microsoft.com/office/drawing/2014/main" id="{5AE050B6-A35B-426F-B4C5-C1FCF2CE8610}"/>
              </a:ext>
            </a:extLst>
          </p:cNvPr>
          <p:cNvSpPr>
            <a:spLocks xmlns:a="http://schemas.openxmlformats.org/drawingml/2006/main" noGrp="1"/>
          </p:cNvSpPr>
          <p:nvPr/>
        </p:nvSpPr>
        <p:spPr>
          <a:xfrm xmlns:a="http://schemas.openxmlformats.org/drawingml/2006/main" rot="0" flipH="0" flipV="0">
            <a:off x="790575" y="6057900"/>
            <a:ext cx="95250" cy="9525"/>
          </a:xfrm>
          <a:custGeom xmlns:a="http://schemas.openxmlformats.org/drawingml/2006/main">
            <a:rect l="l" t="t" r="r" b="b"/>
            <a:pathLst>
              <a:path w="95250" h="9525">
                <a:moveTo>
                  <a:pt x="0" y="0"/>
                </a:moveTo>
                <a:lnTo>
                  <a:pt x="9525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1" name="Freeform 41">
            <a:extLst xmlns:a="http://schemas.openxmlformats.org/drawingml/2006/main">
              <a:ext uri="{FF2B5EF4-FFF2-40B4-BE49-F238E27FC236}">
                <a16:creationId xmlns:a16="http://schemas.microsoft.com/office/drawing/2014/main" id="{3C62AC78-CA59-48A2-8174-865D51FF7E41}"/>
              </a:ext>
            </a:extLst>
          </p:cNvPr>
          <p:cNvSpPr>
            <a:spLocks xmlns:a="http://schemas.openxmlformats.org/drawingml/2006/main" noGrp="1"/>
          </p:cNvSpPr>
          <p:nvPr/>
        </p:nvSpPr>
        <p:spPr>
          <a:xfrm xmlns:a="http://schemas.openxmlformats.org/drawingml/2006/main" rot="0" flipH="0" flipV="0">
            <a:off x="781050" y="5915025"/>
            <a:ext cx="114300" cy="9525"/>
          </a:xfrm>
          <a:custGeom xmlns:a="http://schemas.openxmlformats.org/drawingml/2006/main">
            <a:rect l="l" t="t" r="r" b="b"/>
            <a:pathLst>
              <a:path w="114300" h="9525">
                <a:moveTo>
                  <a:pt x="0" y="9525"/>
                </a:moveTo>
                <a:lnTo>
                  <a:pt x="57150" y="0"/>
                </a:lnTo>
                <a:lnTo>
                  <a:pt x="114300" y="9525"/>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2" name="Freeform 42">
            <a:extLst xmlns:a="http://schemas.openxmlformats.org/drawingml/2006/main">
              <a:ext uri="{FF2B5EF4-FFF2-40B4-BE49-F238E27FC236}">
                <a16:creationId xmlns:a16="http://schemas.microsoft.com/office/drawing/2014/main" id="{00BD0B9A-43E1-4256-B3D6-BA72A8942DB6}"/>
              </a:ext>
            </a:extLst>
          </p:cNvPr>
          <p:cNvSpPr>
            <a:spLocks xmlns:a="http://schemas.openxmlformats.org/drawingml/2006/main" noGrp="1"/>
          </p:cNvSpPr>
          <p:nvPr/>
        </p:nvSpPr>
        <p:spPr>
          <a:xfrm xmlns:a="http://schemas.openxmlformats.org/drawingml/2006/main" rot="0" flipH="0" flipV="0">
            <a:off x="838200" y="5895975"/>
            <a:ext cx="9525" cy="161925"/>
          </a:xfrm>
          <a:custGeom xmlns:a="http://schemas.openxmlformats.org/drawingml/2006/main">
            <a:rect l="l" t="t" r="r" b="b"/>
            <a:pathLst>
              <a:path w="9525" h="161925">
                <a:moveTo>
                  <a:pt x="0" y="0"/>
                </a:moveTo>
                <a:lnTo>
                  <a:pt x="0" y="161925"/>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3" name="Freeform 43">
            <a:extLst xmlns:a="http://schemas.openxmlformats.org/drawingml/2006/main">
              <a:ext uri="{FF2B5EF4-FFF2-40B4-BE49-F238E27FC236}">
                <a16:creationId xmlns:a16="http://schemas.microsoft.com/office/drawing/2014/main" id="{BB1FD030-4F63-434C-ADAA-FD5E5D58AE39}"/>
              </a:ext>
            </a:extLst>
          </p:cNvPr>
          <p:cNvSpPr>
            <a:spLocks xmlns:a="http://schemas.openxmlformats.org/drawingml/2006/main" noGrp="1"/>
          </p:cNvSpPr>
          <p:nvPr/>
        </p:nvSpPr>
        <p:spPr>
          <a:xfrm xmlns:a="http://schemas.openxmlformats.org/drawingml/2006/main" rot="0" flipH="0" flipV="0">
            <a:off x="752475" y="5924550"/>
            <a:ext cx="57150" cy="85725"/>
          </a:xfrm>
          <a:custGeom xmlns:a="http://schemas.openxmlformats.org/drawingml/2006/main">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4" name="Freeform 44">
            <a:extLst xmlns:a="http://schemas.openxmlformats.org/drawingml/2006/main">
              <a:ext uri="{FF2B5EF4-FFF2-40B4-BE49-F238E27FC236}">
                <a16:creationId xmlns:a16="http://schemas.microsoft.com/office/drawing/2014/main" id="{FCF2DBA9-1B07-4B3F-9F99-C70067D8D502}"/>
              </a:ext>
            </a:extLst>
          </p:cNvPr>
          <p:cNvSpPr>
            <a:spLocks xmlns:a="http://schemas.openxmlformats.org/drawingml/2006/main" noGrp="1"/>
          </p:cNvSpPr>
          <p:nvPr/>
        </p:nvSpPr>
        <p:spPr>
          <a:xfrm xmlns:a="http://schemas.openxmlformats.org/drawingml/2006/main" rot="0" flipH="0" flipV="0">
            <a:off x="866775" y="5924550"/>
            <a:ext cx="57150" cy="85725"/>
          </a:xfrm>
          <a:custGeom xmlns:a="http://schemas.openxmlformats.org/drawingml/2006/main">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6" name="TextBox 46">
            <a:extLst xmlns:a="http://schemas.openxmlformats.org/drawingml/2006/main">
              <a:ext uri="{FF2B5EF4-FFF2-40B4-BE49-F238E27FC236}">
                <a16:creationId xmlns:a16="http://schemas.microsoft.com/office/drawing/2014/main" id="{CBBF2F38-6094-442D-A06B-4A6D562021B1}"/>
              </a:ext>
            </a:extLst>
          </p:cNvPr>
          <p:cNvSpPr>
            <a:spLocks xmlns:a="http://schemas.openxmlformats.org/drawingml/2006/main" noGrp="1"/>
          </p:cNvSpPr>
          <p:nvPr/>
        </p:nvSpPr>
        <p:spPr>
          <a:xfrm xmlns:a="http://schemas.openxmlformats.org/drawingml/2006/main" rot="0" flipH="0" flipV="0">
            <a:off x="1059180" y="5876925"/>
            <a:ext cx="882763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mn-lt"/>
                <a:ea typeface="+mn-lt"/>
                <a:cs typeface="+mn-lt"/>
              </a:rPr>
              <a:t>Optimization type: a MILP; CBC returned Optimal under configured tolerances.</a:t>
            </a:r>
          </a:p>
        </p:txBody>
      </p:sp>
      <p:sp>
        <p:nvSpPr>
          <p:cNvPr id="48" name="Line 48">
            <a:extLst xmlns:a="http://schemas.openxmlformats.org/drawingml/2006/main">
              <a:ext uri="{FF2B5EF4-FFF2-40B4-BE49-F238E27FC236}">
                <a16:creationId xmlns:a16="http://schemas.microsoft.com/office/drawing/2014/main" id="{378B15B3-FDC2-42ED-BA8C-25E91E8D9750}"/>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9" name="TextBox 49">
            <a:extLst xmlns:a="http://schemas.openxmlformats.org/drawingml/2006/main">
              <a:ext uri="{FF2B5EF4-FFF2-40B4-BE49-F238E27FC236}">
                <a16:creationId xmlns:a16="http://schemas.microsoft.com/office/drawing/2014/main" id="{70B9FEA1-8CBA-4F96-905F-711325AE58E5}"/>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50" name="TextBox 50">
            <a:extLst xmlns:a="http://schemas.openxmlformats.org/drawingml/2006/main">
              <a:ext uri="{FF2B5EF4-FFF2-40B4-BE49-F238E27FC236}">
                <a16:creationId xmlns:a16="http://schemas.microsoft.com/office/drawing/2014/main" id="{4883F152-E66B-45F3-99C3-1D2D4C396FB8}"/>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02 / 14</a:t>
            </a:r>
          </a:p>
        </p:txBody>
      </p:sp>
    </p:spTree>
    <p:extLst>
      <p:ext uri="{BB962C8B-B14F-4D97-AF65-F5344CB8AC3E}">
        <p14:creationId xmlns:p14="http://schemas.microsoft.com/office/powerpoint/2010/main" val="1128593987"/>
      </p:ext>
    </p:extLst>
  </p:cSld>
</p:sld>
</file>

<file path=ppt/slides/slide3.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F32AB6B8-D234-4B0C-BAD2-F8ED0FDECD13}"/>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B3F4D507-EE40-4053-A3BD-AD0EA076D521}"/>
              </a:ext>
            </a:extLst>
          </p:cNvPr>
          <p:cNvSpPr>
            <a:spLocks xmlns:a="http://schemas.openxmlformats.org/drawingml/2006/main" noGrp="1"/>
          </p:cNvSpPr>
          <p:nvPr/>
        </p:nvSpPr>
        <p:spPr>
          <a:xfrm xmlns:a="http://schemas.openxmlformats.org/drawingml/2006/main" rot="0" flipH="0" flipV="0">
            <a:off x="451104" y="708660"/>
            <a:ext cx="286865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03 · PROBLEM FORMULATION</a:t>
            </a:r>
          </a:p>
        </p:txBody>
      </p:sp>
      <p:sp>
        <p:nvSpPr>
          <p:cNvPr id="4" name="TextBox 4">
            <a:extLst xmlns:a="http://schemas.openxmlformats.org/drawingml/2006/main">
              <a:ext uri="{FF2B5EF4-FFF2-40B4-BE49-F238E27FC236}">
                <a16:creationId xmlns:a16="http://schemas.microsoft.com/office/drawing/2014/main" id="{BDED14B0-F184-42E0-8A57-F3A68E6262B1}"/>
              </a:ext>
            </a:extLst>
          </p:cNvPr>
          <p:cNvSpPr>
            <a:spLocks xmlns:a="http://schemas.openxmlformats.org/drawingml/2006/main" noGrp="1"/>
          </p:cNvSpPr>
          <p:nvPr/>
        </p:nvSpPr>
        <p:spPr>
          <a:xfrm xmlns:a="http://schemas.openxmlformats.org/drawingml/2006/main" rot="0" flipH="0" flipV="0">
            <a:off x="441960" y="895350"/>
            <a:ext cx="9852708"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The model: a capacitated facility-location MILP</a:t>
            </a:r>
          </a:p>
        </p:txBody>
      </p:sp>
      <p:sp>
        <p:nvSpPr>
          <p:cNvPr id="6" name="Line 6">
            <a:extLst xmlns:a="http://schemas.openxmlformats.org/drawingml/2006/main">
              <a:ext uri="{FF2B5EF4-FFF2-40B4-BE49-F238E27FC236}">
                <a16:creationId xmlns:a16="http://schemas.microsoft.com/office/drawing/2014/main" id="{3D87CE68-F326-410A-AA14-23CA47BF1806}"/>
              </a:ext>
            </a:extLst>
          </p:cNvPr>
          <p:cNvSpPr>
            <a:spLocks xmlns:a="http://schemas.openxmlformats.org/drawingml/2006/main" noGrp="1"/>
          </p:cNvSpPr>
          <p:nvPr/>
        </p:nvSpPr>
        <p:spPr>
          <a:xfrm xmlns:a="http://schemas.openxmlformats.org/drawingml/2006/main">
            <a:off x="6057900" y="1752600"/>
            <a:ext cx="9525" cy="3981450"/>
          </a:xfrm>
          <a:custGeom xmlns:a="http://schemas.openxmlformats.org/drawingml/2006/main">
            <a:rect l="l" t="t" r="r" b="b"/>
            <a:pathLst>
              <a:path w="9525" h="3981450">
                <a:moveTo>
                  <a:pt x="0" y="0"/>
                </a:moveTo>
                <a:lnTo>
                  <a:pt x="0" y="398145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09DC9588-958C-49C4-9903-C90385FC5279}"/>
              </a:ext>
            </a:extLst>
          </p:cNvPr>
          <p:cNvSpPr>
            <a:spLocks xmlns:a="http://schemas.openxmlformats.org/drawingml/2006/main" noGrp="1"/>
          </p:cNvSpPr>
          <p:nvPr/>
        </p:nvSpPr>
        <p:spPr>
          <a:xfrm xmlns:a="http://schemas.openxmlformats.org/drawingml/2006/main" rot="0" flipH="0" flipV="0">
            <a:off x="451104" y="1851660"/>
            <a:ext cx="200582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DECISION VARIABLES</a:t>
            </a:r>
          </a:p>
        </p:txBody>
      </p:sp>
      <p:sp>
        <p:nvSpPr>
          <p:cNvPr id="8" name="TextBox 8">
            <a:extLst xmlns:a="http://schemas.openxmlformats.org/drawingml/2006/main">
              <a:ext uri="{FF2B5EF4-FFF2-40B4-BE49-F238E27FC236}">
                <a16:creationId xmlns:a16="http://schemas.microsoft.com/office/drawing/2014/main" id="{1A949E07-3A78-4620-BE0C-6CEFB63863DA}"/>
              </a:ext>
            </a:extLst>
          </p:cNvPr>
          <p:cNvSpPr>
            <a:spLocks xmlns:a="http://schemas.openxmlformats.org/drawingml/2006/main" noGrp="1"/>
          </p:cNvSpPr>
          <p:nvPr/>
        </p:nvSpPr>
        <p:spPr>
          <a:xfrm xmlns:a="http://schemas.openxmlformats.org/drawingml/2006/main" rot="0" flipH="0" flipV="0">
            <a:off x="448056" y="2205990"/>
            <a:ext cx="1366777"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dk1"/>
                </a:solidFill>
                <a:latin typeface="Consolas"/>
                <a:ea typeface="Consolas"/>
                <a:cs typeface="Consolas"/>
              </a:rPr>
              <a:t>yⱼ ∈ {0, 1}</a:t>
            </a:r>
          </a:p>
        </p:txBody>
      </p:sp>
      <p:sp>
        <p:nvSpPr>
          <p:cNvPr id="9" name="TextBox 9">
            <a:extLst xmlns:a="http://schemas.openxmlformats.org/drawingml/2006/main">
              <a:ext uri="{FF2B5EF4-FFF2-40B4-BE49-F238E27FC236}">
                <a16:creationId xmlns:a16="http://schemas.microsoft.com/office/drawing/2014/main" id="{799779AB-5EFA-4FAB-9FCE-E8B84CD72BDF}"/>
              </a:ext>
            </a:extLst>
          </p:cNvPr>
          <p:cNvSpPr>
            <a:spLocks xmlns:a="http://schemas.openxmlformats.org/drawingml/2006/main" noGrp="1"/>
          </p:cNvSpPr>
          <p:nvPr/>
        </p:nvSpPr>
        <p:spPr>
          <a:xfrm xmlns:a="http://schemas.openxmlformats.org/drawingml/2006/main" rot="0" flipH="0" flipV="0">
            <a:off x="2183130" y="2238375"/>
            <a:ext cx="228695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build a station at site j</a:t>
            </a:r>
          </a:p>
        </p:txBody>
      </p:sp>
      <p:sp>
        <p:nvSpPr>
          <p:cNvPr id="11" name="TextBox 11">
            <a:extLst xmlns:a="http://schemas.openxmlformats.org/drawingml/2006/main">
              <a:ext uri="{FF2B5EF4-FFF2-40B4-BE49-F238E27FC236}">
                <a16:creationId xmlns:a16="http://schemas.microsoft.com/office/drawing/2014/main" id="{D5ECDED3-6C81-4ABC-B0A8-80E13953FCFB}"/>
              </a:ext>
            </a:extLst>
          </p:cNvPr>
          <p:cNvSpPr>
            <a:spLocks xmlns:a="http://schemas.openxmlformats.org/drawingml/2006/main" noGrp="1"/>
          </p:cNvSpPr>
          <p:nvPr/>
        </p:nvSpPr>
        <p:spPr>
          <a:xfrm xmlns:a="http://schemas.openxmlformats.org/drawingml/2006/main" rot="0" flipH="0" flipV="0">
            <a:off x="448056" y="2625090"/>
            <a:ext cx="1506714" cy="3520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800" b="1">
                <a:solidFill>
                  <a:schemeClr val="dk1"/>
                </a:solidFill>
                <a:latin typeface="Consolas"/>
                <a:ea typeface="Consolas"/>
                <a:cs typeface="Consolas"/>
              </a:rPr>
              <a:t>xᵢⱼ ∈ [0, 1]</a:t>
            </a:r>
          </a:p>
        </p:txBody>
      </p:sp>
      <p:sp>
        <p:nvSpPr>
          <p:cNvPr id="12" name="TextBox 12">
            <a:extLst xmlns:a="http://schemas.openxmlformats.org/drawingml/2006/main">
              <a:ext uri="{FF2B5EF4-FFF2-40B4-BE49-F238E27FC236}">
                <a16:creationId xmlns:a16="http://schemas.microsoft.com/office/drawing/2014/main" id="{1CBD76C9-8873-4912-831A-E2DA1702FD67}"/>
              </a:ext>
            </a:extLst>
          </p:cNvPr>
          <p:cNvSpPr>
            <a:spLocks xmlns:a="http://schemas.openxmlformats.org/drawingml/2006/main" noGrp="1"/>
          </p:cNvSpPr>
          <p:nvPr/>
        </p:nvSpPr>
        <p:spPr>
          <a:xfrm xmlns:a="http://schemas.openxmlformats.org/drawingml/2006/main" rot="0" flipH="0" flipV="0">
            <a:off x="2183130" y="2657475"/>
            <a:ext cx="315525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fraction of demand i served by j</a:t>
            </a:r>
          </a:p>
        </p:txBody>
      </p:sp>
      <p:sp>
        <p:nvSpPr>
          <p:cNvPr id="15" name="TextBox 15">
            <a:extLst xmlns:a="http://schemas.openxmlformats.org/drawingml/2006/main">
              <a:ext uri="{FF2B5EF4-FFF2-40B4-BE49-F238E27FC236}">
                <a16:creationId xmlns:a16="http://schemas.microsoft.com/office/drawing/2014/main" id="{E063D248-BDAA-41DE-99E4-A44206298E91}"/>
              </a:ext>
            </a:extLst>
          </p:cNvPr>
          <p:cNvSpPr>
            <a:spLocks xmlns:a="http://schemas.openxmlformats.org/drawingml/2006/main" noGrp="1"/>
          </p:cNvSpPr>
          <p:nvPr/>
        </p:nvSpPr>
        <p:spPr>
          <a:xfrm xmlns:a="http://schemas.openxmlformats.org/drawingml/2006/main" rot="0" flipH="0" flipV="0">
            <a:off x="451104" y="3718560"/>
            <a:ext cx="294375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LEXICOGRAPHIC · MIN_COST MODE</a:t>
            </a:r>
          </a:p>
        </p:txBody>
      </p:sp>
      <p:sp>
        <p:nvSpPr>
          <p:cNvPr id="16" name="objective-formula">
            <a:extLst xmlns:a="http://schemas.openxmlformats.org/drawingml/2006/main">
              <a:ext uri="{FF2B5EF4-FFF2-40B4-BE49-F238E27FC236}">
                <a16:creationId xmlns:a16="http://schemas.microsoft.com/office/drawing/2014/main" id="{96B97AA0-DBC6-4CC6-8F0A-F8C66F977226}"/>
              </a:ext>
            </a:extLst>
          </p:cNvPr>
          <p:cNvSpPr>
            <a:spLocks xmlns:a="http://schemas.openxmlformats.org/drawingml/2006/main" noGrp="1"/>
          </p:cNvSpPr>
          <p:nvPr/>
        </p:nvSpPr>
        <p:spPr>
          <a:xfrm xmlns:a="http://schemas.openxmlformats.org/drawingml/2006/main" rot="0" flipH="0" flipV="0">
            <a:off x="457200" y="4076700"/>
            <a:ext cx="53340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algn="l">
              <a:buNone/>
            </a:pPr>
            <a:r>
              <a:t>1) min Σⱼ cⱼyⱼ   2) min Σᵢⱼ wᵢdᵢⱼxᵢⱼ at minimum cost</a:t>
            </a:r>
            <a:endParaRPr/>
          </a:p>
        </p:txBody>
      </p:sp>
      <p:sp>
        <p:nvSpPr>
          <p:cNvPr id="17" name="TextBox 17">
            <a:extLst xmlns:a="http://schemas.openxmlformats.org/drawingml/2006/main">
              <a:ext uri="{FF2B5EF4-FFF2-40B4-BE49-F238E27FC236}">
                <a16:creationId xmlns:a16="http://schemas.microsoft.com/office/drawing/2014/main" id="{81897096-559D-40E2-B47B-92454ECB2675}"/>
              </a:ext>
            </a:extLst>
          </p:cNvPr>
          <p:cNvSpPr>
            <a:spLocks xmlns:a="http://schemas.openxmlformats.org/drawingml/2006/main" noGrp="1"/>
          </p:cNvSpPr>
          <p:nvPr/>
        </p:nvSpPr>
        <p:spPr>
          <a:xfrm xmlns:a="http://schemas.openxmlformats.org/drawingml/2006/main" rot="0" flipH="0" flipV="0">
            <a:off x="449580" y="5057775"/>
            <a:ext cx="3842318"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mn-lt"/>
                <a:ea typeface="+mn-lt"/>
                <a:cs typeface="+mn-lt"/>
              </a:rPr>
              <a:t>max_coverage: max demand → min cost</a:t>
            </a:r>
          </a:p>
        </p:txBody>
      </p:sp>
      <p:sp>
        <p:nvSpPr>
          <p:cNvPr id="18" name="TextBox 18">
            <a:extLst xmlns:a="http://schemas.openxmlformats.org/drawingml/2006/main">
              <a:ext uri="{FF2B5EF4-FFF2-40B4-BE49-F238E27FC236}">
                <a16:creationId xmlns:a16="http://schemas.microsoft.com/office/drawing/2014/main" id="{7BA9523F-22AC-4B07-8D08-C442160EBE4B}"/>
              </a:ext>
            </a:extLst>
          </p:cNvPr>
          <p:cNvSpPr>
            <a:spLocks xmlns:a="http://schemas.openxmlformats.org/drawingml/2006/main" noGrp="1"/>
          </p:cNvSpPr>
          <p:nvPr/>
        </p:nvSpPr>
        <p:spPr>
          <a:xfrm xmlns:a="http://schemas.openxmlformats.org/drawingml/2006/main" rot="0" flipH="0" flipV="0">
            <a:off x="449580" y="5324475"/>
            <a:ext cx="287255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 min distance, under a fixed budget.</a:t>
            </a:r>
          </a:p>
        </p:txBody>
      </p:sp>
      <p:sp>
        <p:nvSpPr>
          <p:cNvPr id="20" name="TextBox 20">
            <a:extLst xmlns:a="http://schemas.openxmlformats.org/drawingml/2006/main">
              <a:ext uri="{FF2B5EF4-FFF2-40B4-BE49-F238E27FC236}">
                <a16:creationId xmlns:a16="http://schemas.microsoft.com/office/drawing/2014/main" id="{A5671039-8103-4AAA-A496-A570C76248C4}"/>
              </a:ext>
            </a:extLst>
          </p:cNvPr>
          <p:cNvSpPr>
            <a:spLocks xmlns:a="http://schemas.openxmlformats.org/drawingml/2006/main" noGrp="1"/>
          </p:cNvSpPr>
          <p:nvPr/>
        </p:nvSpPr>
        <p:spPr>
          <a:xfrm xmlns:a="http://schemas.openxmlformats.org/drawingml/2006/main" rot="0" flipH="0" flipV="0">
            <a:off x="6394704" y="1851660"/>
            <a:ext cx="130088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CONSTRAINTS</a:t>
            </a:r>
          </a:p>
        </p:txBody>
      </p:sp>
      <p:sp>
        <p:nvSpPr>
          <p:cNvPr id="21" name="TextBox 21">
            <a:extLst xmlns:a="http://schemas.openxmlformats.org/drawingml/2006/main">
              <a:ext uri="{FF2B5EF4-FFF2-40B4-BE49-F238E27FC236}">
                <a16:creationId xmlns:a16="http://schemas.microsoft.com/office/drawing/2014/main" id="{AFA974AC-8131-40D4-B7F3-5583EAC7858A}"/>
              </a:ext>
            </a:extLst>
          </p:cNvPr>
          <p:cNvSpPr>
            <a:spLocks xmlns:a="http://schemas.openxmlformats.org/drawingml/2006/main" noGrp="1"/>
          </p:cNvSpPr>
          <p:nvPr/>
        </p:nvSpPr>
        <p:spPr>
          <a:xfrm xmlns:a="http://schemas.openxmlformats.org/drawingml/2006/main" rot="0" flipH="0" flipV="0">
            <a:off x="6392799" y="2211229"/>
            <a:ext cx="1911597"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b="1">
                <a:solidFill>
                  <a:schemeClr val="accent1"/>
                </a:solidFill>
                <a:latin typeface="+mn-lt"/>
                <a:ea typeface="+mn-lt"/>
                <a:cs typeface="+mn-lt"/>
              </a:rPr>
              <a:t>Demand </a:t>
            </a:r>
            <a:r>
              <a:rPr sz="1580">
                <a:solidFill>
                  <a:schemeClr val="dk1"/>
                </a:solidFill>
                <a:latin typeface="Consolas"/>
                <a:ea typeface="Consolas"/>
                <a:cs typeface="Consolas"/>
              </a:rPr>
              <a:t>Σⱼ xᵢⱼ = 1</a:t>
            </a:r>
          </a:p>
        </p:txBody>
      </p:sp>
      <p:sp>
        <p:nvSpPr>
          <p:cNvPr id="22" name="TextBox 22">
            <a:extLst xmlns:a="http://schemas.openxmlformats.org/drawingml/2006/main">
              <a:ext uri="{FF2B5EF4-FFF2-40B4-BE49-F238E27FC236}">
                <a16:creationId xmlns:a16="http://schemas.microsoft.com/office/drawing/2014/main" id="{28F55CD3-A837-4F9B-940A-6AC0512E6892}"/>
              </a:ext>
            </a:extLst>
          </p:cNvPr>
          <p:cNvSpPr>
            <a:spLocks xmlns:a="http://schemas.openxmlformats.org/drawingml/2006/main" noGrp="1"/>
          </p:cNvSpPr>
          <p:nvPr/>
        </p:nvSpPr>
        <p:spPr>
          <a:xfrm xmlns:a="http://schemas.openxmlformats.org/drawingml/2006/main" rot="0" flipH="0" flipV="0">
            <a:off x="6394323" y="2491264"/>
            <a:ext cx="3984782"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6B7280"/>
                </a:solidFill>
                <a:latin typeface="+mn-lt"/>
                <a:ea typeface="+mn-lt"/>
                <a:cs typeface="+mn-lt"/>
              </a:rPr>
              <a:t>every point fully served (≤ 1 in coverage mode)</a:t>
            </a:r>
          </a:p>
        </p:txBody>
      </p:sp>
      <p:sp>
        <p:nvSpPr>
          <p:cNvPr id="24" name="TextBox 24">
            <a:extLst xmlns:a="http://schemas.openxmlformats.org/drawingml/2006/main">
              <a:ext uri="{FF2B5EF4-FFF2-40B4-BE49-F238E27FC236}">
                <a16:creationId xmlns:a16="http://schemas.microsoft.com/office/drawing/2014/main" id="{6AB4B46B-5C7F-4C85-96E2-AD89EE9EDC5D}"/>
              </a:ext>
            </a:extLst>
          </p:cNvPr>
          <p:cNvSpPr>
            <a:spLocks xmlns:a="http://schemas.openxmlformats.org/drawingml/2006/main" noGrp="1"/>
          </p:cNvSpPr>
          <p:nvPr/>
        </p:nvSpPr>
        <p:spPr>
          <a:xfrm xmlns:a="http://schemas.openxmlformats.org/drawingml/2006/main" rot="0" flipH="0" flipV="0">
            <a:off x="6392799" y="2897029"/>
            <a:ext cx="1667293"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b="1">
                <a:solidFill>
                  <a:schemeClr val="accent1"/>
                </a:solidFill>
                <a:latin typeface="+mn-lt"/>
                <a:ea typeface="+mn-lt"/>
                <a:cs typeface="+mn-lt"/>
              </a:rPr>
              <a:t>Linking </a:t>
            </a:r>
            <a:r>
              <a:rPr sz="1580">
                <a:solidFill>
                  <a:schemeClr val="dk1"/>
                </a:solidFill>
                <a:latin typeface="Consolas"/>
                <a:ea typeface="Consolas"/>
                <a:cs typeface="Consolas"/>
              </a:rPr>
              <a:t>xᵢⱼ ≤ yⱼ</a:t>
            </a:r>
          </a:p>
        </p:txBody>
      </p:sp>
      <p:sp>
        <p:nvSpPr>
          <p:cNvPr id="25" name="TextBox 25">
            <a:extLst xmlns:a="http://schemas.openxmlformats.org/drawingml/2006/main">
              <a:ext uri="{FF2B5EF4-FFF2-40B4-BE49-F238E27FC236}">
                <a16:creationId xmlns:a16="http://schemas.microsoft.com/office/drawing/2014/main" id="{E25BBBB0-BC2F-4EA7-B672-544B01DAE2BF}"/>
              </a:ext>
            </a:extLst>
          </p:cNvPr>
          <p:cNvSpPr>
            <a:spLocks xmlns:a="http://schemas.openxmlformats.org/drawingml/2006/main" noGrp="1"/>
          </p:cNvSpPr>
          <p:nvPr/>
        </p:nvSpPr>
        <p:spPr>
          <a:xfrm xmlns:a="http://schemas.openxmlformats.org/drawingml/2006/main" rot="0" flipH="0" flipV="0">
            <a:off x="6394323" y="3177064"/>
            <a:ext cx="3597077"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6B7280"/>
                </a:solidFill>
                <a:latin typeface="+mn-lt"/>
                <a:ea typeface="+mn-lt"/>
                <a:cs typeface="+mn-lt"/>
              </a:rPr>
              <a:t>demand can go only to a site that was built</a:t>
            </a:r>
          </a:p>
        </p:txBody>
      </p:sp>
      <p:sp>
        <p:nvSpPr>
          <p:cNvPr id="27" name="TextBox 27">
            <a:extLst xmlns:a="http://schemas.openxmlformats.org/drawingml/2006/main">
              <a:ext uri="{FF2B5EF4-FFF2-40B4-BE49-F238E27FC236}">
                <a16:creationId xmlns:a16="http://schemas.microsoft.com/office/drawing/2014/main" id="{3F3BFB0C-9767-4AA0-9FF1-9EAF7CF2D146}"/>
              </a:ext>
            </a:extLst>
          </p:cNvPr>
          <p:cNvSpPr>
            <a:spLocks xmlns:a="http://schemas.openxmlformats.org/drawingml/2006/main" noGrp="1"/>
          </p:cNvSpPr>
          <p:nvPr/>
        </p:nvSpPr>
        <p:spPr>
          <a:xfrm xmlns:a="http://schemas.openxmlformats.org/drawingml/2006/main" rot="0" flipH="0" flipV="0">
            <a:off x="6392799" y="3582829"/>
            <a:ext cx="2524357"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b="1">
                <a:solidFill>
                  <a:schemeClr val="accent1"/>
                </a:solidFill>
                <a:latin typeface="+mn-lt"/>
                <a:ea typeface="+mn-lt"/>
                <a:cs typeface="+mn-lt"/>
              </a:rPr>
              <a:t>Radius </a:t>
            </a:r>
            <a:r>
              <a:rPr sz="1580">
                <a:solidFill>
                  <a:schemeClr val="dk1"/>
                </a:solidFill>
                <a:latin typeface="Consolas"/>
                <a:ea typeface="Consolas"/>
                <a:cs typeface="Consolas"/>
              </a:rPr>
              <a:t>xᵢⱼ = 0 if dᵢⱼ &gt; R</a:t>
            </a:r>
          </a:p>
        </p:txBody>
      </p:sp>
      <p:sp>
        <p:nvSpPr>
          <p:cNvPr id="28" name="TextBox 28">
            <a:extLst xmlns:a="http://schemas.openxmlformats.org/drawingml/2006/main">
              <a:ext uri="{FF2B5EF4-FFF2-40B4-BE49-F238E27FC236}">
                <a16:creationId xmlns:a16="http://schemas.microsoft.com/office/drawing/2014/main" id="{7886B2EE-91FB-499E-8820-2ED612338BE9}"/>
              </a:ext>
            </a:extLst>
          </p:cNvPr>
          <p:cNvSpPr>
            <a:spLocks xmlns:a="http://schemas.openxmlformats.org/drawingml/2006/main" noGrp="1"/>
          </p:cNvSpPr>
          <p:nvPr/>
        </p:nvSpPr>
        <p:spPr>
          <a:xfrm xmlns:a="http://schemas.openxmlformats.org/drawingml/2006/main" rot="0" flipH="0" flipV="0">
            <a:off x="6394323" y="3862864"/>
            <a:ext cx="3364454"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6B7280"/>
                </a:solidFill>
                <a:latin typeface="+mn-lt"/>
                <a:ea typeface="+mn-lt"/>
                <a:cs typeface="+mn-lt"/>
              </a:rPr>
              <a:t>no assignment exceeds the radius</a:t>
            </a:r>
          </a:p>
        </p:txBody>
      </p:sp>
      <p:sp>
        <p:nvSpPr>
          <p:cNvPr id="30" name="TextBox 30">
            <a:extLst xmlns:a="http://schemas.openxmlformats.org/drawingml/2006/main">
              <a:ext uri="{FF2B5EF4-FFF2-40B4-BE49-F238E27FC236}">
                <a16:creationId xmlns:a16="http://schemas.microsoft.com/office/drawing/2014/main" id="{18B8EB96-E448-492E-920C-E92B22C24255}"/>
              </a:ext>
            </a:extLst>
          </p:cNvPr>
          <p:cNvSpPr>
            <a:spLocks xmlns:a="http://schemas.openxmlformats.org/drawingml/2006/main" noGrp="1"/>
          </p:cNvSpPr>
          <p:nvPr/>
        </p:nvSpPr>
        <p:spPr>
          <a:xfrm xmlns:a="http://schemas.openxmlformats.org/drawingml/2006/main" rot="0" flipH="0" flipV="0">
            <a:off x="6392799" y="4268629"/>
            <a:ext cx="3032416"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b="1">
                <a:solidFill>
                  <a:schemeClr val="accent1"/>
                </a:solidFill>
                <a:latin typeface="+mn-lt"/>
                <a:ea typeface="+mn-lt"/>
                <a:cs typeface="+mn-lt"/>
              </a:rPr>
              <a:t>Capacity </a:t>
            </a:r>
            <a:r>
              <a:rPr sz="1580">
                <a:solidFill>
                  <a:schemeClr val="dk1"/>
                </a:solidFill>
                <a:latin typeface="Consolas"/>
                <a:ea typeface="Consolas"/>
                <a:cs typeface="Consolas"/>
              </a:rPr>
              <a:t>Σᵢ wᵢ xᵢⱼ ≤ capⱼ yⱼ</a:t>
            </a:r>
          </a:p>
        </p:txBody>
      </p:sp>
      <p:sp>
        <p:nvSpPr>
          <p:cNvPr id="31" name="TextBox 31">
            <a:extLst xmlns:a="http://schemas.openxmlformats.org/drawingml/2006/main">
              <a:ext uri="{FF2B5EF4-FFF2-40B4-BE49-F238E27FC236}">
                <a16:creationId xmlns:a16="http://schemas.microsoft.com/office/drawing/2014/main" id="{7383DA0E-A5E9-46AB-9627-39F03877CC9B}"/>
              </a:ext>
            </a:extLst>
          </p:cNvPr>
          <p:cNvSpPr>
            <a:spLocks xmlns:a="http://schemas.openxmlformats.org/drawingml/2006/main" noGrp="1"/>
          </p:cNvSpPr>
          <p:nvPr/>
        </p:nvSpPr>
        <p:spPr>
          <a:xfrm xmlns:a="http://schemas.openxmlformats.org/drawingml/2006/main" rot="0" flipH="0" flipV="0">
            <a:off x="6394323" y="4548664"/>
            <a:ext cx="3881394"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6B7280"/>
                </a:solidFill>
                <a:latin typeface="+mn-lt"/>
                <a:ea typeface="+mn-lt"/>
                <a:cs typeface="+mn-lt"/>
              </a:rPr>
              <a:t>a station cannot serve more than its capacity</a:t>
            </a:r>
          </a:p>
        </p:txBody>
      </p:sp>
      <p:sp>
        <p:nvSpPr>
          <p:cNvPr id="33" name="TextBox 33">
            <a:extLst xmlns:a="http://schemas.openxmlformats.org/drawingml/2006/main">
              <a:ext uri="{FF2B5EF4-FFF2-40B4-BE49-F238E27FC236}">
                <a16:creationId xmlns:a16="http://schemas.microsoft.com/office/drawing/2014/main" id="{79B77038-A986-4F32-96C2-786410A0022D}"/>
              </a:ext>
            </a:extLst>
          </p:cNvPr>
          <p:cNvSpPr>
            <a:spLocks xmlns:a="http://schemas.openxmlformats.org/drawingml/2006/main" noGrp="1"/>
          </p:cNvSpPr>
          <p:nvPr/>
        </p:nvSpPr>
        <p:spPr>
          <a:xfrm xmlns:a="http://schemas.openxmlformats.org/drawingml/2006/main" rot="0" flipH="0" flipV="0">
            <a:off x="6392799" y="4954429"/>
            <a:ext cx="2052420"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b="1">
                <a:solidFill>
                  <a:schemeClr val="accent1"/>
                </a:solidFill>
                <a:latin typeface="+mn-lt"/>
                <a:ea typeface="+mn-lt"/>
                <a:cs typeface="+mn-lt"/>
              </a:rPr>
              <a:t>Budget </a:t>
            </a:r>
            <a:r>
              <a:rPr sz="1580">
                <a:solidFill>
                  <a:schemeClr val="dk1"/>
                </a:solidFill>
                <a:latin typeface="Consolas"/>
                <a:ea typeface="Consolas"/>
                <a:cs typeface="Consolas"/>
              </a:rPr>
              <a:t>Σⱼ cⱼ yⱼ ≤ B</a:t>
            </a:r>
          </a:p>
        </p:txBody>
      </p:sp>
      <p:sp>
        <p:nvSpPr>
          <p:cNvPr id="34" name="TextBox 34">
            <a:extLst xmlns:a="http://schemas.openxmlformats.org/drawingml/2006/main">
              <a:ext uri="{FF2B5EF4-FFF2-40B4-BE49-F238E27FC236}">
                <a16:creationId xmlns:a16="http://schemas.microsoft.com/office/drawing/2014/main" id="{A05ECF11-2FC4-47F9-9ED5-233EE8425F96}"/>
              </a:ext>
            </a:extLst>
          </p:cNvPr>
          <p:cNvSpPr>
            <a:spLocks xmlns:a="http://schemas.openxmlformats.org/drawingml/2006/main" noGrp="1"/>
          </p:cNvSpPr>
          <p:nvPr/>
        </p:nvSpPr>
        <p:spPr>
          <a:xfrm xmlns:a="http://schemas.openxmlformats.org/drawingml/2006/main" rot="0" flipH="0" flipV="0">
            <a:off x="6394323" y="5234464"/>
            <a:ext cx="3157677"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6B7280"/>
                </a:solidFill>
                <a:latin typeface="+mn-lt"/>
                <a:ea typeface="+mn-lt"/>
                <a:cs typeface="+mn-lt"/>
              </a:rPr>
              <a:t>construction stays within the budget</a:t>
            </a:r>
          </a:p>
        </p:txBody>
      </p:sp>
      <p:sp>
        <p:nvSpPr>
          <p:cNvPr id="37" name="Line 37">
            <a:extLst xmlns:a="http://schemas.openxmlformats.org/drawingml/2006/main">
              <a:ext uri="{FF2B5EF4-FFF2-40B4-BE49-F238E27FC236}">
                <a16:creationId xmlns:a16="http://schemas.microsoft.com/office/drawing/2014/main" id="{7E00DF7C-ADEF-4401-9059-6900F3CEFD5B}"/>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8" name="TextBox 38">
            <a:extLst xmlns:a="http://schemas.openxmlformats.org/drawingml/2006/main">
              <a:ext uri="{FF2B5EF4-FFF2-40B4-BE49-F238E27FC236}">
                <a16:creationId xmlns:a16="http://schemas.microsoft.com/office/drawing/2014/main" id="{09B49A16-6BA9-4091-9CF9-13BF54C1B38D}"/>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39" name="TextBox 39">
            <a:extLst xmlns:a="http://schemas.openxmlformats.org/drawingml/2006/main">
              <a:ext uri="{FF2B5EF4-FFF2-40B4-BE49-F238E27FC236}">
                <a16:creationId xmlns:a16="http://schemas.microsoft.com/office/drawing/2014/main" id="{F663D766-7182-4692-A370-AE07CEFE4C31}"/>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03 / 14</a:t>
            </a:r>
          </a:p>
        </p:txBody>
      </p:sp>
    </p:spTree>
    <p:extLst>
      <p:ext uri="{BB962C8B-B14F-4D97-AF65-F5344CB8AC3E}">
        <p14:creationId xmlns:p14="http://schemas.microsoft.com/office/powerpoint/2010/main" val="1504386867"/>
      </p:ext>
    </p:extLst>
  </p:cSld>
</p:sld>
</file>

<file path=ppt/slides/slide4.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EFF3FC82-2DC3-4D40-ADCC-D031C4E8FE26}"/>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3F16B05F-9391-40B1-8E57-023B97F11C40}"/>
              </a:ext>
            </a:extLst>
          </p:cNvPr>
          <p:cNvSpPr>
            <a:spLocks xmlns:a="http://schemas.openxmlformats.org/drawingml/2006/main" noGrp="1"/>
          </p:cNvSpPr>
          <p:nvPr/>
        </p:nvSpPr>
        <p:spPr>
          <a:xfrm xmlns:a="http://schemas.openxmlformats.org/drawingml/2006/main" rot="0" flipH="0" flipV="0">
            <a:off x="451104" y="708660"/>
            <a:ext cx="232074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04 · DATA DESCRIPTION</a:t>
            </a:r>
          </a:p>
        </p:txBody>
      </p:sp>
      <p:sp>
        <p:nvSpPr>
          <p:cNvPr id="4" name="TextBox 4">
            <a:extLst xmlns:a="http://schemas.openxmlformats.org/drawingml/2006/main">
              <a:ext uri="{FF2B5EF4-FFF2-40B4-BE49-F238E27FC236}">
                <a16:creationId xmlns:a16="http://schemas.microsoft.com/office/drawing/2014/main" id="{DECD6FE2-9AE4-4D89-B375-97755F2FEAEB}"/>
              </a:ext>
            </a:extLst>
          </p:cNvPr>
          <p:cNvSpPr>
            <a:spLocks xmlns:a="http://schemas.openxmlformats.org/drawingml/2006/main" noGrp="1"/>
          </p:cNvSpPr>
          <p:nvPr/>
        </p:nvSpPr>
        <p:spPr>
          <a:xfrm xmlns:a="http://schemas.openxmlformats.org/drawingml/2006/main" rot="0" flipH="0" flipV="0">
            <a:off x="441960" y="895350"/>
            <a:ext cx="10176857"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20 licensed sites · 45 demand cells</a:t>
            </a:r>
          </a:p>
        </p:txBody>
      </p:sp>
      <p:sp>
        <p:nvSpPr>
          <p:cNvPr id="6" name="Rectangle 6">
            <a:extLst xmlns:a="http://schemas.openxmlformats.org/drawingml/2006/main">
              <a:ext uri="{FF2B5EF4-FFF2-40B4-BE49-F238E27FC236}">
                <a16:creationId xmlns:a16="http://schemas.microsoft.com/office/drawing/2014/main" id="{5E6DCB7F-7472-4C37-BB92-0C4F1FC5D4A4}"/>
              </a:ext>
            </a:extLst>
          </p:cNvPr>
          <p:cNvSpPr>
            <a:spLocks xmlns:a="http://schemas.openxmlformats.org/drawingml/2006/main" noGrp="1"/>
          </p:cNvSpPr>
          <p:nvPr/>
        </p:nvSpPr>
        <p:spPr>
          <a:xfrm xmlns:a="http://schemas.openxmlformats.org/drawingml/2006/main" rot="0" flipH="0" flipV="0">
            <a:off x="457200" y="1695450"/>
            <a:ext cx="5638800" cy="4514850"/>
          </a:xfrm>
          <a:prstGeom xmlns:a="http://schemas.openxmlformats.org/drawingml/2006/main" prst="roundRect">
            <a:avLst>
              <a:gd name="adj" fmla="val 1688"/>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43" name="Image 7"/>
          <p:cNvPicPr>
            <a:picLocks xmlns:a="http://schemas.openxmlformats.org/drawingml/2006/main" noChangeAspect="1"/>
          </p:cNvPicPr>
          <p:nvPr/>
        </p:nvPicPr>
        <p:blipFill>
          <a:blip xmlns:r="http://schemas.openxmlformats.org/officeDocument/2006/relationships" xmlns:a="http://schemas.openxmlformats.org/drawingml/2006/main" r:embed="Rc8e0f67ca4744271"/>
          <a:stretch xmlns:a="http://schemas.openxmlformats.org/drawingml/2006/main">
            <a:fillRect l="0" t="0" r="0" b="0"/>
          </a:stretch>
        </p:blipFill>
        <p:spPr>
          <a:xfrm xmlns:a="http://schemas.openxmlformats.org/drawingml/2006/main" rot="0" flipH="0" flipV="0">
            <a:off x="674922" y="1809750"/>
            <a:ext cx="5203356" cy="4038600"/>
          </a:xfrm>
          <a:prstGeom xmlns:a="http://schemas.openxmlformats.org/drawingml/2006/main" prst="rect">
            <a:avLst/>
          </a:prstGeom>
        </p:spPr>
      </p:pic>
      <p:sp>
        <p:nvSpPr>
          <p:cNvPr id="8" name="TextBox 8">
            <a:extLst xmlns:a="http://schemas.openxmlformats.org/drawingml/2006/main">
              <a:ext uri="{FF2B5EF4-FFF2-40B4-BE49-F238E27FC236}">
                <a16:creationId xmlns:a16="http://schemas.microsoft.com/office/drawing/2014/main" id="{46E4148B-176A-4ED9-A083-6D62EB47A332}"/>
              </a:ext>
            </a:extLst>
          </p:cNvPr>
          <p:cNvSpPr>
            <a:spLocks xmlns:a="http://schemas.openxmlformats.org/drawingml/2006/main" noGrp="1"/>
          </p:cNvSpPr>
          <p:nvPr/>
        </p:nvSpPr>
        <p:spPr>
          <a:xfrm xmlns:a="http://schemas.openxmlformats.org/drawingml/2006/main" rot="0" flipH="0" flipV="0">
            <a:off x="565404" y="5947410"/>
            <a:ext cx="547799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Real candidate locations; ACS-density demand proxy clipped to the City boundary.</a:t>
            </a:r>
          </a:p>
        </p:txBody>
      </p:sp>
      <p:sp>
        <p:nvSpPr>
          <p:cNvPr id="10" name="TextBox 10">
            <a:extLst xmlns:a="http://schemas.openxmlformats.org/drawingml/2006/main">
              <a:ext uri="{FF2B5EF4-FFF2-40B4-BE49-F238E27FC236}">
                <a16:creationId xmlns:a16="http://schemas.microsoft.com/office/drawing/2014/main" id="{BB0BF1F4-ACD6-4BDF-911C-E238A4C5D71A}"/>
              </a:ext>
            </a:extLst>
          </p:cNvPr>
          <p:cNvSpPr>
            <a:spLocks xmlns:a="http://schemas.openxmlformats.org/drawingml/2006/main" noGrp="1"/>
          </p:cNvSpPr>
          <p:nvPr/>
        </p:nvSpPr>
        <p:spPr>
          <a:xfrm xmlns:a="http://schemas.openxmlformats.org/drawingml/2006/main" rot="0" flipH="0" flipV="0">
            <a:off x="6394704" y="1775460"/>
            <a:ext cx="166061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OBSERVED SOURCE DATA</a:t>
            </a:r>
          </a:p>
        </p:txBody>
      </p:sp>
      <p:sp>
        <p:nvSpPr>
          <p:cNvPr id="11" name="TextBox 11">
            <a:extLst xmlns:a="http://schemas.openxmlformats.org/drawingml/2006/main">
              <a:ext uri="{FF2B5EF4-FFF2-40B4-BE49-F238E27FC236}">
                <a16:creationId xmlns:a16="http://schemas.microsoft.com/office/drawing/2014/main" id="{9E65EFF6-7F3A-477D-A765-8AC280FE73FB}"/>
              </a:ext>
            </a:extLst>
          </p:cNvPr>
          <p:cNvSpPr>
            <a:spLocks xmlns:a="http://schemas.openxmlformats.org/drawingml/2006/main" noGrp="1"/>
          </p:cNvSpPr>
          <p:nvPr/>
        </p:nvSpPr>
        <p:spPr>
          <a:xfrm xmlns:a="http://schemas.openxmlformats.org/drawingml/2006/main" rot="0" flipH="0" flipV="0">
            <a:off x="6393942" y="2064068"/>
            <a:ext cx="472070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553 active City license rows → 20-site spatial sample</a:t>
            </a:r>
          </a:p>
        </p:txBody>
      </p:sp>
      <p:sp>
        <p:nvSpPr>
          <p:cNvPr id="12" name="TextBox 12">
            <a:extLst xmlns:a="http://schemas.openxmlformats.org/drawingml/2006/main">
              <a:ext uri="{FF2B5EF4-FFF2-40B4-BE49-F238E27FC236}">
                <a16:creationId xmlns:a16="http://schemas.microsoft.com/office/drawing/2014/main" id="{1CBAB8A4-2019-44A9-9EFC-8FEF98F9C7A9}"/>
              </a:ext>
            </a:extLst>
          </p:cNvPr>
          <p:cNvSpPr>
            <a:spLocks xmlns:a="http://schemas.openxmlformats.org/drawingml/2006/main" noGrp="1"/>
          </p:cNvSpPr>
          <p:nvPr/>
        </p:nvSpPr>
        <p:spPr>
          <a:xfrm xmlns:a="http://schemas.openxmlformats.org/drawingml/2006/main" rot="0" flipH="0" flipV="0">
            <a:off x="6393942" y="2330768"/>
            <a:ext cx="403919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45 grid cells after clipping to official City boundaries</a:t>
            </a:r>
          </a:p>
        </p:txBody>
      </p:sp>
      <p:sp>
        <p:nvSpPr>
          <p:cNvPr id="13" name="TextBox 13">
            <a:extLst xmlns:a="http://schemas.openxmlformats.org/drawingml/2006/main">
              <a:ext uri="{FF2B5EF4-FFF2-40B4-BE49-F238E27FC236}">
                <a16:creationId xmlns:a16="http://schemas.microsoft.com/office/drawing/2014/main" id="{02246AE3-C1C3-468A-9D99-1DB9DE0D3600}"/>
              </a:ext>
            </a:extLst>
          </p:cNvPr>
          <p:cNvSpPr>
            <a:spLocks xmlns:a="http://schemas.openxmlformats.org/drawingml/2006/main" noGrp="1"/>
          </p:cNvSpPr>
          <p:nvPr/>
        </p:nvSpPr>
        <p:spPr>
          <a:xfrm xmlns:a="http://schemas.openxmlformats.org/drawingml/2006/main" rot="0" flipH="0" flipV="0">
            <a:off x="6393942" y="2597468"/>
            <a:ext cx="459274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Haversine distances, 0.09–13.29 km — not road travel</a:t>
            </a:r>
          </a:p>
        </p:txBody>
      </p:sp>
      <p:sp>
        <p:nvSpPr>
          <p:cNvPr id="15" name="TextBox 15">
            <a:extLst xmlns:a="http://schemas.openxmlformats.org/drawingml/2006/main">
              <a:ext uri="{FF2B5EF4-FFF2-40B4-BE49-F238E27FC236}">
                <a16:creationId xmlns:a16="http://schemas.microsoft.com/office/drawing/2014/main" id="{DF49B0AA-8465-4101-83A7-EE12840F937B}"/>
              </a:ext>
            </a:extLst>
          </p:cNvPr>
          <p:cNvSpPr>
            <a:spLocks xmlns:a="http://schemas.openxmlformats.org/drawingml/2006/main" noGrp="1"/>
          </p:cNvSpPr>
          <p:nvPr/>
        </p:nvSpPr>
        <p:spPr>
          <a:xfrm xmlns:a="http://schemas.openxmlformats.org/drawingml/2006/main" rot="0" flipH="0" flipV="0">
            <a:off x="6394704" y="3185160"/>
            <a:ext cx="217608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PROXY + SYNTHETIC PARAMETERS</a:t>
            </a:r>
          </a:p>
        </p:txBody>
      </p:sp>
      <p:sp>
        <p:nvSpPr>
          <p:cNvPr id="16" name="TextBox 16">
            <a:extLst xmlns:a="http://schemas.openxmlformats.org/drawingml/2006/main">
              <a:ext uri="{FF2B5EF4-FFF2-40B4-BE49-F238E27FC236}">
                <a16:creationId xmlns:a16="http://schemas.microsoft.com/office/drawing/2014/main" id="{99664B26-F6D4-4237-A0FC-4F6EF83D47DD}"/>
              </a:ext>
            </a:extLst>
          </p:cNvPr>
          <p:cNvSpPr>
            <a:spLocks xmlns:a="http://schemas.openxmlformats.org/drawingml/2006/main" noGrp="1"/>
          </p:cNvSpPr>
          <p:nvPr/>
        </p:nvSpPr>
        <p:spPr>
          <a:xfrm xmlns:a="http://schemas.openxmlformats.org/drawingml/2006/main" rot="0" flipH="0" flipV="0">
            <a:off x="6393180" y="3495675"/>
            <a:ext cx="452644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mn-lt"/>
                <a:ea typeface="+mn-lt"/>
                <a:cs typeface="+mn-lt"/>
              </a:rPr>
              <a:t>Demand pattern = 2023 ACS population density proxy</a:t>
            </a:r>
          </a:p>
        </p:txBody>
      </p:sp>
      <p:sp>
        <p:nvSpPr>
          <p:cNvPr id="17" name="TextBox 17">
            <a:extLst xmlns:a="http://schemas.openxmlformats.org/drawingml/2006/main">
              <a:ext uri="{FF2B5EF4-FFF2-40B4-BE49-F238E27FC236}">
                <a16:creationId xmlns:a16="http://schemas.microsoft.com/office/drawing/2014/main" id="{E4E952A2-840D-4640-A928-754CE13C3A43}"/>
              </a:ext>
            </a:extLst>
          </p:cNvPr>
          <p:cNvSpPr>
            <a:spLocks xmlns:a="http://schemas.openxmlformats.org/drawingml/2006/main" noGrp="1"/>
          </p:cNvSpPr>
          <p:nvPr/>
        </p:nvSpPr>
        <p:spPr>
          <a:xfrm xmlns:a="http://schemas.openxmlformats.org/drawingml/2006/main" rot="0" flipH="0" flipV="0">
            <a:off x="6394704" y="3756660"/>
            <a:ext cx="3703472"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total scaled to 23,248 model units — not EV sessions</a:t>
            </a:r>
          </a:p>
        </p:txBody>
      </p:sp>
      <p:sp>
        <p:nvSpPr>
          <p:cNvPr id="19" name="TextBox 19">
            <a:extLst xmlns:a="http://schemas.openxmlformats.org/drawingml/2006/main">
              <a:ext uri="{FF2B5EF4-FFF2-40B4-BE49-F238E27FC236}">
                <a16:creationId xmlns:a16="http://schemas.microsoft.com/office/drawing/2014/main" id="{305DB2A0-B6CF-4B21-8F52-FCD7CE8F05D8}"/>
              </a:ext>
            </a:extLst>
          </p:cNvPr>
          <p:cNvSpPr>
            <a:spLocks xmlns:a="http://schemas.openxmlformats.org/drawingml/2006/main" noGrp="1"/>
          </p:cNvSpPr>
          <p:nvPr/>
        </p:nvSpPr>
        <p:spPr>
          <a:xfrm xmlns:a="http://schemas.openxmlformats.org/drawingml/2006/main" rot="0" flipH="0" flipV="0">
            <a:off x="6393180" y="4105275"/>
            <a:ext cx="4213908"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mn-lt"/>
                <a:ea typeface="+mn-lt"/>
                <a:cs typeface="+mn-lt"/>
              </a:rPr>
              <a:t>Cost ≈$210k central → ≈$60k edge (assumed)</a:t>
            </a:r>
          </a:p>
        </p:txBody>
      </p:sp>
      <p:sp>
        <p:nvSpPr>
          <p:cNvPr id="20" name="TextBox 20">
            <a:extLst xmlns:a="http://schemas.openxmlformats.org/drawingml/2006/main">
              <a:ext uri="{FF2B5EF4-FFF2-40B4-BE49-F238E27FC236}">
                <a16:creationId xmlns:a16="http://schemas.microsoft.com/office/drawing/2014/main" id="{8037D1B8-995E-4262-A344-21DAF0813BC7}"/>
              </a:ext>
            </a:extLst>
          </p:cNvPr>
          <p:cNvSpPr>
            <a:spLocks xmlns:a="http://schemas.openxmlformats.org/drawingml/2006/main" noGrp="1"/>
          </p:cNvSpPr>
          <p:nvPr/>
        </p:nvSpPr>
        <p:spPr>
          <a:xfrm xmlns:a="http://schemas.openxmlformats.org/drawingml/2006/main" rot="0" flipH="0" flipV="0">
            <a:off x="6394704" y="4366260"/>
            <a:ext cx="363885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envelope compared with DOE/AFDC ranges; no site bids</a:t>
            </a:r>
          </a:p>
        </p:txBody>
      </p:sp>
      <p:sp>
        <p:nvSpPr>
          <p:cNvPr id="22" name="TextBox 22">
            <a:extLst xmlns:a="http://schemas.openxmlformats.org/drawingml/2006/main">
              <a:ext uri="{FF2B5EF4-FFF2-40B4-BE49-F238E27FC236}">
                <a16:creationId xmlns:a16="http://schemas.microsoft.com/office/drawing/2014/main" id="{5AD821F6-D19B-459E-B143-5BECD78D2836}"/>
              </a:ext>
            </a:extLst>
          </p:cNvPr>
          <p:cNvSpPr>
            <a:spLocks xmlns:a="http://schemas.openxmlformats.org/drawingml/2006/main" noGrp="1"/>
          </p:cNvSpPr>
          <p:nvPr/>
        </p:nvSpPr>
        <p:spPr>
          <a:xfrm xmlns:a="http://schemas.openxmlformats.org/drawingml/2006/main" rot="0" flipH="0" flipV="0">
            <a:off x="6393180" y="4714875"/>
            <a:ext cx="437457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mn-lt"/>
                <a:ea typeface="+mn-lt"/>
                <a:cs typeface="+mn-lt"/>
              </a:rPr>
              <a:t>Capacity 4,000 garage · 2,200 filling (model units)</a:t>
            </a:r>
          </a:p>
        </p:txBody>
      </p:sp>
      <p:sp>
        <p:nvSpPr>
          <p:cNvPr id="23" name="TextBox 23">
            <a:extLst xmlns:a="http://schemas.openxmlformats.org/drawingml/2006/main">
              <a:ext uri="{FF2B5EF4-FFF2-40B4-BE49-F238E27FC236}">
                <a16:creationId xmlns:a16="http://schemas.microsoft.com/office/drawing/2014/main" id="{1079BBA0-A2B8-4614-9437-1F3039D10727}"/>
              </a:ext>
            </a:extLst>
          </p:cNvPr>
          <p:cNvSpPr>
            <a:spLocks xmlns:a="http://schemas.openxmlformats.org/drawingml/2006/main" noGrp="1"/>
          </p:cNvSpPr>
          <p:nvPr/>
        </p:nvSpPr>
        <p:spPr>
          <a:xfrm xmlns:a="http://schemas.openxmlformats.org/drawingml/2006/main" rot="0" flipH="0" flipV="0">
            <a:off x="6394704" y="4975860"/>
            <a:ext cx="343692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not verified throughput, port count or grid capacity</a:t>
            </a:r>
          </a:p>
        </p:txBody>
      </p:sp>
      <p:sp>
        <p:nvSpPr>
          <p:cNvPr id="26" name="Rectangle 26">
            <a:extLst xmlns:a="http://schemas.openxmlformats.org/drawingml/2006/main">
              <a:ext uri="{FF2B5EF4-FFF2-40B4-BE49-F238E27FC236}">
                <a16:creationId xmlns:a16="http://schemas.microsoft.com/office/drawing/2014/main" id="{C0C45F19-F4E3-4CCC-890E-CC4BFF0AC66D}"/>
              </a:ext>
            </a:extLst>
          </p:cNvPr>
          <p:cNvSpPr>
            <a:spLocks xmlns:a="http://schemas.openxmlformats.org/drawingml/2006/main" noGrp="1"/>
          </p:cNvSpPr>
          <p:nvPr/>
        </p:nvSpPr>
        <p:spPr>
          <a:xfrm xmlns:a="http://schemas.openxmlformats.org/drawingml/2006/main" rot="0" flipH="0" flipV="0">
            <a:off x="6400800" y="5391150"/>
            <a:ext cx="5334000" cy="742950"/>
          </a:xfrm>
          <a:prstGeom xmlns:a="http://schemas.openxmlformats.org/drawingml/2006/main" prst="roundRect">
            <a:avLst>
              <a:gd name="adj" fmla="val 10256"/>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7" name="Rectangle 27">
            <a:extLst xmlns:a="http://schemas.openxmlformats.org/drawingml/2006/main">
              <a:ext uri="{FF2B5EF4-FFF2-40B4-BE49-F238E27FC236}">
                <a16:creationId xmlns:a16="http://schemas.microsoft.com/office/drawing/2014/main" id="{A887D0A4-31E5-4EAD-9964-8E6F7D3B8E2C}"/>
              </a:ext>
            </a:extLst>
          </p:cNvPr>
          <p:cNvSpPr>
            <a:spLocks xmlns:a="http://schemas.openxmlformats.org/drawingml/2006/main" noGrp="1"/>
          </p:cNvSpPr>
          <p:nvPr/>
        </p:nvSpPr>
        <p:spPr>
          <a:xfrm xmlns:a="http://schemas.openxmlformats.org/drawingml/2006/main" rot="0" flipH="0" flipV="0">
            <a:off x="6400800" y="5391150"/>
            <a:ext cx="57150" cy="74295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8" name="Freeform 28">
            <a:extLst xmlns:a="http://schemas.openxmlformats.org/drawingml/2006/main">
              <a:ext uri="{FF2B5EF4-FFF2-40B4-BE49-F238E27FC236}">
                <a16:creationId xmlns:a16="http://schemas.microsoft.com/office/drawing/2014/main" id="{1F2DB9FB-5027-4F4A-B9ED-C4E5149CAEC0}"/>
              </a:ext>
            </a:extLst>
          </p:cNvPr>
          <p:cNvSpPr>
            <a:spLocks xmlns:a="http://schemas.openxmlformats.org/drawingml/2006/main" noGrp="1"/>
          </p:cNvSpPr>
          <p:nvPr/>
        </p:nvSpPr>
        <p:spPr>
          <a:xfrm xmlns:a="http://schemas.openxmlformats.org/drawingml/2006/main" rot="0" flipH="0" flipV="0">
            <a:off x="6683375" y="5607844"/>
            <a:ext cx="139700" cy="52388"/>
          </a:xfrm>
          <a:custGeom xmlns:a="http://schemas.openxmlformats.org/drawingml/2006/main">
            <a:rect l="l" t="t" r="r" b="b"/>
            <a:pathLst>
              <a:path w="139700" h="52388">
                <a:moveTo>
                  <a:pt x="0" y="26194"/>
                </a:moveTo>
                <a:cubicBezTo>
                  <a:pt x="0" y="40660"/>
                  <a:pt x="31273" y="52388"/>
                  <a:pt x="69850" y="52388"/>
                </a:cubicBezTo>
                <a:cubicBezTo>
                  <a:pt x="108427" y="52388"/>
                  <a:pt x="139700" y="40660"/>
                  <a:pt x="139700" y="26194"/>
                </a:cubicBezTo>
                <a:cubicBezTo>
                  <a:pt x="139700" y="11727"/>
                  <a:pt x="108427" y="0"/>
                  <a:pt x="69850" y="0"/>
                </a:cubicBezTo>
                <a:cubicBezTo>
                  <a:pt x="31273" y="0"/>
                  <a:pt x="0" y="11727"/>
                  <a:pt x="0" y="26194"/>
                </a:cubicBez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9" name="Freeform 29">
            <a:extLst xmlns:a="http://schemas.openxmlformats.org/drawingml/2006/main">
              <a:ext uri="{FF2B5EF4-FFF2-40B4-BE49-F238E27FC236}">
                <a16:creationId xmlns:a16="http://schemas.microsoft.com/office/drawing/2014/main" id="{6E67B27A-8301-4282-94E6-41859B8C53AE}"/>
              </a:ext>
            </a:extLst>
          </p:cNvPr>
          <p:cNvSpPr>
            <a:spLocks xmlns:a="http://schemas.openxmlformats.org/drawingml/2006/main" noGrp="1"/>
          </p:cNvSpPr>
          <p:nvPr/>
        </p:nvSpPr>
        <p:spPr>
          <a:xfrm xmlns:a="http://schemas.openxmlformats.org/drawingml/2006/main" rot="0" flipH="0" flipV="0">
            <a:off x="6683375" y="5634038"/>
            <a:ext cx="139700" cy="78581"/>
          </a:xfrm>
          <a:custGeom xmlns:a="http://schemas.openxmlformats.org/drawingml/2006/main">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0" name="Freeform 30">
            <a:extLst xmlns:a="http://schemas.openxmlformats.org/drawingml/2006/main">
              <a:ext uri="{FF2B5EF4-FFF2-40B4-BE49-F238E27FC236}">
                <a16:creationId xmlns:a16="http://schemas.microsoft.com/office/drawing/2014/main" id="{EB36E0E9-BD1C-41FE-B6D0-1BF17CA39D57}"/>
              </a:ext>
            </a:extLst>
          </p:cNvPr>
          <p:cNvSpPr>
            <a:spLocks xmlns:a="http://schemas.openxmlformats.org/drawingml/2006/main" noGrp="1"/>
          </p:cNvSpPr>
          <p:nvPr/>
        </p:nvSpPr>
        <p:spPr>
          <a:xfrm xmlns:a="http://schemas.openxmlformats.org/drawingml/2006/main" rot="0" flipH="0" flipV="0">
            <a:off x="6683375" y="5686425"/>
            <a:ext cx="139700" cy="78581"/>
          </a:xfrm>
          <a:custGeom xmlns:a="http://schemas.openxmlformats.org/drawingml/2006/main">
            <a:rect l="l" t="t" r="r" b="b"/>
            <a:pathLst>
              <a:path w="139700" h="78581">
                <a:moveTo>
                  <a:pt x="0" y="0"/>
                </a:moveTo>
                <a:lnTo>
                  <a:pt x="0" y="52388"/>
                </a:lnTo>
                <a:cubicBezTo>
                  <a:pt x="0" y="66854"/>
                  <a:pt x="31273" y="78581"/>
                  <a:pt x="69850" y="78581"/>
                </a:cubicBezTo>
                <a:cubicBezTo>
                  <a:pt x="108427" y="78581"/>
                  <a:pt x="139700" y="66854"/>
                  <a:pt x="139700" y="52388"/>
                </a:cubicBezTo>
                <a:lnTo>
                  <a:pt x="139700" y="0"/>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2" name="TextBox 32">
            <a:extLst xmlns:a="http://schemas.openxmlformats.org/drawingml/2006/main">
              <a:ext uri="{FF2B5EF4-FFF2-40B4-BE49-F238E27FC236}">
                <a16:creationId xmlns:a16="http://schemas.microsoft.com/office/drawing/2014/main" id="{D7C98576-A3A3-4E66-91FE-6324321AF8C4}"/>
              </a:ext>
            </a:extLst>
          </p:cNvPr>
          <p:cNvSpPr>
            <a:spLocks xmlns:a="http://schemas.openxmlformats.org/drawingml/2006/main" noGrp="1"/>
          </p:cNvSpPr>
          <p:nvPr/>
        </p:nvSpPr>
        <p:spPr>
          <a:xfrm xmlns:a="http://schemas.openxmlformats.org/drawingml/2006/main" rot="0" flipH="0" flipV="0">
            <a:off x="6946392" y="5588318"/>
            <a:ext cx="349651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Total demand 23,248 · capacity 69,200</a:t>
            </a:r>
          </a:p>
        </p:txBody>
      </p:sp>
      <p:sp>
        <p:nvSpPr>
          <p:cNvPr id="33" name="TextBox 33">
            <a:extLst xmlns:a="http://schemas.openxmlformats.org/drawingml/2006/main">
              <a:ext uri="{FF2B5EF4-FFF2-40B4-BE49-F238E27FC236}">
                <a16:creationId xmlns:a16="http://schemas.microsoft.com/office/drawing/2014/main" id="{6BE7DF71-8010-4B9D-89A2-E3939D121520}"/>
              </a:ext>
            </a:extLst>
          </p:cNvPr>
          <p:cNvSpPr>
            <a:spLocks xmlns:a="http://schemas.openxmlformats.org/drawingml/2006/main" noGrp="1"/>
          </p:cNvSpPr>
          <p:nvPr/>
        </p:nvSpPr>
        <p:spPr>
          <a:xfrm xmlns:a="http://schemas.openxmlformats.org/drawingml/2006/main" rot="0" flipH="0" flipV="0">
            <a:off x="6946392" y="5835968"/>
            <a:ext cx="420657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accent1"/>
                </a:solidFill>
                <a:latin typeface="+mn-lt"/>
                <a:ea typeface="+mn-lt"/>
                <a:cs typeface="+mn-lt"/>
              </a:rPr>
              <a:t>≈3.0× demand by design · assumed build-all cost $2.40M</a:t>
            </a:r>
          </a:p>
        </p:txBody>
      </p:sp>
      <p:sp>
        <p:nvSpPr>
          <p:cNvPr id="35" name="Line 35">
            <a:extLst xmlns:a="http://schemas.openxmlformats.org/drawingml/2006/main">
              <a:ext uri="{FF2B5EF4-FFF2-40B4-BE49-F238E27FC236}">
                <a16:creationId xmlns:a16="http://schemas.microsoft.com/office/drawing/2014/main" id="{50D6C64F-307F-470A-9D74-87D305130E5D}"/>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6" name="TextBox 36">
            <a:extLst xmlns:a="http://schemas.openxmlformats.org/drawingml/2006/main">
              <a:ext uri="{FF2B5EF4-FFF2-40B4-BE49-F238E27FC236}">
                <a16:creationId xmlns:a16="http://schemas.microsoft.com/office/drawing/2014/main" id="{C407EFF4-D0E2-40EC-B283-0CD87D0C65BC}"/>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37" name="TextBox 37">
            <a:extLst xmlns:a="http://schemas.openxmlformats.org/drawingml/2006/main">
              <a:ext uri="{FF2B5EF4-FFF2-40B4-BE49-F238E27FC236}">
                <a16:creationId xmlns:a16="http://schemas.microsoft.com/office/drawing/2014/main" id="{D0E36C23-CF89-49A7-96A6-A4A176A207B5}"/>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04 / 14</a:t>
            </a:r>
          </a:p>
        </p:txBody>
      </p:sp>
    </p:spTree>
    <p:extLst>
      <p:ext uri="{BB962C8B-B14F-4D97-AF65-F5344CB8AC3E}">
        <p14:creationId xmlns:p14="http://schemas.microsoft.com/office/powerpoint/2010/main" val="723787363"/>
      </p:ext>
    </p:extLst>
  </p:cSld>
</p:sld>
</file>

<file path=ppt/slides/slide5.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06DD6285-EC5A-4D95-AF9D-F609528BFD56}"/>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EDF83671-5346-4DD4-A844-E15A6B0E8A88}"/>
              </a:ext>
            </a:extLst>
          </p:cNvPr>
          <p:cNvSpPr>
            <a:spLocks xmlns:a="http://schemas.openxmlformats.org/drawingml/2006/main" noGrp="1"/>
          </p:cNvSpPr>
          <p:nvPr/>
        </p:nvSpPr>
        <p:spPr>
          <a:xfrm xmlns:a="http://schemas.openxmlformats.org/drawingml/2006/main" rot="0" flipH="0" flipV="0">
            <a:off x="451104" y="708660"/>
            <a:ext cx="235317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05 · SOLUTION METHOD</a:t>
            </a:r>
          </a:p>
        </p:txBody>
      </p:sp>
      <p:sp>
        <p:nvSpPr>
          <p:cNvPr id="4" name="TextBox 4">
            <a:extLst xmlns:a="http://schemas.openxmlformats.org/drawingml/2006/main">
              <a:ext uri="{FF2B5EF4-FFF2-40B4-BE49-F238E27FC236}">
                <a16:creationId xmlns:a16="http://schemas.microsoft.com/office/drawing/2014/main" id="{289DD584-BA6D-4ED9-854A-FB76F4D96D5F}"/>
              </a:ext>
            </a:extLst>
          </p:cNvPr>
          <p:cNvSpPr>
            <a:spLocks xmlns:a="http://schemas.openxmlformats.org/drawingml/2006/main" noGrp="1"/>
          </p:cNvSpPr>
          <p:nvPr/>
        </p:nvSpPr>
        <p:spPr>
          <a:xfrm xmlns:a="http://schemas.openxmlformats.org/drawingml/2006/main" rot="0" flipH="0" flipV="0">
            <a:off x="441960" y="895350"/>
            <a:ext cx="6366972"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Solved lexicographically with PuLP + CBC</a:t>
            </a:r>
          </a:p>
        </p:txBody>
      </p:sp>
      <p:sp>
        <p:nvSpPr>
          <p:cNvPr id="5" name="Freeform 5">
            <a:extLst xmlns:a="http://schemas.openxmlformats.org/drawingml/2006/main">
              <a:ext uri="{FF2B5EF4-FFF2-40B4-BE49-F238E27FC236}">
                <a16:creationId xmlns:a16="http://schemas.microsoft.com/office/drawing/2014/main" id="{3A5DB5FF-F80E-43F5-9332-1D9C973F559A}"/>
              </a:ext>
            </a:extLst>
          </p:cNvPr>
          <p:cNvSpPr>
            <a:spLocks xmlns:a="http://schemas.openxmlformats.org/drawingml/2006/main" noGrp="1"/>
          </p:cNvSpPr>
          <p:nvPr/>
        </p:nvSpPr>
        <p:spPr>
          <a:xfrm xmlns:a="http://schemas.openxmlformats.org/drawingml/2006/main" rot="0" flipH="0" flipV="0">
            <a:off x="11246121" y="863871"/>
            <a:ext cx="322130" cy="322008"/>
          </a:xfrm>
          <a:custGeom xmlns:a="http://schemas.openxmlformats.org/drawingml/2006/main">
            <a:rect l="l" t="t" r="r" b="b"/>
            <a:pathLst>
              <a:path w="322130" h="322008">
                <a:moveTo>
                  <a:pt x="164881" y="321990"/>
                </a:moveTo>
                <a:cubicBezTo>
                  <a:pt x="152098" y="322008"/>
                  <a:pt x="139298" y="314342"/>
                  <a:pt x="135579" y="298992"/>
                </a:cubicBezTo>
                <a:cubicBezTo>
                  <a:pt x="133315" y="289649"/>
                  <a:pt x="126725" y="281949"/>
                  <a:pt x="117843" y="278269"/>
                </a:cubicBezTo>
                <a:cubicBezTo>
                  <a:pt x="108961" y="274589"/>
                  <a:pt x="98856" y="275373"/>
                  <a:pt x="90648" y="280377"/>
                </a:cubicBezTo>
                <a:cubicBezTo>
                  <a:pt x="63703" y="296792"/>
                  <a:pt x="32847" y="265953"/>
                  <a:pt x="49262" y="238991"/>
                </a:cubicBezTo>
                <a:cubicBezTo>
                  <a:pt x="54259" y="230787"/>
                  <a:pt x="55041" y="220689"/>
                  <a:pt x="51365" y="211813"/>
                </a:cubicBezTo>
                <a:cubicBezTo>
                  <a:pt x="47690" y="202937"/>
                  <a:pt x="39999" y="196348"/>
                  <a:pt x="30664" y="194078"/>
                </a:cubicBezTo>
                <a:cubicBezTo>
                  <a:pt x="0" y="186639"/>
                  <a:pt x="0" y="143018"/>
                  <a:pt x="30664" y="135579"/>
                </a:cubicBezTo>
                <a:cubicBezTo>
                  <a:pt x="40008" y="133315"/>
                  <a:pt x="47708" y="126725"/>
                  <a:pt x="51388" y="117843"/>
                </a:cubicBezTo>
                <a:cubicBezTo>
                  <a:pt x="55067" y="108961"/>
                  <a:pt x="54284" y="98856"/>
                  <a:pt x="49279" y="90648"/>
                </a:cubicBezTo>
                <a:cubicBezTo>
                  <a:pt x="32864" y="63703"/>
                  <a:pt x="63703" y="32847"/>
                  <a:pt x="90665" y="49262"/>
                </a:cubicBezTo>
                <a:cubicBezTo>
                  <a:pt x="108128" y="59879"/>
                  <a:pt x="130759" y="50484"/>
                  <a:pt x="135579" y="30664"/>
                </a:cubicBezTo>
                <a:cubicBezTo>
                  <a:pt x="143018" y="0"/>
                  <a:pt x="186639" y="0"/>
                  <a:pt x="194078" y="30664"/>
                </a:cubicBezTo>
                <a:cubicBezTo>
                  <a:pt x="196342" y="40008"/>
                  <a:pt x="202932" y="47708"/>
                  <a:pt x="211814" y="51388"/>
                </a:cubicBezTo>
                <a:cubicBezTo>
                  <a:pt x="220695" y="55067"/>
                  <a:pt x="230800" y="54284"/>
                  <a:pt x="239009" y="49279"/>
                </a:cubicBezTo>
                <a:cubicBezTo>
                  <a:pt x="265953" y="32864"/>
                  <a:pt x="296810" y="63703"/>
                  <a:pt x="280395" y="90665"/>
                </a:cubicBezTo>
                <a:cubicBezTo>
                  <a:pt x="275397" y="98870"/>
                  <a:pt x="274616" y="108967"/>
                  <a:pt x="278291" y="117843"/>
                </a:cubicBezTo>
                <a:cubicBezTo>
                  <a:pt x="281966" y="126719"/>
                  <a:pt x="289657" y="133309"/>
                  <a:pt x="298992" y="135579"/>
                </a:cubicBezTo>
                <a:cubicBezTo>
                  <a:pt x="314464" y="139333"/>
                  <a:pt x="322130" y="152290"/>
                  <a:pt x="322008" y="165160"/>
                </a:cubicBez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6" name="Freeform 6">
            <a:extLst xmlns:a="http://schemas.openxmlformats.org/drawingml/2006/main">
              <a:ext uri="{FF2B5EF4-FFF2-40B4-BE49-F238E27FC236}">
                <a16:creationId xmlns:a16="http://schemas.microsoft.com/office/drawing/2014/main" id="{60E3CB2B-CADF-4337-B2B8-C0DE3F0E96E2}"/>
              </a:ext>
            </a:extLst>
          </p:cNvPr>
          <p:cNvSpPr>
            <a:spLocks xmlns:a="http://schemas.openxmlformats.org/drawingml/2006/main" noGrp="1"/>
          </p:cNvSpPr>
          <p:nvPr/>
        </p:nvSpPr>
        <p:spPr>
          <a:xfrm xmlns:a="http://schemas.openxmlformats.org/drawingml/2006/main" rot="0" flipH="0" flipV="0">
            <a:off x="11358562" y="976312"/>
            <a:ext cx="104775" cy="104775"/>
          </a:xfrm>
          <a:custGeom xmlns:a="http://schemas.openxmlformats.org/drawingml/2006/main">
            <a:rect l="l" t="t" r="r" b="b"/>
            <a:pathLst>
              <a:path w="104775" h="104775">
                <a:moveTo>
                  <a:pt x="0" y="52387"/>
                </a:moveTo>
                <a:cubicBezTo>
                  <a:pt x="0" y="81320"/>
                  <a:pt x="23455" y="104775"/>
                  <a:pt x="52387" y="104775"/>
                </a:cubicBezTo>
                <a:cubicBezTo>
                  <a:pt x="81320" y="104775"/>
                  <a:pt x="104775" y="81320"/>
                  <a:pt x="104775" y="52387"/>
                </a:cubicBezTo>
                <a:cubicBezTo>
                  <a:pt x="104775" y="23455"/>
                  <a:pt x="81320" y="0"/>
                  <a:pt x="52387" y="0"/>
                </a:cubicBezTo>
                <a:cubicBezTo>
                  <a:pt x="23455" y="0"/>
                  <a:pt x="0" y="23455"/>
                  <a:pt x="0" y="52387"/>
                </a:cubicBez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7" name="Freeform 7">
            <a:extLst xmlns:a="http://schemas.openxmlformats.org/drawingml/2006/main">
              <a:ext uri="{FF2B5EF4-FFF2-40B4-BE49-F238E27FC236}">
                <a16:creationId xmlns:a16="http://schemas.microsoft.com/office/drawing/2014/main" id="{315BCBB2-F0DC-46CE-B53D-434DFAC84D6B}"/>
              </a:ext>
            </a:extLst>
          </p:cNvPr>
          <p:cNvSpPr>
            <a:spLocks xmlns:a="http://schemas.openxmlformats.org/drawingml/2006/main" noGrp="1"/>
          </p:cNvSpPr>
          <p:nvPr/>
        </p:nvSpPr>
        <p:spPr>
          <a:xfrm xmlns:a="http://schemas.openxmlformats.org/drawingml/2006/main" rot="0" flipH="0" flipV="0">
            <a:off x="11498279" y="1116012"/>
            <a:ext cx="69850" cy="69850"/>
          </a:xfrm>
          <a:custGeom xmlns:a="http://schemas.openxmlformats.org/drawingml/2006/main">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041B9CFE-9CC7-4C1E-9E8E-037C5E81B609}"/>
              </a:ext>
            </a:extLst>
          </p:cNvPr>
          <p:cNvSpPr>
            <a:spLocks xmlns:a="http://schemas.openxmlformats.org/drawingml/2006/main" noGrp="1"/>
          </p:cNvSpPr>
          <p:nvPr/>
        </p:nvSpPr>
        <p:spPr>
          <a:xfrm xmlns:a="http://schemas.openxmlformats.org/drawingml/2006/main" rot="0" flipH="0" flipV="0">
            <a:off x="11533204" y="1089818"/>
            <a:ext cx="9525" cy="26194"/>
          </a:xfrm>
          <a:custGeom xmlns:a="http://schemas.openxmlformats.org/drawingml/2006/main">
            <a:rect l="l" t="t" r="r" b="b"/>
            <a:pathLst>
              <a:path w="9525" h="26194">
                <a:moveTo>
                  <a:pt x="0" y="0"/>
                </a:moveTo>
                <a:lnTo>
                  <a:pt x="0" y="26194"/>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9" name="Freeform 9">
            <a:extLst xmlns:a="http://schemas.openxmlformats.org/drawingml/2006/main">
              <a:ext uri="{FF2B5EF4-FFF2-40B4-BE49-F238E27FC236}">
                <a16:creationId xmlns:a16="http://schemas.microsoft.com/office/drawing/2014/main" id="{DE082111-F704-4447-A58C-E280944CDBE4}"/>
              </a:ext>
            </a:extLst>
          </p:cNvPr>
          <p:cNvSpPr>
            <a:spLocks xmlns:a="http://schemas.openxmlformats.org/drawingml/2006/main" noGrp="1"/>
          </p:cNvSpPr>
          <p:nvPr/>
        </p:nvSpPr>
        <p:spPr>
          <a:xfrm xmlns:a="http://schemas.openxmlformats.org/drawingml/2006/main" rot="0" flipH="0" flipV="0">
            <a:off x="11533204" y="1185862"/>
            <a:ext cx="9525" cy="26194"/>
          </a:xfrm>
          <a:custGeom xmlns:a="http://schemas.openxmlformats.org/drawingml/2006/main">
            <a:rect l="l" t="t" r="r" b="b"/>
            <a:pathLst>
              <a:path w="9525" h="26194">
                <a:moveTo>
                  <a:pt x="0" y="0"/>
                </a:moveTo>
                <a:lnTo>
                  <a:pt x="0" y="26194"/>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0" name="Freeform 10">
            <a:extLst xmlns:a="http://schemas.openxmlformats.org/drawingml/2006/main">
              <a:ext uri="{FF2B5EF4-FFF2-40B4-BE49-F238E27FC236}">
                <a16:creationId xmlns:a16="http://schemas.microsoft.com/office/drawing/2014/main" id="{4AE40E1A-BF58-4780-A322-E16EC9550E08}"/>
              </a:ext>
            </a:extLst>
          </p:cNvPr>
          <p:cNvSpPr>
            <a:spLocks xmlns:a="http://schemas.openxmlformats.org/drawingml/2006/main" noGrp="1"/>
          </p:cNvSpPr>
          <p:nvPr/>
        </p:nvSpPr>
        <p:spPr>
          <a:xfrm xmlns:a="http://schemas.openxmlformats.org/drawingml/2006/main" rot="0" flipH="0" flipV="0">
            <a:off x="11563449" y="1120378"/>
            <a:ext cx="22684" cy="13097"/>
          </a:xfrm>
          <a:custGeom xmlns:a="http://schemas.openxmlformats.org/drawingml/2006/main">
            <a:rect l="l" t="t" r="r" b="b"/>
            <a:pathLst>
              <a:path w="22684" h="13097">
                <a:moveTo>
                  <a:pt x="22684" y="0"/>
                </a:moveTo>
                <a:lnTo>
                  <a:pt x="0" y="13097"/>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1" name="Freeform 11">
            <a:extLst xmlns:a="http://schemas.openxmlformats.org/drawingml/2006/main">
              <a:ext uri="{FF2B5EF4-FFF2-40B4-BE49-F238E27FC236}">
                <a16:creationId xmlns:a16="http://schemas.microsoft.com/office/drawing/2014/main" id="{AD04C2C7-87CF-44DF-ABC5-C2F767381C4E}"/>
              </a:ext>
            </a:extLst>
          </p:cNvPr>
          <p:cNvSpPr>
            <a:spLocks xmlns:a="http://schemas.openxmlformats.org/drawingml/2006/main" noGrp="1"/>
          </p:cNvSpPr>
          <p:nvPr/>
        </p:nvSpPr>
        <p:spPr>
          <a:xfrm xmlns:a="http://schemas.openxmlformats.org/drawingml/2006/main" rot="0" flipH="0" flipV="0">
            <a:off x="11480276" y="1168399"/>
            <a:ext cx="22701" cy="13097"/>
          </a:xfrm>
          <a:custGeom xmlns:a="http://schemas.openxmlformats.org/drawingml/2006/main">
            <a:rect l="l" t="t" r="r" b="b"/>
            <a:pathLst>
              <a:path w="22701" h="13097">
                <a:moveTo>
                  <a:pt x="22701" y="0"/>
                </a:moveTo>
                <a:lnTo>
                  <a:pt x="0" y="13097"/>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2" name="Freeform 12">
            <a:extLst xmlns:a="http://schemas.openxmlformats.org/drawingml/2006/main">
              <a:ext uri="{FF2B5EF4-FFF2-40B4-BE49-F238E27FC236}">
                <a16:creationId xmlns:a16="http://schemas.microsoft.com/office/drawing/2014/main" id="{D453AA9C-EFAD-4BD4-A14A-314AFB38F13F}"/>
              </a:ext>
            </a:extLst>
          </p:cNvPr>
          <p:cNvSpPr>
            <a:spLocks xmlns:a="http://schemas.openxmlformats.org/drawingml/2006/main" noGrp="1"/>
          </p:cNvSpPr>
          <p:nvPr/>
        </p:nvSpPr>
        <p:spPr>
          <a:xfrm xmlns:a="http://schemas.openxmlformats.org/drawingml/2006/main" rot="0" flipH="0" flipV="0">
            <a:off x="11480276" y="1120378"/>
            <a:ext cx="22701" cy="13097"/>
          </a:xfrm>
          <a:custGeom xmlns:a="http://schemas.openxmlformats.org/drawingml/2006/main">
            <a:rect l="l" t="t" r="r" b="b"/>
            <a:pathLst>
              <a:path w="22701" h="13097">
                <a:moveTo>
                  <a:pt x="0" y="0"/>
                </a:moveTo>
                <a:lnTo>
                  <a:pt x="22701" y="13097"/>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3" name="Freeform 13">
            <a:extLst xmlns:a="http://schemas.openxmlformats.org/drawingml/2006/main">
              <a:ext uri="{FF2B5EF4-FFF2-40B4-BE49-F238E27FC236}">
                <a16:creationId xmlns:a16="http://schemas.microsoft.com/office/drawing/2014/main" id="{33405BEA-AAEB-4504-B52D-1079DBFAA51B}"/>
              </a:ext>
            </a:extLst>
          </p:cNvPr>
          <p:cNvSpPr>
            <a:spLocks xmlns:a="http://schemas.openxmlformats.org/drawingml/2006/main" noGrp="1"/>
          </p:cNvSpPr>
          <p:nvPr/>
        </p:nvSpPr>
        <p:spPr>
          <a:xfrm xmlns:a="http://schemas.openxmlformats.org/drawingml/2006/main" rot="0" flipH="0" flipV="0">
            <a:off x="11563449" y="1168399"/>
            <a:ext cx="22701" cy="13097"/>
          </a:xfrm>
          <a:custGeom xmlns:a="http://schemas.openxmlformats.org/drawingml/2006/main">
            <a:rect l="l" t="t" r="r" b="b"/>
            <a:pathLst>
              <a:path w="22701" h="13097">
                <a:moveTo>
                  <a:pt x="0" y="0"/>
                </a:moveTo>
                <a:lnTo>
                  <a:pt x="22701" y="13097"/>
                </a:lnTo>
              </a:path>
            </a:pathLst>
          </a:custGeom>
          <a:noFill xmlns:a="http://schemas.openxmlformats.org/drawingml/2006/main"/>
          <a:ln xmlns:a="http://schemas.openxmlformats.org/drawingml/2006/main" w="34925">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6" name="TextBox 16">
            <a:extLst xmlns:a="http://schemas.openxmlformats.org/drawingml/2006/main">
              <a:ext uri="{FF2B5EF4-FFF2-40B4-BE49-F238E27FC236}">
                <a16:creationId xmlns:a16="http://schemas.microsoft.com/office/drawing/2014/main" id="{508DACE9-8E9B-49FC-BD4D-9A6BE5A6AD8B}"/>
              </a:ext>
            </a:extLst>
          </p:cNvPr>
          <p:cNvSpPr>
            <a:spLocks xmlns:a="http://schemas.openxmlformats.org/drawingml/2006/main" noGrp="1"/>
          </p:cNvSpPr>
          <p:nvPr/>
        </p:nvSpPr>
        <p:spPr>
          <a:xfrm xmlns:a="http://schemas.openxmlformats.org/drawingml/2006/main" rot="0" flipH="0" flipV="0">
            <a:off x="2532042" y="2173605"/>
            <a:ext cx="7127915"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2100">
                <a:solidFill>
                  <a:schemeClr val="dk1"/>
                </a:solidFill>
                <a:latin typeface="+mn-lt"/>
                <a:ea typeface="+mn-lt"/>
                <a:cs typeface="+mn-lt"/>
              </a:rPr>
              <a:t>Three small MILP phases remove objective degeneracy; CBC returns</a:t>
            </a:r>
          </a:p>
        </p:txBody>
      </p:sp>
      <p:sp>
        <p:nvSpPr>
          <p:cNvPr id="17" name="TextBox 17">
            <a:extLst xmlns:a="http://schemas.openxmlformats.org/drawingml/2006/main">
              <a:ext uri="{FF2B5EF4-FFF2-40B4-BE49-F238E27FC236}">
                <a16:creationId xmlns:a16="http://schemas.microsoft.com/office/drawing/2014/main" id="{B86015DA-407E-4B22-9FD2-E960A034BFFF}"/>
              </a:ext>
            </a:extLst>
          </p:cNvPr>
          <p:cNvSpPr>
            <a:spLocks xmlns:a="http://schemas.openxmlformats.org/drawingml/2006/main" noGrp="1"/>
          </p:cNvSpPr>
          <p:nvPr/>
        </p:nvSpPr>
        <p:spPr>
          <a:xfrm xmlns:a="http://schemas.openxmlformats.org/drawingml/2006/main" rot="0" flipH="0" flipV="0">
            <a:off x="1964950" y="2554605"/>
            <a:ext cx="8262099" cy="4107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2100">
                <a:solidFill>
                  <a:schemeClr val="dk1"/>
                </a:solidFill>
                <a:latin typeface="+mn-lt"/>
                <a:ea typeface="+mn-lt"/>
                <a:cs typeface="+mn-lt"/>
              </a:rPr>
              <a:t>Optimal under configured tolerances — no heuristic needed.</a:t>
            </a:r>
          </a:p>
        </p:txBody>
      </p:sp>
      <p:sp>
        <p:nvSpPr>
          <p:cNvPr id="19" name="Line 19">
            <a:extLst xmlns:a="http://schemas.openxmlformats.org/drawingml/2006/main">
              <a:ext uri="{FF2B5EF4-FFF2-40B4-BE49-F238E27FC236}">
                <a16:creationId xmlns:a16="http://schemas.microsoft.com/office/drawing/2014/main" id="{6E746E5E-9C47-4C2C-A9AC-2AC7FCD14A80}"/>
              </a:ext>
            </a:extLst>
          </p:cNvPr>
          <p:cNvSpPr>
            <a:spLocks xmlns:a="http://schemas.openxmlformats.org/drawingml/2006/main" noGrp="1"/>
          </p:cNvSpPr>
          <p:nvPr/>
        </p:nvSpPr>
        <p:spPr>
          <a:xfrm xmlns:a="http://schemas.openxmlformats.org/drawingml/2006/main" rot="0" flipH="0" flipV="0">
            <a:off x="4238625" y="3733800"/>
            <a:ext cx="9525" cy="1828800"/>
          </a:xfrm>
          <a:custGeom xmlns:a="http://schemas.openxmlformats.org/drawingml/2006/main">
            <a:rect l="l" t="t" r="r" b="b"/>
            <a:pathLst>
              <a:path w="9525" h="1828800">
                <a:moveTo>
                  <a:pt x="0" y="0"/>
                </a:moveTo>
                <a:lnTo>
                  <a:pt x="0" y="182880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20" name="Line 20">
            <a:extLst xmlns:a="http://schemas.openxmlformats.org/drawingml/2006/main">
              <a:ext uri="{FF2B5EF4-FFF2-40B4-BE49-F238E27FC236}">
                <a16:creationId xmlns:a16="http://schemas.microsoft.com/office/drawing/2014/main" id="{40DCD552-BA39-4A18-90A3-47FECC1A1332}"/>
              </a:ext>
            </a:extLst>
          </p:cNvPr>
          <p:cNvSpPr>
            <a:spLocks xmlns:a="http://schemas.openxmlformats.org/drawingml/2006/main" noGrp="1"/>
          </p:cNvSpPr>
          <p:nvPr/>
        </p:nvSpPr>
        <p:spPr>
          <a:xfrm xmlns:a="http://schemas.openxmlformats.org/drawingml/2006/main" rot="0" flipH="0" flipV="0">
            <a:off x="8162925" y="3733800"/>
            <a:ext cx="9525" cy="1828800"/>
          </a:xfrm>
          <a:custGeom xmlns:a="http://schemas.openxmlformats.org/drawingml/2006/main">
            <a:rect l="l" t="t" r="r" b="b"/>
            <a:pathLst>
              <a:path w="9525" h="1828800">
                <a:moveTo>
                  <a:pt x="0" y="0"/>
                </a:moveTo>
                <a:lnTo>
                  <a:pt x="0" y="182880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2DD41BD1-5665-4125-8F5C-3A023088FE91}"/>
              </a:ext>
            </a:extLst>
          </p:cNvPr>
          <p:cNvSpPr>
            <a:spLocks xmlns:a="http://schemas.openxmlformats.org/drawingml/2006/main" noGrp="1"/>
          </p:cNvSpPr>
          <p:nvPr/>
        </p:nvSpPr>
        <p:spPr>
          <a:xfrm xmlns:a="http://schemas.openxmlformats.org/drawingml/2006/main" rot="0" flipH="0" flipV="0">
            <a:off x="440436" y="372046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1</a:t>
            </a:r>
          </a:p>
        </p:txBody>
      </p:sp>
      <p:sp>
        <p:nvSpPr>
          <p:cNvPr id="22" name="TextBox 22">
            <a:extLst xmlns:a="http://schemas.openxmlformats.org/drawingml/2006/main">
              <a:ext uri="{FF2B5EF4-FFF2-40B4-BE49-F238E27FC236}">
                <a16:creationId xmlns:a16="http://schemas.microsoft.com/office/drawing/2014/main" id="{F62BF251-BB6A-4EEB-8F83-3276F1E5A096}"/>
              </a:ext>
            </a:extLst>
          </p:cNvPr>
          <p:cNvSpPr>
            <a:spLocks xmlns:a="http://schemas.openxmlformats.org/drawingml/2006/main" noGrp="1"/>
          </p:cNvSpPr>
          <p:nvPr/>
        </p:nvSpPr>
        <p:spPr>
          <a:xfrm xmlns:a="http://schemas.openxmlformats.org/drawingml/2006/main" rot="0" flipH="0" flipV="0">
            <a:off x="451104" y="4347210"/>
            <a:ext cx="137257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FORMULATION</a:t>
            </a:r>
          </a:p>
        </p:txBody>
      </p:sp>
      <p:sp>
        <p:nvSpPr>
          <p:cNvPr id="23" name="TextBox 23">
            <a:extLst xmlns:a="http://schemas.openxmlformats.org/drawingml/2006/main">
              <a:ext uri="{FF2B5EF4-FFF2-40B4-BE49-F238E27FC236}">
                <a16:creationId xmlns:a16="http://schemas.microsoft.com/office/drawing/2014/main" id="{D74A19FB-6837-4144-B79D-8314E032A224}"/>
              </a:ext>
            </a:extLst>
          </p:cNvPr>
          <p:cNvSpPr>
            <a:spLocks xmlns:a="http://schemas.openxmlformats.org/drawingml/2006/main" noGrp="1"/>
          </p:cNvSpPr>
          <p:nvPr/>
        </p:nvSpPr>
        <p:spPr>
          <a:xfrm xmlns:a="http://schemas.openxmlformats.org/drawingml/2006/main" rot="0" flipH="0" flipV="0">
            <a:off x="449580" y="4638675"/>
            <a:ext cx="2910840" cy="5600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100"/>
              </a:lnSpc>
              <a:buNone/>
            </a:pPr>
            <a:r>
              <a:rPr sz="1500">
                <a:solidFill>
                  <a:srgbClr val="475569"/>
                </a:solidFill>
                <a:latin typeface="+mn-lt"/>
                <a:ea typeface="+mn-lt"/>
                <a:cs typeface="+mn-lt"/>
              </a:rPr>
              <a:t>PuLP builds one MILP; objectives</a:t>
            </a:r>
          </a:p>
          <a:p xmlns:a="http://schemas.openxmlformats.org/drawingml/2006/main">
            <a:pPr algn="l">
              <a:lnSpc>
                <a:spcPts val="2100"/>
              </a:lnSpc>
              <a:buNone/>
            </a:pPr>
            <a:r>
              <a:rPr sz="1500">
                <a:solidFill>
                  <a:srgbClr val="475569"/>
                </a:solidFill>
                <a:latin typeface="+mn-lt"/>
                <a:ea typeface="+mn-lt"/>
                <a:cs typeface="+mn-lt"/>
              </a:rPr>
              <a:t>are solved in ordered phases.</a:t>
            </a:r>
          </a:p>
        </p:txBody>
      </p:sp>
      <p:sp>
        <p:nvSpPr>
          <p:cNvPr id="25" name="TextBox 25">
            <a:extLst xmlns:a="http://schemas.openxmlformats.org/drawingml/2006/main">
              <a:ext uri="{FF2B5EF4-FFF2-40B4-BE49-F238E27FC236}">
                <a16:creationId xmlns:a16="http://schemas.microsoft.com/office/drawing/2014/main" id="{6467F042-B495-4E4E-B62A-DB7762B2ED78}"/>
              </a:ext>
            </a:extLst>
          </p:cNvPr>
          <p:cNvSpPr>
            <a:spLocks xmlns:a="http://schemas.openxmlformats.org/drawingml/2006/main" noGrp="1"/>
          </p:cNvSpPr>
          <p:nvPr/>
        </p:nvSpPr>
        <p:spPr>
          <a:xfrm xmlns:a="http://schemas.openxmlformats.org/drawingml/2006/main" rot="0" flipH="0" flipV="0">
            <a:off x="4517136" y="372046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2</a:t>
            </a:r>
          </a:p>
        </p:txBody>
      </p:sp>
      <p:sp>
        <p:nvSpPr>
          <p:cNvPr id="26" name="TextBox 26">
            <a:extLst xmlns:a="http://schemas.openxmlformats.org/drawingml/2006/main">
              <a:ext uri="{FF2B5EF4-FFF2-40B4-BE49-F238E27FC236}">
                <a16:creationId xmlns:a16="http://schemas.microsoft.com/office/drawing/2014/main" id="{E140A460-610F-4A22-9CF4-931AFEE1ACD0}"/>
              </a:ext>
            </a:extLst>
          </p:cNvPr>
          <p:cNvSpPr>
            <a:spLocks xmlns:a="http://schemas.openxmlformats.org/drawingml/2006/main" noGrp="1"/>
          </p:cNvSpPr>
          <p:nvPr/>
        </p:nvSpPr>
        <p:spPr>
          <a:xfrm xmlns:a="http://schemas.openxmlformats.org/drawingml/2006/main" rot="0" flipH="0" flipV="0">
            <a:off x="4527804" y="4347210"/>
            <a:ext cx="109691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ALGORITHM</a:t>
            </a:r>
          </a:p>
        </p:txBody>
      </p:sp>
      <p:sp>
        <p:nvSpPr>
          <p:cNvPr id="27" name="TextBox 27">
            <a:extLst xmlns:a="http://schemas.openxmlformats.org/drawingml/2006/main">
              <a:ext uri="{FF2B5EF4-FFF2-40B4-BE49-F238E27FC236}">
                <a16:creationId xmlns:a16="http://schemas.microsoft.com/office/drawing/2014/main" id="{9C205C88-7363-4E7B-B406-886E12D901B2}"/>
              </a:ext>
            </a:extLst>
          </p:cNvPr>
          <p:cNvSpPr>
            <a:spLocks xmlns:a="http://schemas.openxmlformats.org/drawingml/2006/main" noGrp="1"/>
          </p:cNvSpPr>
          <p:nvPr/>
        </p:nvSpPr>
        <p:spPr>
          <a:xfrm xmlns:a="http://schemas.openxmlformats.org/drawingml/2006/main" rot="0" flipH="0" flipV="0">
            <a:off x="4526280" y="4638675"/>
            <a:ext cx="3015615" cy="826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100"/>
              </a:lnSpc>
              <a:buNone/>
            </a:pPr>
            <a:r>
              <a:rPr sz="1500">
                <a:solidFill>
                  <a:srgbClr val="475569"/>
                </a:solidFill>
                <a:latin typeface="+mn-lt"/>
                <a:ea typeface="+mn-lt"/>
                <a:cs typeface="+mn-lt"/>
              </a:rPr>
              <a:t>1) maximize coverage</a:t>
            </a:r>
          </a:p>
          <a:p xmlns:a="http://schemas.openxmlformats.org/drawingml/2006/main">
            <a:pPr algn="l">
              <a:lnSpc>
                <a:spcPts val="2100"/>
              </a:lnSpc>
              <a:buNone/>
            </a:pPr>
            <a:r>
              <a:rPr sz="1500">
                <a:solidFill>
                  <a:srgbClr val="475569"/>
                </a:solidFill>
                <a:latin typeface="+mn-lt"/>
                <a:ea typeface="+mn-lt"/>
                <a:cs typeface="+mn-lt"/>
              </a:rPr>
              <a:t>2) minimize cost</a:t>
            </a:r>
          </a:p>
          <a:p xmlns:a="http://schemas.openxmlformats.org/drawingml/2006/main">
            <a:pPr algn="l">
              <a:lnSpc>
                <a:spcPts val="2100"/>
              </a:lnSpc>
              <a:buNone/>
            </a:pPr>
            <a:r>
              <a:rPr sz="1500">
                <a:solidFill>
                  <a:srgbClr val="475569"/>
                </a:solidFill>
                <a:latin typeface="+mn-lt"/>
                <a:ea typeface="+mn-lt"/>
                <a:cs typeface="+mn-lt"/>
              </a:rPr>
              <a:t>3) minimize distance</a:t>
            </a:r>
          </a:p>
        </p:txBody>
      </p:sp>
      <p:sp>
        <p:nvSpPr>
          <p:cNvPr id="29" name="TextBox 29">
            <a:extLst xmlns:a="http://schemas.openxmlformats.org/drawingml/2006/main">
              <a:ext uri="{FF2B5EF4-FFF2-40B4-BE49-F238E27FC236}">
                <a16:creationId xmlns:a16="http://schemas.microsoft.com/office/drawing/2014/main" id="{C6182A61-37B6-4398-8573-7BD92BB07D22}"/>
              </a:ext>
            </a:extLst>
          </p:cNvPr>
          <p:cNvSpPr>
            <a:spLocks xmlns:a="http://schemas.openxmlformats.org/drawingml/2006/main" noGrp="1"/>
          </p:cNvSpPr>
          <p:nvPr/>
        </p:nvSpPr>
        <p:spPr>
          <a:xfrm xmlns:a="http://schemas.openxmlformats.org/drawingml/2006/main" rot="0" flipH="0" flipV="0">
            <a:off x="8441436" y="372046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3</a:t>
            </a:r>
          </a:p>
        </p:txBody>
      </p:sp>
      <p:sp>
        <p:nvSpPr>
          <p:cNvPr id="30" name="TextBox 30">
            <a:extLst xmlns:a="http://schemas.openxmlformats.org/drawingml/2006/main">
              <a:ext uri="{FF2B5EF4-FFF2-40B4-BE49-F238E27FC236}">
                <a16:creationId xmlns:a16="http://schemas.microsoft.com/office/drawing/2014/main" id="{128CB3DA-30F0-4FB4-B626-58199418B59B}"/>
              </a:ext>
            </a:extLst>
          </p:cNvPr>
          <p:cNvSpPr>
            <a:spLocks xmlns:a="http://schemas.openxmlformats.org/drawingml/2006/main" noGrp="1"/>
          </p:cNvSpPr>
          <p:nvPr/>
        </p:nvSpPr>
        <p:spPr>
          <a:xfrm xmlns:a="http://schemas.openxmlformats.org/drawingml/2006/main" rot="0" flipH="0" flipV="0">
            <a:off x="8452104" y="4347210"/>
            <a:ext cx="184111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WHY EXACT IS FINE</a:t>
            </a:r>
          </a:p>
        </p:txBody>
      </p:sp>
      <p:sp>
        <p:nvSpPr>
          <p:cNvPr id="31" name="TextBox 31">
            <a:extLst xmlns:a="http://schemas.openxmlformats.org/drawingml/2006/main">
              <a:ext uri="{FF2B5EF4-FFF2-40B4-BE49-F238E27FC236}">
                <a16:creationId xmlns:a16="http://schemas.microsoft.com/office/drawing/2014/main" id="{D10EF017-D303-4394-B56B-CB4FDE4547E5}"/>
              </a:ext>
            </a:extLst>
          </p:cNvPr>
          <p:cNvSpPr>
            <a:spLocks xmlns:a="http://schemas.openxmlformats.org/drawingml/2006/main" noGrp="1"/>
          </p:cNvSpPr>
          <p:nvPr/>
        </p:nvSpPr>
        <p:spPr>
          <a:xfrm xmlns:a="http://schemas.openxmlformats.org/drawingml/2006/main" rot="0" flipH="0" flipV="0">
            <a:off x="8450580" y="4638675"/>
            <a:ext cx="2663190" cy="8267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100"/>
              </a:lnSpc>
              <a:buNone/>
            </a:pPr>
            <a:r>
              <a:rPr sz="1500">
                <a:solidFill>
                  <a:srgbClr val="475569"/>
                </a:solidFill>
                <a:latin typeface="+mn-lt"/>
                <a:ea typeface="+mn-lt"/>
                <a:cs typeface="+mn-lt"/>
              </a:rPr>
              <a:t>20 binary + 900 continuous</a:t>
            </a:r>
          </a:p>
          <a:p xmlns:a="http://schemas.openxmlformats.org/drawingml/2006/main">
            <a:pPr algn="l">
              <a:lnSpc>
                <a:spcPts val="2100"/>
              </a:lnSpc>
              <a:buNone/>
            </a:pPr>
            <a:r>
              <a:rPr sz="1500">
                <a:solidFill>
                  <a:srgbClr val="475569"/>
                </a:solidFill>
                <a:latin typeface="+mn-lt"/>
                <a:ea typeface="+mn-lt"/>
                <a:cs typeface="+mn-lt"/>
              </a:rPr>
              <a:t>vars and ~966 constraints</a:t>
            </a:r>
          </a:p>
          <a:p xmlns:a="http://schemas.openxmlformats.org/drawingml/2006/main">
            <a:pPr algn="l">
              <a:lnSpc>
                <a:spcPts val="2100"/>
              </a:lnSpc>
              <a:buNone/>
            </a:pPr>
            <a:r>
              <a:rPr sz="1500">
                <a:solidFill>
                  <a:srgbClr val="475569"/>
                </a:solidFill>
                <a:latin typeface="+mn-lt"/>
                <a:ea typeface="+mn-lt"/>
                <a:cs typeface="+mn-lt"/>
              </a:rPr>
              <a:t>baseline solves in ~1.3 s.</a:t>
            </a:r>
          </a:p>
        </p:txBody>
      </p:sp>
      <p:sp>
        <p:nvSpPr>
          <p:cNvPr id="34" name="Rectangle 34">
            <a:extLst xmlns:a="http://schemas.openxmlformats.org/drawingml/2006/main">
              <a:ext uri="{FF2B5EF4-FFF2-40B4-BE49-F238E27FC236}">
                <a16:creationId xmlns:a16="http://schemas.microsoft.com/office/drawing/2014/main" id="{CE8B4496-8EA8-467D-962B-98038AA32CBE}"/>
              </a:ext>
            </a:extLst>
          </p:cNvPr>
          <p:cNvSpPr>
            <a:spLocks xmlns:a="http://schemas.openxmlformats.org/drawingml/2006/main" noGrp="1"/>
          </p:cNvSpPr>
          <p:nvPr/>
        </p:nvSpPr>
        <p:spPr>
          <a:xfrm xmlns:a="http://schemas.openxmlformats.org/drawingml/2006/main" rot="0" flipH="0" flipV="0">
            <a:off x="457200" y="5829300"/>
            <a:ext cx="11277600" cy="419100"/>
          </a:xfrm>
          <a:prstGeom xmlns:a="http://schemas.openxmlformats.org/drawingml/2006/main" prst="roundRect">
            <a:avLst>
              <a:gd name="adj" fmla="val 18182"/>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5" name="TextBox 35">
            <a:extLst xmlns:a="http://schemas.openxmlformats.org/drawingml/2006/main">
              <a:ext uri="{FF2B5EF4-FFF2-40B4-BE49-F238E27FC236}">
                <a16:creationId xmlns:a16="http://schemas.microsoft.com/office/drawing/2014/main" id="{8676BC3E-D438-4812-AACF-9E2D865F1B56}"/>
              </a:ext>
            </a:extLst>
          </p:cNvPr>
          <p:cNvSpPr>
            <a:spLocks xmlns:a="http://schemas.openxmlformats.org/drawingml/2006/main" noGrp="1"/>
          </p:cNvSpPr>
          <p:nvPr/>
        </p:nvSpPr>
        <p:spPr>
          <a:xfrm xmlns:a="http://schemas.openxmlformats.org/drawingml/2006/main" rot="0" flipH="0" flipV="0">
            <a:off x="1981283" y="5958364"/>
            <a:ext cx="8229435"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80">
                <a:solidFill>
                  <a:srgbClr val="475569"/>
                </a:solidFill>
                <a:latin typeface="+mn-lt"/>
                <a:ea typeface="+mn-lt"/>
                <a:cs typeface="+mn-lt"/>
              </a:rPr>
              <a:t>CBC status is reported as Optimal; no unsupported 0.0% gap claim is made.</a:t>
            </a:r>
          </a:p>
        </p:txBody>
      </p:sp>
      <p:sp>
        <p:nvSpPr>
          <p:cNvPr id="37" name="Line 37">
            <a:extLst xmlns:a="http://schemas.openxmlformats.org/drawingml/2006/main">
              <a:ext uri="{FF2B5EF4-FFF2-40B4-BE49-F238E27FC236}">
                <a16:creationId xmlns:a16="http://schemas.microsoft.com/office/drawing/2014/main" id="{8A1D1163-EF16-4E38-B3C0-CED18BED61D6}"/>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8" name="TextBox 38">
            <a:extLst xmlns:a="http://schemas.openxmlformats.org/drawingml/2006/main">
              <a:ext uri="{FF2B5EF4-FFF2-40B4-BE49-F238E27FC236}">
                <a16:creationId xmlns:a16="http://schemas.microsoft.com/office/drawing/2014/main" id="{3DD9F69A-80AB-4E1A-936E-3DF3DF74D605}"/>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39" name="TextBox 39">
            <a:extLst xmlns:a="http://schemas.openxmlformats.org/drawingml/2006/main">
              <a:ext uri="{FF2B5EF4-FFF2-40B4-BE49-F238E27FC236}">
                <a16:creationId xmlns:a16="http://schemas.microsoft.com/office/drawing/2014/main" id="{3FD66B71-FF7B-41D1-B25F-9434394A2735}"/>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05 / 14</a:t>
            </a:r>
          </a:p>
        </p:txBody>
      </p:sp>
    </p:spTree>
    <p:extLst>
      <p:ext uri="{BB962C8B-B14F-4D97-AF65-F5344CB8AC3E}">
        <p14:creationId xmlns:p14="http://schemas.microsoft.com/office/powerpoint/2010/main" val="122838507"/>
      </p:ext>
    </p:extLst>
  </p:cSld>
</p:sld>
</file>

<file path=ppt/slides/slide6.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E553D3FF-6845-4451-9B6F-7268DD927AFB}"/>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51B5EFED-CFF3-44C7-A31E-774443281B01}"/>
              </a:ext>
            </a:extLst>
          </p:cNvPr>
          <p:cNvSpPr>
            <a:spLocks xmlns:a="http://schemas.openxmlformats.org/drawingml/2006/main" noGrp="1"/>
          </p:cNvSpPr>
          <p:nvPr/>
        </p:nvSpPr>
        <p:spPr>
          <a:xfrm xmlns:a="http://schemas.openxmlformats.org/drawingml/2006/main" rot="0" flipH="0" flipV="0">
            <a:off x="451104" y="708660"/>
            <a:ext cx="3933322"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06 · IMPLEMENTATION &amp; REQUIREMENTS</a:t>
            </a:r>
          </a:p>
        </p:txBody>
      </p:sp>
      <p:sp>
        <p:nvSpPr>
          <p:cNvPr id="4" name="TextBox 4">
            <a:extLst xmlns:a="http://schemas.openxmlformats.org/drawingml/2006/main">
              <a:ext uri="{FF2B5EF4-FFF2-40B4-BE49-F238E27FC236}">
                <a16:creationId xmlns:a16="http://schemas.microsoft.com/office/drawing/2014/main" id="{588C69DE-FC8D-4B17-87BB-97A787B6D279}"/>
              </a:ext>
            </a:extLst>
          </p:cNvPr>
          <p:cNvSpPr>
            <a:spLocks xmlns:a="http://schemas.openxmlformats.org/drawingml/2006/main" noGrp="1"/>
          </p:cNvSpPr>
          <p:nvPr/>
        </p:nvSpPr>
        <p:spPr>
          <a:xfrm xmlns:a="http://schemas.openxmlformats.org/drawingml/2006/main" rot="0" flipH="0" flipV="0">
            <a:off x="441960" y="895350"/>
            <a:ext cx="6808305"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A snapshot-based, reproducible workflow</a:t>
            </a:r>
          </a:p>
        </p:txBody>
      </p:sp>
      <p:sp>
        <p:nvSpPr>
          <p:cNvPr id="6" name="Rectangle 6">
            <a:extLst xmlns:a="http://schemas.openxmlformats.org/drawingml/2006/main">
              <a:ext uri="{FF2B5EF4-FFF2-40B4-BE49-F238E27FC236}">
                <a16:creationId xmlns:a16="http://schemas.microsoft.com/office/drawing/2014/main" id="{6C738DC0-D86A-46F1-89CF-C38ABB08C543}"/>
              </a:ext>
            </a:extLst>
          </p:cNvPr>
          <p:cNvSpPr>
            <a:spLocks xmlns:a="http://schemas.openxmlformats.org/drawingml/2006/main" noGrp="1"/>
          </p:cNvSpPr>
          <p:nvPr/>
        </p:nvSpPr>
        <p:spPr>
          <a:xfrm xmlns:a="http://schemas.openxmlformats.org/drawingml/2006/main" rot="0" flipH="0" flipV="0">
            <a:off x="457200" y="1771650"/>
            <a:ext cx="3276600" cy="1143000"/>
          </a:xfrm>
          <a:prstGeom xmlns:a="http://schemas.openxmlformats.org/drawingml/2006/main" prst="roundRect">
            <a:avLst>
              <a:gd name="adj" fmla="val 8333"/>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7" name="Rectangle 7">
            <a:extLst xmlns:a="http://schemas.openxmlformats.org/drawingml/2006/main">
              <a:ext uri="{FF2B5EF4-FFF2-40B4-BE49-F238E27FC236}">
                <a16:creationId xmlns:a16="http://schemas.microsoft.com/office/drawing/2014/main" id="{41909D1C-9B2A-47BB-B21A-D7928B81D935}"/>
              </a:ext>
            </a:extLst>
          </p:cNvPr>
          <p:cNvSpPr>
            <a:spLocks xmlns:a="http://schemas.openxmlformats.org/drawingml/2006/main" noGrp="1"/>
          </p:cNvSpPr>
          <p:nvPr/>
        </p:nvSpPr>
        <p:spPr>
          <a:xfrm xmlns:a="http://schemas.openxmlformats.org/drawingml/2006/main" rot="0" flipH="0" flipV="0">
            <a:off x="457200" y="1771650"/>
            <a:ext cx="57150" cy="1143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8" name="TextBox 8">
            <a:extLst xmlns:a="http://schemas.openxmlformats.org/drawingml/2006/main">
              <a:ext uri="{FF2B5EF4-FFF2-40B4-BE49-F238E27FC236}">
                <a16:creationId xmlns:a16="http://schemas.microsoft.com/office/drawing/2014/main" id="{132D3CC6-5D7E-4332-8C3C-B83CB1561057}"/>
              </a:ext>
            </a:extLst>
          </p:cNvPr>
          <p:cNvSpPr>
            <a:spLocks xmlns:a="http://schemas.openxmlformats.org/drawingml/2006/main" noGrp="1"/>
          </p:cNvSpPr>
          <p:nvPr/>
        </p:nvSpPr>
        <p:spPr>
          <a:xfrm xmlns:a="http://schemas.openxmlformats.org/drawingml/2006/main" rot="0" flipH="0" flipV="0">
            <a:off x="677418" y="1993582"/>
            <a:ext cx="1556076"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Consolas"/>
                <a:ea typeface="Consolas"/>
                <a:cs typeface="Consolas"/>
              </a:rPr>
              <a:t>data_prep.py</a:t>
            </a:r>
          </a:p>
        </p:txBody>
      </p:sp>
      <p:sp>
        <p:nvSpPr>
          <p:cNvPr id="9" name="TextBox 9">
            <a:extLst xmlns:a="http://schemas.openxmlformats.org/drawingml/2006/main">
              <a:ext uri="{FF2B5EF4-FFF2-40B4-BE49-F238E27FC236}">
                <a16:creationId xmlns:a16="http://schemas.microsoft.com/office/drawing/2014/main" id="{DFF887AB-F7D3-4735-BEAE-5A992DD98C6F}"/>
              </a:ext>
            </a:extLst>
          </p:cNvPr>
          <p:cNvSpPr>
            <a:spLocks xmlns:a="http://schemas.openxmlformats.org/drawingml/2006/main" noGrp="1"/>
          </p:cNvSpPr>
          <p:nvPr/>
        </p:nvSpPr>
        <p:spPr>
          <a:xfrm xmlns:a="http://schemas.openxmlformats.org/drawingml/2006/main" rot="0" flipH="0" flipV="0">
            <a:off x="679323" y="2357914"/>
            <a:ext cx="2524506" cy="477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1800"/>
              </a:lnSpc>
              <a:buNone/>
            </a:pPr>
            <a:r>
              <a:rPr sz="1280">
                <a:solidFill>
                  <a:srgbClr val="475569"/>
                </a:solidFill>
                <a:latin typeface="+mn-lt"/>
                <a:ea typeface="+mn-lt"/>
                <a:cs typeface="+mn-lt"/>
              </a:rPr>
              <a:t>loads City licenses + ACS + boundaries;</a:t>
            </a:r>
          </a:p>
          <a:p xmlns:a="http://schemas.openxmlformats.org/drawingml/2006/main">
            <a:pPr algn="l">
              <a:lnSpc>
                <a:spcPts val="1800"/>
              </a:lnSpc>
              <a:buNone/>
            </a:pPr>
            <a:r>
              <a:rPr sz="1280">
                <a:solidFill>
                  <a:srgbClr val="475569"/>
                </a:solidFill>
                <a:latin typeface="+mn-lt"/>
                <a:ea typeface="+mn-lt"/>
                <a:cs typeface="+mn-lt"/>
              </a:rPr>
              <a:t>builds sites, demand and distance</a:t>
            </a:r>
          </a:p>
        </p:txBody>
      </p:sp>
      <p:sp>
        <p:nvSpPr>
          <p:cNvPr id="11" name="Line 11">
            <a:extLst xmlns:a="http://schemas.openxmlformats.org/drawingml/2006/main">
              <a:ext uri="{FF2B5EF4-FFF2-40B4-BE49-F238E27FC236}">
                <a16:creationId xmlns:a16="http://schemas.microsoft.com/office/drawing/2014/main" id="{304764FF-6F54-4A00-983E-0A25675D165C}"/>
              </a:ext>
            </a:extLst>
          </p:cNvPr>
          <p:cNvSpPr>
            <a:spLocks xmlns:a="http://schemas.openxmlformats.org/drawingml/2006/main" noGrp="1"/>
          </p:cNvSpPr>
          <p:nvPr/>
        </p:nvSpPr>
        <p:spPr>
          <a:xfrm xmlns:a="http://schemas.openxmlformats.org/drawingml/2006/main" rot="0" flipH="0" flipV="0">
            <a:off x="3790950" y="2343150"/>
            <a:ext cx="609600" cy="1"/>
          </a:xfrm>
          <a:prstGeom xmlns:a="http://schemas.openxmlformats.org/drawingml/2006/main" prst="line">
            <a:avLst/>
          </a:prstGeom>
          <a:noFill xmlns:a="http://schemas.openxmlformats.org/drawingml/2006/main"/>
          <a:ln xmlns:a="http://schemas.openxmlformats.org/drawingml/2006/main" w="19050">
            <a:solidFill>
              <a:schemeClr val="accent1"/>
            </a:solidFill>
            <a:tailEnd type="triangle" w="lg" len="lg"/>
          </a:ln>
        </p:spPr>
        <p:txBody>
          <a:bodyPr xmlns:a="http://schemas.openxmlformats.org/drawingml/2006/main"/>
          <a:lstStyle xmlns:a="http://schemas.openxmlformats.org/drawingml/2006/main"/>
          <a:p xmlns:a="http://schemas.openxmlformats.org/drawingml/2006/main">
            <a:endParaRPr/>
          </a:p>
        </p:txBody>
      </p:sp>
      <p:sp>
        <p:nvSpPr>
          <p:cNvPr id="12" name="Rectangle 12">
            <a:extLst xmlns:a="http://schemas.openxmlformats.org/drawingml/2006/main">
              <a:ext uri="{FF2B5EF4-FFF2-40B4-BE49-F238E27FC236}">
                <a16:creationId xmlns:a16="http://schemas.microsoft.com/office/drawing/2014/main" id="{5515E8A8-FFA9-4516-B9A6-54663D74F7D1}"/>
              </a:ext>
            </a:extLst>
          </p:cNvPr>
          <p:cNvSpPr>
            <a:spLocks xmlns:a="http://schemas.openxmlformats.org/drawingml/2006/main" noGrp="1"/>
          </p:cNvSpPr>
          <p:nvPr/>
        </p:nvSpPr>
        <p:spPr>
          <a:xfrm xmlns:a="http://schemas.openxmlformats.org/drawingml/2006/main" rot="0" flipH="0" flipV="0">
            <a:off x="4457700" y="1771650"/>
            <a:ext cx="3276600" cy="1143000"/>
          </a:xfrm>
          <a:prstGeom xmlns:a="http://schemas.openxmlformats.org/drawingml/2006/main" prst="roundRect">
            <a:avLst>
              <a:gd name="adj" fmla="val 8333"/>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3" name="Rectangle 13">
            <a:extLst xmlns:a="http://schemas.openxmlformats.org/drawingml/2006/main">
              <a:ext uri="{FF2B5EF4-FFF2-40B4-BE49-F238E27FC236}">
                <a16:creationId xmlns:a16="http://schemas.microsoft.com/office/drawing/2014/main" id="{4EEF1D87-92D8-4657-8CFC-6566240E2567}"/>
              </a:ext>
            </a:extLst>
          </p:cNvPr>
          <p:cNvSpPr>
            <a:spLocks xmlns:a="http://schemas.openxmlformats.org/drawingml/2006/main" noGrp="1"/>
          </p:cNvSpPr>
          <p:nvPr/>
        </p:nvSpPr>
        <p:spPr>
          <a:xfrm xmlns:a="http://schemas.openxmlformats.org/drawingml/2006/main" rot="0" flipH="0" flipV="0">
            <a:off x="4457700" y="1771650"/>
            <a:ext cx="57150" cy="1143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4" name="TextBox 14">
            <a:extLst xmlns:a="http://schemas.openxmlformats.org/drawingml/2006/main">
              <a:ext uri="{FF2B5EF4-FFF2-40B4-BE49-F238E27FC236}">
                <a16:creationId xmlns:a16="http://schemas.microsoft.com/office/drawing/2014/main" id="{47E06A0B-CDAD-4ABC-A907-0205E488101B}"/>
              </a:ext>
            </a:extLst>
          </p:cNvPr>
          <p:cNvSpPr>
            <a:spLocks xmlns:a="http://schemas.openxmlformats.org/drawingml/2006/main" noGrp="1"/>
          </p:cNvSpPr>
          <p:nvPr/>
        </p:nvSpPr>
        <p:spPr>
          <a:xfrm xmlns:a="http://schemas.openxmlformats.org/drawingml/2006/main" rot="0" flipH="0" flipV="0">
            <a:off x="4677918" y="1993582"/>
            <a:ext cx="1031311"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Consolas"/>
                <a:ea typeface="Consolas"/>
                <a:cs typeface="Consolas"/>
              </a:rPr>
              <a:t>model.py</a:t>
            </a:r>
          </a:p>
        </p:txBody>
      </p:sp>
      <p:sp>
        <p:nvSpPr>
          <p:cNvPr id="15" name="TextBox 15">
            <a:extLst xmlns:a="http://schemas.openxmlformats.org/drawingml/2006/main">
              <a:ext uri="{FF2B5EF4-FFF2-40B4-BE49-F238E27FC236}">
                <a16:creationId xmlns:a16="http://schemas.microsoft.com/office/drawing/2014/main" id="{1D8BA0D0-E648-42A3-BCF1-E45717B9A6BC}"/>
              </a:ext>
            </a:extLst>
          </p:cNvPr>
          <p:cNvSpPr>
            <a:spLocks xmlns:a="http://schemas.openxmlformats.org/drawingml/2006/main" noGrp="1"/>
          </p:cNvSpPr>
          <p:nvPr/>
        </p:nvSpPr>
        <p:spPr>
          <a:xfrm xmlns:a="http://schemas.openxmlformats.org/drawingml/2006/main" rot="0" flipH="0" flipV="0">
            <a:off x="4679823" y="2357914"/>
            <a:ext cx="2004314" cy="477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1800"/>
              </a:lnSpc>
              <a:buNone/>
            </a:pPr>
            <a:r>
              <a:rPr sz="1280">
                <a:solidFill>
                  <a:srgbClr val="475569"/>
                </a:solidFill>
                <a:latin typeface="+mn-lt"/>
                <a:ea typeface="+mn-lt"/>
                <a:cs typeface="+mn-lt"/>
              </a:rPr>
              <a:t>solve_model() — the one</a:t>
            </a:r>
            <a:br/>
            <a:r>
              <a:rPr sz="1280">
                <a:solidFill>
                  <a:srgbClr val="475569"/>
                </a:solidFill>
                <a:latin typeface="+mn-lt"/>
                <a:ea typeface="+mn-lt"/>
                <a:cs typeface="+mn-lt"/>
              </a:rPr>
              <a:t>function everything calls</a:t>
            </a:r>
          </a:p>
        </p:txBody>
      </p:sp>
      <p:sp>
        <p:nvSpPr>
          <p:cNvPr id="17" name="Line 17">
            <a:extLst xmlns:a="http://schemas.openxmlformats.org/drawingml/2006/main">
              <a:ext uri="{FF2B5EF4-FFF2-40B4-BE49-F238E27FC236}">
                <a16:creationId xmlns:a16="http://schemas.microsoft.com/office/drawing/2014/main" id="{AED3CB3B-59B9-40C5-BC20-44DCE2357B64}"/>
              </a:ext>
            </a:extLst>
          </p:cNvPr>
          <p:cNvSpPr>
            <a:spLocks xmlns:a="http://schemas.openxmlformats.org/drawingml/2006/main" noGrp="1"/>
          </p:cNvSpPr>
          <p:nvPr/>
        </p:nvSpPr>
        <p:spPr>
          <a:xfrm xmlns:a="http://schemas.openxmlformats.org/drawingml/2006/main" rot="0" flipH="0" flipV="0">
            <a:off x="7791450" y="2343150"/>
            <a:ext cx="609600" cy="1"/>
          </a:xfrm>
          <a:prstGeom xmlns:a="http://schemas.openxmlformats.org/drawingml/2006/main" prst="line">
            <a:avLst/>
          </a:prstGeom>
          <a:noFill xmlns:a="http://schemas.openxmlformats.org/drawingml/2006/main"/>
          <a:ln xmlns:a="http://schemas.openxmlformats.org/drawingml/2006/main" w="19050">
            <a:solidFill>
              <a:schemeClr val="accent1"/>
            </a:solidFill>
            <a:tailEnd type="triangle" w="lg" len="lg"/>
          </a:ln>
        </p:spPr>
        <p:txBody>
          <a:bodyPr xmlns:a="http://schemas.openxmlformats.org/drawingml/2006/main"/>
          <a:lstStyle xmlns:a="http://schemas.openxmlformats.org/drawingml/2006/main"/>
          <a:p xmlns:a="http://schemas.openxmlformats.org/drawingml/2006/main">
            <a:endParaRPr/>
          </a:p>
        </p:txBody>
      </p:sp>
      <p:sp>
        <p:nvSpPr>
          <p:cNvPr id="18" name="Rectangle 18">
            <a:extLst xmlns:a="http://schemas.openxmlformats.org/drawingml/2006/main">
              <a:ext uri="{FF2B5EF4-FFF2-40B4-BE49-F238E27FC236}">
                <a16:creationId xmlns:a16="http://schemas.microsoft.com/office/drawing/2014/main" id="{48FD1044-0BAB-4D69-90BA-9D52D28E573A}"/>
              </a:ext>
            </a:extLst>
          </p:cNvPr>
          <p:cNvSpPr>
            <a:spLocks xmlns:a="http://schemas.openxmlformats.org/drawingml/2006/main" noGrp="1"/>
          </p:cNvSpPr>
          <p:nvPr/>
        </p:nvSpPr>
        <p:spPr>
          <a:xfrm xmlns:a="http://schemas.openxmlformats.org/drawingml/2006/main" rot="0" flipH="0" flipV="0">
            <a:off x="8458200" y="1771650"/>
            <a:ext cx="3276600" cy="1143000"/>
          </a:xfrm>
          <a:prstGeom xmlns:a="http://schemas.openxmlformats.org/drawingml/2006/main" prst="roundRect">
            <a:avLst>
              <a:gd name="adj" fmla="val 8333"/>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9" name="Rectangle 19">
            <a:extLst xmlns:a="http://schemas.openxmlformats.org/drawingml/2006/main">
              <a:ext uri="{FF2B5EF4-FFF2-40B4-BE49-F238E27FC236}">
                <a16:creationId xmlns:a16="http://schemas.microsoft.com/office/drawing/2014/main" id="{7BA8DEED-42FC-47F3-851A-206256832196}"/>
              </a:ext>
            </a:extLst>
          </p:cNvPr>
          <p:cNvSpPr>
            <a:spLocks xmlns:a="http://schemas.openxmlformats.org/drawingml/2006/main" noGrp="1"/>
          </p:cNvSpPr>
          <p:nvPr/>
        </p:nvSpPr>
        <p:spPr>
          <a:xfrm xmlns:a="http://schemas.openxmlformats.org/drawingml/2006/main" rot="0" flipH="0" flipV="0">
            <a:off x="8458200" y="1771650"/>
            <a:ext cx="57150" cy="11430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0" name="TextBox 20">
            <a:extLst xmlns:a="http://schemas.openxmlformats.org/drawingml/2006/main">
              <a:ext uri="{FF2B5EF4-FFF2-40B4-BE49-F238E27FC236}">
                <a16:creationId xmlns:a16="http://schemas.microsoft.com/office/drawing/2014/main" id="{665B06C6-92CA-4255-8045-1B7C5CD18D3F}"/>
              </a:ext>
            </a:extLst>
          </p:cNvPr>
          <p:cNvSpPr>
            <a:spLocks xmlns:a="http://schemas.openxmlformats.org/drawingml/2006/main" noGrp="1"/>
          </p:cNvSpPr>
          <p:nvPr/>
        </p:nvSpPr>
        <p:spPr>
          <a:xfrm xmlns:a="http://schemas.openxmlformats.org/drawingml/2006/main" rot="0" flipH="0" flipV="0">
            <a:off x="8678418" y="1993582"/>
            <a:ext cx="1042972"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Consolas"/>
                <a:ea typeface="Consolas"/>
                <a:cs typeface="Consolas"/>
              </a:rPr>
              <a:t>notebook</a:t>
            </a:r>
          </a:p>
        </p:txBody>
      </p:sp>
      <p:sp>
        <p:nvSpPr>
          <p:cNvPr id="21" name="TextBox 21">
            <a:extLst xmlns:a="http://schemas.openxmlformats.org/drawingml/2006/main">
              <a:ext uri="{FF2B5EF4-FFF2-40B4-BE49-F238E27FC236}">
                <a16:creationId xmlns:a16="http://schemas.microsoft.com/office/drawing/2014/main" id="{7070191D-9CB6-4A62-9647-117BD29616C9}"/>
              </a:ext>
            </a:extLst>
          </p:cNvPr>
          <p:cNvSpPr>
            <a:spLocks xmlns:a="http://schemas.openxmlformats.org/drawingml/2006/main" noGrp="1"/>
          </p:cNvSpPr>
          <p:nvPr/>
        </p:nvSpPr>
        <p:spPr>
          <a:xfrm xmlns:a="http://schemas.openxmlformats.org/drawingml/2006/main" rot="0" flipH="0" flipV="0">
            <a:off x="8680323" y="2357914"/>
            <a:ext cx="1679194" cy="4779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1800"/>
              </a:lnSpc>
              <a:buNone/>
            </a:pPr>
            <a:r>
              <a:rPr sz="1280">
                <a:solidFill>
                  <a:srgbClr val="475569"/>
                </a:solidFill>
                <a:latin typeface="+mn-lt"/>
                <a:ea typeface="+mn-lt"/>
                <a:cs typeface="+mn-lt"/>
              </a:rPr>
              <a:t>baseline + corrected sweeps +</a:t>
            </a:r>
          </a:p>
          <a:p xmlns:a="http://schemas.openxmlformats.org/drawingml/2006/main">
            <a:pPr algn="l">
              <a:lnSpc>
                <a:spcPts val="1800"/>
              </a:lnSpc>
              <a:buNone/>
            </a:pPr>
            <a:r>
              <a:rPr sz="1280">
                <a:solidFill>
                  <a:srgbClr val="475569"/>
                </a:solidFill>
                <a:latin typeface="+mn-lt"/>
                <a:ea typeface="+mn-lt"/>
                <a:cs typeface="+mn-lt"/>
              </a:rPr>
              <a:t>validation + recommend()</a:t>
            </a:r>
          </a:p>
        </p:txBody>
      </p:sp>
      <p:sp>
        <p:nvSpPr>
          <p:cNvPr id="24" name="TextBox 24">
            <a:extLst xmlns:a="http://schemas.openxmlformats.org/drawingml/2006/main">
              <a:ext uri="{FF2B5EF4-FFF2-40B4-BE49-F238E27FC236}">
                <a16:creationId xmlns:a16="http://schemas.microsoft.com/office/drawing/2014/main" id="{21046888-41D3-4481-8E9D-105F4F7520BD}"/>
              </a:ext>
            </a:extLst>
          </p:cNvPr>
          <p:cNvSpPr>
            <a:spLocks xmlns:a="http://schemas.openxmlformats.org/drawingml/2006/main" noGrp="1"/>
          </p:cNvSpPr>
          <p:nvPr/>
        </p:nvSpPr>
        <p:spPr>
          <a:xfrm xmlns:a="http://schemas.openxmlformats.org/drawingml/2006/main" rot="0" flipH="0" flipV="0">
            <a:off x="451104" y="3509010"/>
            <a:ext cx="176259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MODELING CHOICE</a:t>
            </a:r>
          </a:p>
        </p:txBody>
      </p:sp>
      <p:sp>
        <p:nvSpPr>
          <p:cNvPr id="25" name="TextBox 25">
            <a:extLst xmlns:a="http://schemas.openxmlformats.org/drawingml/2006/main">
              <a:ext uri="{FF2B5EF4-FFF2-40B4-BE49-F238E27FC236}">
                <a16:creationId xmlns:a16="http://schemas.microsoft.com/office/drawing/2014/main" id="{05A67E3B-2ABD-4326-B4D1-BAE194EC026B}"/>
              </a:ext>
            </a:extLst>
          </p:cNvPr>
          <p:cNvSpPr>
            <a:spLocks xmlns:a="http://schemas.openxmlformats.org/drawingml/2006/main" noGrp="1"/>
          </p:cNvSpPr>
          <p:nvPr/>
        </p:nvSpPr>
        <p:spPr>
          <a:xfrm xmlns:a="http://schemas.openxmlformats.org/drawingml/2006/main" rot="0" flipH="0" flipV="0">
            <a:off x="449199" y="3811429"/>
            <a:ext cx="3925782"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a:solidFill>
                  <a:schemeClr val="dk1"/>
                </a:solidFill>
                <a:latin typeface="+mn-lt"/>
                <a:ea typeface="+mn-lt"/>
                <a:cs typeface="+mn-lt"/>
              </a:rPr>
              <a:t>Every analysis uses the same solve_model()</a:t>
            </a:r>
          </a:p>
        </p:txBody>
      </p:sp>
      <p:sp>
        <p:nvSpPr>
          <p:cNvPr id="26" name="TextBox 26">
            <a:extLst xmlns:a="http://schemas.openxmlformats.org/drawingml/2006/main">
              <a:ext uri="{FF2B5EF4-FFF2-40B4-BE49-F238E27FC236}">
                <a16:creationId xmlns:a16="http://schemas.microsoft.com/office/drawing/2014/main" id="{FABB8DC4-AACF-44B4-823D-64CEA8B53F9C}"/>
              </a:ext>
            </a:extLst>
          </p:cNvPr>
          <p:cNvSpPr>
            <a:spLocks xmlns:a="http://schemas.openxmlformats.org/drawingml/2006/main" noGrp="1"/>
          </p:cNvSpPr>
          <p:nvPr/>
        </p:nvSpPr>
        <p:spPr>
          <a:xfrm xmlns:a="http://schemas.openxmlformats.org/drawingml/2006/main" rot="0" flipH="0" flipV="0">
            <a:off x="449199" y="4097179"/>
            <a:ext cx="3727610"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a:solidFill>
                  <a:schemeClr val="dk1"/>
                </a:solidFill>
                <a:latin typeface="+mn-lt"/>
                <a:ea typeface="+mn-lt"/>
                <a:cs typeface="+mn-lt"/>
              </a:rPr>
              <a:t>with a different budget, radius, capacity</a:t>
            </a:r>
          </a:p>
        </p:txBody>
      </p:sp>
      <p:sp>
        <p:nvSpPr>
          <p:cNvPr id="27" name="TextBox 27">
            <a:extLst xmlns:a="http://schemas.openxmlformats.org/drawingml/2006/main">
              <a:ext uri="{FF2B5EF4-FFF2-40B4-BE49-F238E27FC236}">
                <a16:creationId xmlns:a16="http://schemas.microsoft.com/office/drawing/2014/main" id="{041358FA-6D70-4E3F-810B-806508BA85C8}"/>
              </a:ext>
            </a:extLst>
          </p:cNvPr>
          <p:cNvSpPr>
            <a:spLocks xmlns:a="http://schemas.openxmlformats.org/drawingml/2006/main" noGrp="1"/>
          </p:cNvSpPr>
          <p:nvPr/>
        </p:nvSpPr>
        <p:spPr>
          <a:xfrm xmlns:a="http://schemas.openxmlformats.org/drawingml/2006/main" rot="0" flipH="0" flipV="0">
            <a:off x="449199" y="4382929"/>
            <a:ext cx="3440466"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a:solidFill>
                  <a:schemeClr val="dk1"/>
                </a:solidFill>
                <a:latin typeface="+mn-lt"/>
                <a:ea typeface="+mn-lt"/>
                <a:cs typeface="+mn-lt"/>
              </a:rPr>
              <a:t>or objective mode — constraints stay</a:t>
            </a:r>
          </a:p>
        </p:txBody>
      </p:sp>
      <p:sp>
        <p:nvSpPr>
          <p:cNvPr id="28" name="TextBox 28">
            <a:extLst xmlns:a="http://schemas.openxmlformats.org/drawingml/2006/main">
              <a:ext uri="{FF2B5EF4-FFF2-40B4-BE49-F238E27FC236}">
                <a16:creationId xmlns:a16="http://schemas.microsoft.com/office/drawing/2014/main" id="{6EFD6911-3E87-4D32-8391-412D6DC3A11A}"/>
              </a:ext>
            </a:extLst>
          </p:cNvPr>
          <p:cNvSpPr>
            <a:spLocks xmlns:a="http://schemas.openxmlformats.org/drawingml/2006/main" noGrp="1"/>
          </p:cNvSpPr>
          <p:nvPr/>
        </p:nvSpPr>
        <p:spPr>
          <a:xfrm xmlns:a="http://schemas.openxmlformats.org/drawingml/2006/main" rot="0" flipH="0" flipV="0">
            <a:off x="449199" y="4668679"/>
            <a:ext cx="951880" cy="30803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80">
                <a:solidFill>
                  <a:schemeClr val="dk1"/>
                </a:solidFill>
                <a:latin typeface="+mn-lt"/>
                <a:ea typeface="+mn-lt"/>
                <a:cs typeface="+mn-lt"/>
              </a:rPr>
              <a:t>consistent.</a:t>
            </a:r>
          </a:p>
        </p:txBody>
      </p:sp>
      <p:sp>
        <p:nvSpPr>
          <p:cNvPr id="29" name="Line 29">
            <a:extLst xmlns:a="http://schemas.openxmlformats.org/drawingml/2006/main">
              <a:ext uri="{FF2B5EF4-FFF2-40B4-BE49-F238E27FC236}">
                <a16:creationId xmlns:a16="http://schemas.microsoft.com/office/drawing/2014/main" id="{A0D4F944-C33C-4592-BECC-43CFA6B81448}"/>
              </a:ext>
            </a:extLst>
          </p:cNvPr>
          <p:cNvSpPr>
            <a:spLocks xmlns:a="http://schemas.openxmlformats.org/drawingml/2006/main" noGrp="1"/>
          </p:cNvSpPr>
          <p:nvPr/>
        </p:nvSpPr>
        <p:spPr>
          <a:xfrm xmlns:a="http://schemas.openxmlformats.org/drawingml/2006/main" rot="0" flipH="0" flipV="0">
            <a:off x="457200" y="5124450"/>
            <a:ext cx="5257800" cy="9525"/>
          </a:xfrm>
          <a:custGeom xmlns:a="http://schemas.openxmlformats.org/drawingml/2006/main">
            <a:rect l="l" t="t" r="r" b="b"/>
            <a:pathLst>
              <a:path w="5257800" h="9525">
                <a:moveTo>
                  <a:pt x="0" y="0"/>
                </a:moveTo>
                <a:lnTo>
                  <a:pt x="52578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0" name="TextBox 30">
            <a:extLst xmlns:a="http://schemas.openxmlformats.org/drawingml/2006/main">
              <a:ext uri="{FF2B5EF4-FFF2-40B4-BE49-F238E27FC236}">
                <a16:creationId xmlns:a16="http://schemas.microsoft.com/office/drawing/2014/main" id="{3D522D76-4DAE-4545-96C5-199045917D7D}"/>
              </a:ext>
            </a:extLst>
          </p:cNvPr>
          <p:cNvSpPr>
            <a:spLocks xmlns:a="http://schemas.openxmlformats.org/drawingml/2006/main" noGrp="1"/>
          </p:cNvSpPr>
          <p:nvPr/>
        </p:nvSpPr>
        <p:spPr>
          <a:xfrm xmlns:a="http://schemas.openxmlformats.org/drawingml/2006/main" rot="0" flipH="0" flipV="0">
            <a:off x="451104" y="5261610"/>
            <a:ext cx="169090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REPRODUCIBILITY</a:t>
            </a:r>
          </a:p>
        </p:txBody>
      </p:sp>
      <p:sp>
        <p:nvSpPr>
          <p:cNvPr id="31" name="TextBox 31">
            <a:extLst xmlns:a="http://schemas.openxmlformats.org/drawingml/2006/main">
              <a:ext uri="{FF2B5EF4-FFF2-40B4-BE49-F238E27FC236}">
                <a16:creationId xmlns:a16="http://schemas.microsoft.com/office/drawing/2014/main" id="{1A0EC71D-2A43-42E2-9726-65223E1B8628}"/>
              </a:ext>
            </a:extLst>
          </p:cNvPr>
          <p:cNvSpPr>
            <a:spLocks xmlns:a="http://schemas.openxmlformats.org/drawingml/2006/main" noGrp="1"/>
          </p:cNvSpPr>
          <p:nvPr/>
        </p:nvSpPr>
        <p:spPr>
          <a:xfrm xmlns:a="http://schemas.openxmlformats.org/drawingml/2006/main" rot="0" flipH="0" flipV="0">
            <a:off x="450342" y="5531168"/>
            <a:ext cx="522264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Source snapshots are stored in data/; clean Run All passes.</a:t>
            </a:r>
          </a:p>
        </p:txBody>
      </p:sp>
      <p:sp>
        <p:nvSpPr>
          <p:cNvPr id="33" name="Rectangle 33">
            <a:extLst xmlns:a="http://schemas.openxmlformats.org/drawingml/2006/main">
              <a:ext uri="{FF2B5EF4-FFF2-40B4-BE49-F238E27FC236}">
                <a16:creationId xmlns:a16="http://schemas.microsoft.com/office/drawing/2014/main" id="{076167FE-1E15-43EE-BD17-A902C09FB7DD}"/>
              </a:ext>
            </a:extLst>
          </p:cNvPr>
          <p:cNvSpPr>
            <a:spLocks xmlns:a="http://schemas.openxmlformats.org/drawingml/2006/main" noGrp="1"/>
          </p:cNvSpPr>
          <p:nvPr/>
        </p:nvSpPr>
        <p:spPr>
          <a:xfrm xmlns:a="http://schemas.openxmlformats.org/drawingml/2006/main" rot="0" flipH="0" flipV="0">
            <a:off x="6286500" y="3390900"/>
            <a:ext cx="5448300" cy="2438400"/>
          </a:xfrm>
          <a:prstGeom xmlns:a="http://schemas.openxmlformats.org/drawingml/2006/main" prst="roundRect">
            <a:avLst>
              <a:gd name="adj" fmla="val 4688"/>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4" name="Freeform 34">
            <a:extLst xmlns:a="http://schemas.openxmlformats.org/drawingml/2006/main">
              <a:ext uri="{FF2B5EF4-FFF2-40B4-BE49-F238E27FC236}">
                <a16:creationId xmlns:a16="http://schemas.microsoft.com/office/drawing/2014/main" id="{6D5C6BFB-5C4C-45BD-A1B1-8A4A62BD29C8}"/>
              </a:ext>
            </a:extLst>
          </p:cNvPr>
          <p:cNvSpPr>
            <a:spLocks xmlns:a="http://schemas.openxmlformats.org/drawingml/2006/main" noGrp="1"/>
          </p:cNvSpPr>
          <p:nvPr/>
        </p:nvSpPr>
        <p:spPr>
          <a:xfrm xmlns:a="http://schemas.openxmlformats.org/drawingml/2006/main" rot="0" flipH="0" flipV="0">
            <a:off x="6539494" y="3624844"/>
            <a:ext cx="175708" cy="175641"/>
          </a:xfrm>
          <a:custGeom xmlns:a="http://schemas.openxmlformats.org/drawingml/2006/main">
            <a:rect l="l" t="t" r="r" b="b"/>
            <a:pathLst>
              <a:path w="175708" h="175641">
                <a:moveTo>
                  <a:pt x="89935" y="175631"/>
                </a:moveTo>
                <a:cubicBezTo>
                  <a:pt x="82963" y="175641"/>
                  <a:pt x="75981" y="171460"/>
                  <a:pt x="73952" y="163087"/>
                </a:cubicBezTo>
                <a:cubicBezTo>
                  <a:pt x="72717" y="157991"/>
                  <a:pt x="69123" y="153790"/>
                  <a:pt x="64278" y="151783"/>
                </a:cubicBezTo>
                <a:cubicBezTo>
                  <a:pt x="59433" y="149776"/>
                  <a:pt x="53922" y="150204"/>
                  <a:pt x="49444" y="152933"/>
                </a:cubicBezTo>
                <a:cubicBezTo>
                  <a:pt x="34747" y="161887"/>
                  <a:pt x="17917" y="145066"/>
                  <a:pt x="26870" y="130359"/>
                </a:cubicBezTo>
                <a:cubicBezTo>
                  <a:pt x="29596" y="125884"/>
                  <a:pt x="30022" y="120376"/>
                  <a:pt x="28018" y="115535"/>
                </a:cubicBezTo>
                <a:cubicBezTo>
                  <a:pt x="26013" y="110693"/>
                  <a:pt x="21818" y="107099"/>
                  <a:pt x="16726" y="105861"/>
                </a:cubicBezTo>
                <a:cubicBezTo>
                  <a:pt x="0" y="101803"/>
                  <a:pt x="0" y="78010"/>
                  <a:pt x="16726" y="73952"/>
                </a:cubicBezTo>
                <a:cubicBezTo>
                  <a:pt x="21822" y="72717"/>
                  <a:pt x="26023" y="69123"/>
                  <a:pt x="28030" y="64278"/>
                </a:cubicBezTo>
                <a:cubicBezTo>
                  <a:pt x="30037" y="59433"/>
                  <a:pt x="29609" y="53922"/>
                  <a:pt x="26880" y="49444"/>
                </a:cubicBezTo>
                <a:cubicBezTo>
                  <a:pt x="17926" y="34747"/>
                  <a:pt x="34747" y="17917"/>
                  <a:pt x="49454" y="26870"/>
                </a:cubicBezTo>
                <a:cubicBezTo>
                  <a:pt x="58979" y="32661"/>
                  <a:pt x="71323" y="27537"/>
                  <a:pt x="73952" y="16726"/>
                </a:cubicBezTo>
                <a:cubicBezTo>
                  <a:pt x="78010" y="0"/>
                  <a:pt x="101803" y="0"/>
                  <a:pt x="105861" y="16726"/>
                </a:cubicBezTo>
                <a:cubicBezTo>
                  <a:pt x="107096" y="21822"/>
                  <a:pt x="110690" y="26023"/>
                  <a:pt x="115535" y="28030"/>
                </a:cubicBezTo>
                <a:cubicBezTo>
                  <a:pt x="120380" y="30037"/>
                  <a:pt x="125891" y="29609"/>
                  <a:pt x="130369" y="26880"/>
                </a:cubicBezTo>
                <a:cubicBezTo>
                  <a:pt x="145066" y="17926"/>
                  <a:pt x="161896" y="34747"/>
                  <a:pt x="152943" y="49454"/>
                </a:cubicBezTo>
                <a:cubicBezTo>
                  <a:pt x="150217" y="53929"/>
                  <a:pt x="149791" y="59437"/>
                  <a:pt x="151795" y="64278"/>
                </a:cubicBezTo>
                <a:cubicBezTo>
                  <a:pt x="153800" y="69120"/>
                  <a:pt x="157995" y="72714"/>
                  <a:pt x="163087" y="73952"/>
                </a:cubicBezTo>
                <a:cubicBezTo>
                  <a:pt x="171526" y="76000"/>
                  <a:pt x="175708" y="83068"/>
                  <a:pt x="175641" y="90087"/>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5" name="Freeform 35">
            <a:extLst xmlns:a="http://schemas.openxmlformats.org/drawingml/2006/main">
              <a:ext uri="{FF2B5EF4-FFF2-40B4-BE49-F238E27FC236}">
                <a16:creationId xmlns:a16="http://schemas.microsoft.com/office/drawing/2014/main" id="{3720565F-5507-424A-A518-000E38B29DE6}"/>
              </a:ext>
            </a:extLst>
          </p:cNvPr>
          <p:cNvSpPr>
            <a:spLocks xmlns:a="http://schemas.openxmlformats.org/drawingml/2006/main" noGrp="1"/>
          </p:cNvSpPr>
          <p:nvPr/>
        </p:nvSpPr>
        <p:spPr>
          <a:xfrm xmlns:a="http://schemas.openxmlformats.org/drawingml/2006/main" rot="0" flipH="0" flipV="0">
            <a:off x="6600825" y="3686175"/>
            <a:ext cx="57150" cy="57150"/>
          </a:xfrm>
          <a:custGeom xmlns:a="http://schemas.openxmlformats.org/drawingml/2006/main">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6" name="Freeform 36">
            <a:extLst xmlns:a="http://schemas.openxmlformats.org/drawingml/2006/main">
              <a:ext uri="{FF2B5EF4-FFF2-40B4-BE49-F238E27FC236}">
                <a16:creationId xmlns:a16="http://schemas.microsoft.com/office/drawing/2014/main" id="{9EBE40D0-8955-4EDD-B4DC-E8FEAD0899B0}"/>
              </a:ext>
            </a:extLst>
          </p:cNvPr>
          <p:cNvSpPr>
            <a:spLocks xmlns:a="http://schemas.openxmlformats.org/drawingml/2006/main" noGrp="1"/>
          </p:cNvSpPr>
          <p:nvPr/>
        </p:nvSpPr>
        <p:spPr>
          <a:xfrm xmlns:a="http://schemas.openxmlformats.org/drawingml/2006/main" rot="0" flipH="0" flipV="0">
            <a:off x="6677035" y="3762375"/>
            <a:ext cx="38100" cy="38100"/>
          </a:xfrm>
          <a:custGeom xmlns:a="http://schemas.openxmlformats.org/drawingml/2006/main">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7" name="Freeform 37">
            <a:extLst xmlns:a="http://schemas.openxmlformats.org/drawingml/2006/main">
              <a:ext uri="{FF2B5EF4-FFF2-40B4-BE49-F238E27FC236}">
                <a16:creationId xmlns:a16="http://schemas.microsoft.com/office/drawing/2014/main" id="{C955E663-77CC-4425-B4D0-13AEB6DD2464}"/>
              </a:ext>
            </a:extLst>
          </p:cNvPr>
          <p:cNvSpPr>
            <a:spLocks xmlns:a="http://schemas.openxmlformats.org/drawingml/2006/main" noGrp="1"/>
          </p:cNvSpPr>
          <p:nvPr/>
        </p:nvSpPr>
        <p:spPr>
          <a:xfrm xmlns:a="http://schemas.openxmlformats.org/drawingml/2006/main" rot="0" flipH="0" flipV="0">
            <a:off x="6696085" y="3748088"/>
            <a:ext cx="9525" cy="14288"/>
          </a:xfrm>
          <a:custGeom xmlns:a="http://schemas.openxmlformats.org/drawingml/2006/main">
            <a:rect l="l" t="t" r="r" b="b"/>
            <a:pathLst>
              <a:path w="9525" h="14288">
                <a:moveTo>
                  <a:pt x="0" y="0"/>
                </a:moveTo>
                <a:lnTo>
                  <a:pt x="0" y="14288"/>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8" name="Freeform 38">
            <a:extLst xmlns:a="http://schemas.openxmlformats.org/drawingml/2006/main">
              <a:ext uri="{FF2B5EF4-FFF2-40B4-BE49-F238E27FC236}">
                <a16:creationId xmlns:a16="http://schemas.microsoft.com/office/drawing/2014/main" id="{59EB5602-09A1-4F44-BC23-DA592E66BCA5}"/>
              </a:ext>
            </a:extLst>
          </p:cNvPr>
          <p:cNvSpPr>
            <a:spLocks xmlns:a="http://schemas.openxmlformats.org/drawingml/2006/main" noGrp="1"/>
          </p:cNvSpPr>
          <p:nvPr/>
        </p:nvSpPr>
        <p:spPr>
          <a:xfrm xmlns:a="http://schemas.openxmlformats.org/drawingml/2006/main" rot="0" flipH="0" flipV="0">
            <a:off x="6696085" y="3800475"/>
            <a:ext cx="9525" cy="14288"/>
          </a:xfrm>
          <a:custGeom xmlns:a="http://schemas.openxmlformats.org/drawingml/2006/main">
            <a:rect l="l" t="t" r="r" b="b"/>
            <a:pathLst>
              <a:path w="9525" h="14288">
                <a:moveTo>
                  <a:pt x="0" y="0"/>
                </a:moveTo>
                <a:lnTo>
                  <a:pt x="0" y="14288"/>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9" name="Freeform 39">
            <a:extLst xmlns:a="http://schemas.openxmlformats.org/drawingml/2006/main">
              <a:ext uri="{FF2B5EF4-FFF2-40B4-BE49-F238E27FC236}">
                <a16:creationId xmlns:a16="http://schemas.microsoft.com/office/drawing/2014/main" id="{F7BA93D2-FBC2-46A2-8FD3-2D72BB4A365A}"/>
              </a:ext>
            </a:extLst>
          </p:cNvPr>
          <p:cNvSpPr>
            <a:spLocks xmlns:a="http://schemas.openxmlformats.org/drawingml/2006/main" noGrp="1"/>
          </p:cNvSpPr>
          <p:nvPr/>
        </p:nvSpPr>
        <p:spPr>
          <a:xfrm xmlns:a="http://schemas.openxmlformats.org/drawingml/2006/main" rot="0" flipH="0" flipV="0">
            <a:off x="6712582" y="3764756"/>
            <a:ext cx="12373" cy="9525"/>
          </a:xfrm>
          <a:custGeom xmlns:a="http://schemas.openxmlformats.org/drawingml/2006/main">
            <a:rect l="l" t="t" r="r" b="b"/>
            <a:pathLst>
              <a:path w="12373" h="9525">
                <a:moveTo>
                  <a:pt x="12373" y="0"/>
                </a:moveTo>
                <a:lnTo>
                  <a:pt x="0" y="7144"/>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0" name="Freeform 40">
            <a:extLst xmlns:a="http://schemas.openxmlformats.org/drawingml/2006/main">
              <a:ext uri="{FF2B5EF4-FFF2-40B4-BE49-F238E27FC236}">
                <a16:creationId xmlns:a16="http://schemas.microsoft.com/office/drawing/2014/main" id="{EF1BABB8-0292-4DBB-A14B-5542E0A6E399}"/>
              </a:ext>
            </a:extLst>
          </p:cNvPr>
          <p:cNvSpPr>
            <a:spLocks xmlns:a="http://schemas.openxmlformats.org/drawingml/2006/main" noGrp="1"/>
          </p:cNvSpPr>
          <p:nvPr/>
        </p:nvSpPr>
        <p:spPr>
          <a:xfrm xmlns:a="http://schemas.openxmlformats.org/drawingml/2006/main" rot="0" flipH="0" flipV="0">
            <a:off x="6667214" y="3790950"/>
            <a:ext cx="12382" cy="9525"/>
          </a:xfrm>
          <a:custGeom xmlns:a="http://schemas.openxmlformats.org/drawingml/2006/main">
            <a:rect l="l" t="t" r="r" b="b"/>
            <a:pathLst>
              <a:path w="12382" h="9525">
                <a:moveTo>
                  <a:pt x="12382" y="0"/>
                </a:moveTo>
                <a:lnTo>
                  <a:pt x="0" y="7144"/>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1" name="Freeform 41">
            <a:extLst xmlns:a="http://schemas.openxmlformats.org/drawingml/2006/main">
              <a:ext uri="{FF2B5EF4-FFF2-40B4-BE49-F238E27FC236}">
                <a16:creationId xmlns:a16="http://schemas.microsoft.com/office/drawing/2014/main" id="{DDBE9758-DE17-4E1C-A917-33B0BB6CB0FD}"/>
              </a:ext>
            </a:extLst>
          </p:cNvPr>
          <p:cNvSpPr>
            <a:spLocks xmlns:a="http://schemas.openxmlformats.org/drawingml/2006/main" noGrp="1"/>
          </p:cNvSpPr>
          <p:nvPr/>
        </p:nvSpPr>
        <p:spPr>
          <a:xfrm xmlns:a="http://schemas.openxmlformats.org/drawingml/2006/main" rot="0" flipH="0" flipV="0">
            <a:off x="6667214" y="3764756"/>
            <a:ext cx="12382" cy="9525"/>
          </a:xfrm>
          <a:custGeom xmlns:a="http://schemas.openxmlformats.org/drawingml/2006/main">
            <a:rect l="l" t="t" r="r" b="b"/>
            <a:pathLst>
              <a:path w="12382" h="9525">
                <a:moveTo>
                  <a:pt x="0" y="0"/>
                </a:moveTo>
                <a:lnTo>
                  <a:pt x="12382" y="7144"/>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2" name="Freeform 42">
            <a:extLst xmlns:a="http://schemas.openxmlformats.org/drawingml/2006/main">
              <a:ext uri="{FF2B5EF4-FFF2-40B4-BE49-F238E27FC236}">
                <a16:creationId xmlns:a16="http://schemas.microsoft.com/office/drawing/2014/main" id="{36B18414-B8EA-4342-A752-54B181CCB352}"/>
              </a:ext>
            </a:extLst>
          </p:cNvPr>
          <p:cNvSpPr>
            <a:spLocks xmlns:a="http://schemas.openxmlformats.org/drawingml/2006/main" noGrp="1"/>
          </p:cNvSpPr>
          <p:nvPr/>
        </p:nvSpPr>
        <p:spPr>
          <a:xfrm xmlns:a="http://schemas.openxmlformats.org/drawingml/2006/main" rot="0" flipH="0" flipV="0">
            <a:off x="6712582" y="3790950"/>
            <a:ext cx="12383" cy="9525"/>
          </a:xfrm>
          <a:custGeom xmlns:a="http://schemas.openxmlformats.org/drawingml/2006/main">
            <a:rect l="l" t="t" r="r" b="b"/>
            <a:pathLst>
              <a:path w="12383" h="9525">
                <a:moveTo>
                  <a:pt x="0" y="0"/>
                </a:moveTo>
                <a:lnTo>
                  <a:pt x="12383" y="7144"/>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4" name="TextBox 44">
            <a:extLst xmlns:a="http://schemas.openxmlformats.org/drawingml/2006/main">
              <a:ext uri="{FF2B5EF4-FFF2-40B4-BE49-F238E27FC236}">
                <a16:creationId xmlns:a16="http://schemas.microsoft.com/office/drawing/2014/main" id="{7417430F-BE5E-4085-9854-027EBD95F317}"/>
              </a:ext>
            </a:extLst>
          </p:cNvPr>
          <p:cNvSpPr>
            <a:spLocks xmlns:a="http://schemas.openxmlformats.org/drawingml/2006/main" noGrp="1"/>
          </p:cNvSpPr>
          <p:nvPr/>
        </p:nvSpPr>
        <p:spPr>
          <a:xfrm xmlns:a="http://schemas.openxmlformats.org/drawingml/2006/main" rot="0" flipH="0" flipV="0">
            <a:off x="6832854" y="3642360"/>
            <a:ext cx="224223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REQUIREMENTS TO RUN</a:t>
            </a:r>
          </a:p>
        </p:txBody>
      </p:sp>
      <p:sp>
        <p:nvSpPr>
          <p:cNvPr id="45" name="Line 45">
            <a:extLst xmlns:a="http://schemas.openxmlformats.org/drawingml/2006/main">
              <a:ext uri="{FF2B5EF4-FFF2-40B4-BE49-F238E27FC236}">
                <a16:creationId xmlns:a16="http://schemas.microsoft.com/office/drawing/2014/main" id="{4FD14037-887A-4E4B-BC88-841F56FF9D9F}"/>
              </a:ext>
            </a:extLst>
          </p:cNvPr>
          <p:cNvSpPr>
            <a:spLocks xmlns:a="http://schemas.openxmlformats.org/drawingml/2006/main" noGrp="1"/>
          </p:cNvSpPr>
          <p:nvPr/>
        </p:nvSpPr>
        <p:spPr>
          <a:xfrm xmlns:a="http://schemas.openxmlformats.org/drawingml/2006/main" rot="0" flipH="0" flipV="0">
            <a:off x="6515100" y="3943350"/>
            <a:ext cx="4991100" cy="9525"/>
          </a:xfrm>
          <a:custGeom xmlns:a="http://schemas.openxmlformats.org/drawingml/2006/main">
            <a:rect l="l" t="t" r="r" b="b"/>
            <a:pathLst>
              <a:path w="4991100" h="9525">
                <a:moveTo>
                  <a:pt x="0" y="0"/>
                </a:moveTo>
                <a:lnTo>
                  <a:pt x="49911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6" name="TextBox 46">
            <a:extLst xmlns:a="http://schemas.openxmlformats.org/drawingml/2006/main">
              <a:ext uri="{FF2B5EF4-FFF2-40B4-BE49-F238E27FC236}">
                <a16:creationId xmlns:a16="http://schemas.microsoft.com/office/drawing/2014/main" id="{277ADB7F-0784-4D3B-8EB5-1B6C635422A2}"/>
              </a:ext>
            </a:extLst>
          </p:cNvPr>
          <p:cNvSpPr>
            <a:spLocks xmlns:a="http://schemas.openxmlformats.org/drawingml/2006/main" noGrp="1"/>
          </p:cNvSpPr>
          <p:nvPr/>
        </p:nvSpPr>
        <p:spPr>
          <a:xfrm xmlns:a="http://schemas.openxmlformats.org/drawingml/2006/main" rot="0" flipH="0" flipV="0">
            <a:off x="6509004" y="4156710"/>
            <a:ext cx="24518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OS</a:t>
            </a:r>
          </a:p>
        </p:txBody>
      </p:sp>
      <p:sp>
        <p:nvSpPr>
          <p:cNvPr id="47" name="TextBox 47">
            <a:extLst xmlns:a="http://schemas.openxmlformats.org/drawingml/2006/main">
              <a:ext uri="{FF2B5EF4-FFF2-40B4-BE49-F238E27FC236}">
                <a16:creationId xmlns:a16="http://schemas.microsoft.com/office/drawing/2014/main" id="{C7F19342-08BC-40C2-91E0-B0E6467F8EBC}"/>
              </a:ext>
            </a:extLst>
          </p:cNvPr>
          <p:cNvSpPr>
            <a:spLocks xmlns:a="http://schemas.openxmlformats.org/drawingml/2006/main" noGrp="1"/>
          </p:cNvSpPr>
          <p:nvPr/>
        </p:nvSpPr>
        <p:spPr>
          <a:xfrm xmlns:a="http://schemas.openxmlformats.org/drawingml/2006/main" rot="0" flipH="0" flipV="0">
            <a:off x="7727442" y="4140518"/>
            <a:ext cx="310877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macOS (Darwin, arm64) · portable</a:t>
            </a:r>
          </a:p>
        </p:txBody>
      </p:sp>
      <p:sp>
        <p:nvSpPr>
          <p:cNvPr id="49" name="TextBox 49">
            <a:extLst xmlns:a="http://schemas.openxmlformats.org/drawingml/2006/main">
              <a:ext uri="{FF2B5EF4-FFF2-40B4-BE49-F238E27FC236}">
                <a16:creationId xmlns:a16="http://schemas.microsoft.com/office/drawing/2014/main" id="{913F10AE-29C5-46B2-A8E2-B7965601B25A}"/>
              </a:ext>
            </a:extLst>
          </p:cNvPr>
          <p:cNvSpPr>
            <a:spLocks xmlns:a="http://schemas.openxmlformats.org/drawingml/2006/main" noGrp="1"/>
          </p:cNvSpPr>
          <p:nvPr/>
        </p:nvSpPr>
        <p:spPr>
          <a:xfrm xmlns:a="http://schemas.openxmlformats.org/drawingml/2006/main" rot="0" flipH="0" flipV="0">
            <a:off x="6509004" y="4556760"/>
            <a:ext cx="63947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PYTHON</a:t>
            </a:r>
          </a:p>
        </p:txBody>
      </p:sp>
      <p:sp>
        <p:nvSpPr>
          <p:cNvPr id="50" name="TextBox 50">
            <a:extLst xmlns:a="http://schemas.openxmlformats.org/drawingml/2006/main">
              <a:ext uri="{FF2B5EF4-FFF2-40B4-BE49-F238E27FC236}">
                <a16:creationId xmlns:a16="http://schemas.microsoft.com/office/drawing/2014/main" id="{95F2E5F8-2B4A-48DB-B50B-3AB3E858E572}"/>
              </a:ext>
            </a:extLst>
          </p:cNvPr>
          <p:cNvSpPr>
            <a:spLocks xmlns:a="http://schemas.openxmlformats.org/drawingml/2006/main" noGrp="1"/>
          </p:cNvSpPr>
          <p:nvPr/>
        </p:nvSpPr>
        <p:spPr>
          <a:xfrm xmlns:a="http://schemas.openxmlformats.org/drawingml/2006/main" rot="0" flipH="0" flipV="0">
            <a:off x="7727442" y="4540568"/>
            <a:ext cx="197647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3.9+ · executed on 3.13.5</a:t>
            </a:r>
          </a:p>
        </p:txBody>
      </p:sp>
      <p:sp>
        <p:nvSpPr>
          <p:cNvPr id="52" name="TextBox 52">
            <a:extLst xmlns:a="http://schemas.openxmlformats.org/drawingml/2006/main">
              <a:ext uri="{FF2B5EF4-FFF2-40B4-BE49-F238E27FC236}">
                <a16:creationId xmlns:a16="http://schemas.microsoft.com/office/drawing/2014/main" id="{EA526FB9-C30B-43B5-AFC6-12D79115E50E}"/>
              </a:ext>
            </a:extLst>
          </p:cNvPr>
          <p:cNvSpPr>
            <a:spLocks xmlns:a="http://schemas.openxmlformats.org/drawingml/2006/main" noGrp="1"/>
          </p:cNvSpPr>
          <p:nvPr/>
        </p:nvSpPr>
        <p:spPr>
          <a:xfrm xmlns:a="http://schemas.openxmlformats.org/drawingml/2006/main" rot="0" flipH="0" flipV="0">
            <a:off x="6509004" y="4956810"/>
            <a:ext cx="809732"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LIBRARIES</a:t>
            </a:r>
          </a:p>
        </p:txBody>
      </p:sp>
      <p:sp>
        <p:nvSpPr>
          <p:cNvPr id="53" name="TextBox 53">
            <a:extLst xmlns:a="http://schemas.openxmlformats.org/drawingml/2006/main">
              <a:ext uri="{FF2B5EF4-FFF2-40B4-BE49-F238E27FC236}">
                <a16:creationId xmlns:a16="http://schemas.microsoft.com/office/drawing/2014/main" id="{08FF35B1-4323-4AE1-A29A-266CC1D71E67}"/>
              </a:ext>
            </a:extLst>
          </p:cNvPr>
          <p:cNvSpPr>
            <a:spLocks xmlns:a="http://schemas.openxmlformats.org/drawingml/2006/main" noGrp="1"/>
          </p:cNvSpPr>
          <p:nvPr/>
        </p:nvSpPr>
        <p:spPr>
          <a:xfrm xmlns:a="http://schemas.openxmlformats.org/drawingml/2006/main" rot="0" flipH="0" flipV="0">
            <a:off x="7727442" y="4940618"/>
            <a:ext cx="3096785"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NumPy 2.5.2 · pandas 3.0.5</a:t>
            </a:r>
          </a:p>
          <a:p xmlns:a="http://schemas.openxmlformats.org/drawingml/2006/main">
            <a:pPr algn="l">
              <a:buNone/>
            </a:pPr>
            <a:r>
              <a:rPr sz="1350">
                <a:solidFill>
                  <a:schemeClr val="dk1"/>
                </a:solidFill>
                <a:latin typeface="+mn-lt"/>
                <a:ea typeface="+mn-lt"/>
                <a:cs typeface="+mn-lt"/>
              </a:rPr>
              <a:t>Matplotlib 3.11.1 · PuLP 3.3.2</a:t>
            </a:r>
          </a:p>
        </p:txBody>
      </p:sp>
      <p:sp>
        <p:nvSpPr>
          <p:cNvPr id="55" name="TextBox 55">
            <a:extLst xmlns:a="http://schemas.openxmlformats.org/drawingml/2006/main">
              <a:ext uri="{FF2B5EF4-FFF2-40B4-BE49-F238E27FC236}">
                <a16:creationId xmlns:a16="http://schemas.microsoft.com/office/drawing/2014/main" id="{165C8BB7-1E51-4DE5-ABE3-6542A778DF90}"/>
              </a:ext>
            </a:extLst>
          </p:cNvPr>
          <p:cNvSpPr>
            <a:spLocks xmlns:a="http://schemas.openxmlformats.org/drawingml/2006/main" noGrp="1"/>
          </p:cNvSpPr>
          <p:nvPr/>
        </p:nvSpPr>
        <p:spPr>
          <a:xfrm xmlns:a="http://schemas.openxmlformats.org/drawingml/2006/main" rot="0" flipH="0" flipV="0">
            <a:off x="6509004" y="5356860"/>
            <a:ext cx="63947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chemeClr val="accent1"/>
                </a:solidFill>
                <a:latin typeface="+mn-lt"/>
                <a:ea typeface="+mn-lt"/>
                <a:cs typeface="+mn-lt"/>
              </a:rPr>
              <a:t>SOLVER</a:t>
            </a:r>
          </a:p>
        </p:txBody>
      </p:sp>
      <p:sp>
        <p:nvSpPr>
          <p:cNvPr id="56" name="TextBox 56">
            <a:extLst xmlns:a="http://schemas.openxmlformats.org/drawingml/2006/main">
              <a:ext uri="{FF2B5EF4-FFF2-40B4-BE49-F238E27FC236}">
                <a16:creationId xmlns:a16="http://schemas.microsoft.com/office/drawing/2014/main" id="{4A2D80BC-566F-4B4E-8E37-FB4136C31BCD}"/>
              </a:ext>
            </a:extLst>
          </p:cNvPr>
          <p:cNvSpPr>
            <a:spLocks xmlns:a="http://schemas.openxmlformats.org/drawingml/2006/main" noGrp="1"/>
          </p:cNvSpPr>
          <p:nvPr/>
        </p:nvSpPr>
        <p:spPr>
          <a:xfrm xmlns:a="http://schemas.openxmlformats.org/drawingml/2006/main" rot="0" flipH="0" flipV="0">
            <a:off x="7727442" y="5340668"/>
            <a:ext cx="211535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CBC — bundled with PuLP</a:t>
            </a:r>
          </a:p>
        </p:txBody>
      </p:sp>
      <p:sp>
        <p:nvSpPr>
          <p:cNvPr id="59" name="Line 59">
            <a:extLst xmlns:a="http://schemas.openxmlformats.org/drawingml/2006/main">
              <a:ext uri="{FF2B5EF4-FFF2-40B4-BE49-F238E27FC236}">
                <a16:creationId xmlns:a16="http://schemas.microsoft.com/office/drawing/2014/main" id="{7875874A-35A3-4E20-8F6D-41529BE1EC4E}"/>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60" name="TextBox 60">
            <a:extLst xmlns:a="http://schemas.openxmlformats.org/drawingml/2006/main">
              <a:ext uri="{FF2B5EF4-FFF2-40B4-BE49-F238E27FC236}">
                <a16:creationId xmlns:a16="http://schemas.microsoft.com/office/drawing/2014/main" id="{1C427D2C-1693-4561-B895-9A86D3E14041}"/>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61" name="TextBox 61">
            <a:extLst xmlns:a="http://schemas.openxmlformats.org/drawingml/2006/main">
              <a:ext uri="{FF2B5EF4-FFF2-40B4-BE49-F238E27FC236}">
                <a16:creationId xmlns:a16="http://schemas.microsoft.com/office/drawing/2014/main" id="{D65ED605-809B-48EF-BE98-FB5875232F5F}"/>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06 / 14</a:t>
            </a:r>
          </a:p>
        </p:txBody>
      </p:sp>
    </p:spTree>
    <p:extLst>
      <p:ext uri="{BB962C8B-B14F-4D97-AF65-F5344CB8AC3E}">
        <p14:creationId xmlns:p14="http://schemas.microsoft.com/office/powerpoint/2010/main" val="812286263"/>
      </p:ext>
    </p:extLst>
  </p:cSld>
</p:sld>
</file>

<file path=ppt/slides/slide7.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9B1B449A-4C8F-4526-92ED-1ECB90D2A6C1}"/>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A1119D70-1F63-4EEB-A218-7C933D42BEF8}"/>
              </a:ext>
            </a:extLst>
          </p:cNvPr>
          <p:cNvSpPr>
            <a:spLocks xmlns:a="http://schemas.openxmlformats.org/drawingml/2006/main" noGrp="1"/>
          </p:cNvSpPr>
          <p:nvPr/>
        </p:nvSpPr>
        <p:spPr>
          <a:xfrm xmlns:a="http://schemas.openxmlformats.org/drawingml/2006/main" rot="0" flipH="0" flipV="0">
            <a:off x="451104" y="708660"/>
            <a:ext cx="134014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07 · RESULTS</a:t>
            </a:r>
          </a:p>
        </p:txBody>
      </p:sp>
      <p:sp>
        <p:nvSpPr>
          <p:cNvPr id="4" name="TextBox 4">
            <a:extLst xmlns:a="http://schemas.openxmlformats.org/drawingml/2006/main">
              <a:ext uri="{FF2B5EF4-FFF2-40B4-BE49-F238E27FC236}">
                <a16:creationId xmlns:a16="http://schemas.microsoft.com/office/drawing/2014/main" id="{8BA5A485-393B-47B1-BE43-981FA1508FB1}"/>
              </a:ext>
            </a:extLst>
          </p:cNvPr>
          <p:cNvSpPr>
            <a:spLocks xmlns:a="http://schemas.openxmlformats.org/drawingml/2006/main" noGrp="1"/>
          </p:cNvSpPr>
          <p:nvPr/>
        </p:nvSpPr>
        <p:spPr>
          <a:xfrm xmlns:a="http://schemas.openxmlformats.org/drawingml/2006/main" rot="0" flipH="0" flipV="0">
            <a:off x="441960" y="895350"/>
            <a:ext cx="8850332"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Baseline: 6 sites, $589k, 100% model coverage</a:t>
            </a:r>
          </a:p>
        </p:txBody>
      </p:sp>
      <p:sp>
        <p:nvSpPr>
          <p:cNvPr id="6" name="Rectangle 6">
            <a:extLst xmlns:a="http://schemas.openxmlformats.org/drawingml/2006/main">
              <a:ext uri="{FF2B5EF4-FFF2-40B4-BE49-F238E27FC236}">
                <a16:creationId xmlns:a16="http://schemas.microsoft.com/office/drawing/2014/main" id="{1DBBD659-C2F0-4A0A-ACAD-E174AC7ABEF6}"/>
              </a:ext>
            </a:extLst>
          </p:cNvPr>
          <p:cNvSpPr>
            <a:spLocks xmlns:a="http://schemas.openxmlformats.org/drawingml/2006/main" noGrp="1"/>
          </p:cNvSpPr>
          <p:nvPr/>
        </p:nvSpPr>
        <p:spPr>
          <a:xfrm xmlns:a="http://schemas.openxmlformats.org/drawingml/2006/main" rot="0" flipH="0" flipV="0">
            <a:off x="457200" y="1790700"/>
            <a:ext cx="2590800" cy="990600"/>
          </a:xfrm>
          <a:prstGeom xmlns:a="http://schemas.openxmlformats.org/drawingml/2006/main" prst="roundRect">
            <a:avLst>
              <a:gd name="adj" fmla="val 961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A44EAB66-A87A-4E70-A290-7ED39535F309}"/>
              </a:ext>
            </a:extLst>
          </p:cNvPr>
          <p:cNvSpPr>
            <a:spLocks xmlns:a="http://schemas.openxmlformats.org/drawingml/2006/main" noGrp="1"/>
          </p:cNvSpPr>
          <p:nvPr/>
        </p:nvSpPr>
        <p:spPr>
          <a:xfrm xmlns:a="http://schemas.openxmlformats.org/drawingml/2006/main" rot="0" flipH="0" flipV="0">
            <a:off x="630936" y="2025015"/>
            <a:ext cx="1339611"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6 / 20</a:t>
            </a:r>
          </a:p>
        </p:txBody>
      </p:sp>
      <p:sp>
        <p:nvSpPr>
          <p:cNvPr id="8" name="TextBox 8">
            <a:extLst xmlns:a="http://schemas.openxmlformats.org/drawingml/2006/main">
              <a:ext uri="{FF2B5EF4-FFF2-40B4-BE49-F238E27FC236}">
                <a16:creationId xmlns:a16="http://schemas.microsoft.com/office/drawing/2014/main" id="{F5B0BADD-EAF3-4108-8916-3EC7DA26368F}"/>
              </a:ext>
            </a:extLst>
          </p:cNvPr>
          <p:cNvSpPr>
            <a:spLocks xmlns:a="http://schemas.openxmlformats.org/drawingml/2006/main" noGrp="1"/>
          </p:cNvSpPr>
          <p:nvPr/>
        </p:nvSpPr>
        <p:spPr>
          <a:xfrm xmlns:a="http://schemas.openxmlformats.org/drawingml/2006/main" rot="0" flipH="0" flipV="0">
            <a:off x="641604" y="2518410"/>
            <a:ext cx="109453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stations built</a:t>
            </a:r>
          </a:p>
        </p:txBody>
      </p:sp>
      <p:sp>
        <p:nvSpPr>
          <p:cNvPr id="10" name="Rectangle 10">
            <a:extLst xmlns:a="http://schemas.openxmlformats.org/drawingml/2006/main">
              <a:ext uri="{FF2B5EF4-FFF2-40B4-BE49-F238E27FC236}">
                <a16:creationId xmlns:a16="http://schemas.microsoft.com/office/drawing/2014/main" id="{16718F70-BC5B-42C4-8E75-60D79678F7F1}"/>
              </a:ext>
            </a:extLst>
          </p:cNvPr>
          <p:cNvSpPr>
            <a:spLocks xmlns:a="http://schemas.openxmlformats.org/drawingml/2006/main" noGrp="1"/>
          </p:cNvSpPr>
          <p:nvPr/>
        </p:nvSpPr>
        <p:spPr>
          <a:xfrm xmlns:a="http://schemas.openxmlformats.org/drawingml/2006/main" rot="0" flipH="0" flipV="0">
            <a:off x="3200400" y="1790700"/>
            <a:ext cx="2590800" cy="990600"/>
          </a:xfrm>
          <a:prstGeom xmlns:a="http://schemas.openxmlformats.org/drawingml/2006/main" prst="roundRect">
            <a:avLst>
              <a:gd name="adj" fmla="val 961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1" name="TextBox 11">
            <a:extLst xmlns:a="http://schemas.openxmlformats.org/drawingml/2006/main">
              <a:ext uri="{FF2B5EF4-FFF2-40B4-BE49-F238E27FC236}">
                <a16:creationId xmlns:a16="http://schemas.microsoft.com/office/drawing/2014/main" id="{09ABD3C6-1027-471B-9E0D-1B53DFC1608F}"/>
              </a:ext>
            </a:extLst>
          </p:cNvPr>
          <p:cNvSpPr>
            <a:spLocks xmlns:a="http://schemas.openxmlformats.org/drawingml/2006/main" noGrp="1"/>
          </p:cNvSpPr>
          <p:nvPr/>
        </p:nvSpPr>
        <p:spPr>
          <a:xfrm xmlns:a="http://schemas.openxmlformats.org/drawingml/2006/main" rot="0" flipH="0" flipV="0">
            <a:off x="3374136" y="2025015"/>
            <a:ext cx="2085945"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$589,000</a:t>
            </a:r>
          </a:p>
        </p:txBody>
      </p:sp>
      <p:sp>
        <p:nvSpPr>
          <p:cNvPr id="12" name="TextBox 12">
            <a:extLst xmlns:a="http://schemas.openxmlformats.org/drawingml/2006/main">
              <a:ext uri="{FF2B5EF4-FFF2-40B4-BE49-F238E27FC236}">
                <a16:creationId xmlns:a16="http://schemas.microsoft.com/office/drawing/2014/main" id="{25D9649E-123F-4070-975D-446869E268B1}"/>
              </a:ext>
            </a:extLst>
          </p:cNvPr>
          <p:cNvSpPr>
            <a:spLocks xmlns:a="http://schemas.openxmlformats.org/drawingml/2006/main" noGrp="1"/>
          </p:cNvSpPr>
          <p:nvPr/>
        </p:nvSpPr>
        <p:spPr>
          <a:xfrm xmlns:a="http://schemas.openxmlformats.org/drawingml/2006/main" rot="0" flipH="0" flipV="0">
            <a:off x="3384804" y="2518410"/>
            <a:ext cx="144185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construction cost</a:t>
            </a:r>
          </a:p>
        </p:txBody>
      </p:sp>
      <p:sp>
        <p:nvSpPr>
          <p:cNvPr id="14" name="Rectangle 14">
            <a:extLst xmlns:a="http://schemas.openxmlformats.org/drawingml/2006/main">
              <a:ext uri="{FF2B5EF4-FFF2-40B4-BE49-F238E27FC236}">
                <a16:creationId xmlns:a16="http://schemas.microsoft.com/office/drawing/2014/main" id="{056127F0-BAA0-47DD-A427-5D464BDF4B76}"/>
              </a:ext>
            </a:extLst>
          </p:cNvPr>
          <p:cNvSpPr>
            <a:spLocks xmlns:a="http://schemas.openxmlformats.org/drawingml/2006/main" noGrp="1"/>
          </p:cNvSpPr>
          <p:nvPr/>
        </p:nvSpPr>
        <p:spPr>
          <a:xfrm xmlns:a="http://schemas.openxmlformats.org/drawingml/2006/main" rot="0" flipH="0" flipV="0">
            <a:off x="457200" y="2895600"/>
            <a:ext cx="2590800" cy="990600"/>
          </a:xfrm>
          <a:prstGeom xmlns:a="http://schemas.openxmlformats.org/drawingml/2006/main" prst="roundRect">
            <a:avLst>
              <a:gd name="adj" fmla="val 961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92D07D33-F287-45E4-87EE-9F3E180988E7}"/>
              </a:ext>
            </a:extLst>
          </p:cNvPr>
          <p:cNvSpPr>
            <a:spLocks xmlns:a="http://schemas.openxmlformats.org/drawingml/2006/main" noGrp="1"/>
          </p:cNvSpPr>
          <p:nvPr/>
        </p:nvSpPr>
        <p:spPr>
          <a:xfrm xmlns:a="http://schemas.openxmlformats.org/drawingml/2006/main" rot="0" flipH="0" flipV="0">
            <a:off x="630936" y="3129915"/>
            <a:ext cx="1666132"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100.0%</a:t>
            </a:r>
          </a:p>
        </p:txBody>
      </p:sp>
      <p:sp>
        <p:nvSpPr>
          <p:cNvPr id="16" name="TextBox 16">
            <a:extLst xmlns:a="http://schemas.openxmlformats.org/drawingml/2006/main">
              <a:ext uri="{FF2B5EF4-FFF2-40B4-BE49-F238E27FC236}">
                <a16:creationId xmlns:a16="http://schemas.microsoft.com/office/drawing/2014/main" id="{A05E7454-A800-49F3-9810-A2F0596B8958}"/>
              </a:ext>
            </a:extLst>
          </p:cNvPr>
          <p:cNvSpPr>
            <a:spLocks xmlns:a="http://schemas.openxmlformats.org/drawingml/2006/main" noGrp="1"/>
          </p:cNvSpPr>
          <p:nvPr/>
        </p:nvSpPr>
        <p:spPr>
          <a:xfrm xmlns:a="http://schemas.openxmlformats.org/drawingml/2006/main" rot="0" flipH="0" flipV="0">
            <a:off x="641604" y="3623310"/>
            <a:ext cx="124800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demand covered</a:t>
            </a:r>
          </a:p>
        </p:txBody>
      </p:sp>
      <p:sp>
        <p:nvSpPr>
          <p:cNvPr id="18" name="Rectangle 18">
            <a:extLst xmlns:a="http://schemas.openxmlformats.org/drawingml/2006/main">
              <a:ext uri="{FF2B5EF4-FFF2-40B4-BE49-F238E27FC236}">
                <a16:creationId xmlns:a16="http://schemas.microsoft.com/office/drawing/2014/main" id="{5A4B4743-F949-4E24-8B12-95E62E7912F2}"/>
              </a:ext>
            </a:extLst>
          </p:cNvPr>
          <p:cNvSpPr>
            <a:spLocks xmlns:a="http://schemas.openxmlformats.org/drawingml/2006/main" noGrp="1"/>
          </p:cNvSpPr>
          <p:nvPr/>
        </p:nvSpPr>
        <p:spPr>
          <a:xfrm xmlns:a="http://schemas.openxmlformats.org/drawingml/2006/main" rot="0" flipH="0" flipV="0">
            <a:off x="3200400" y="2895600"/>
            <a:ext cx="2590800" cy="990600"/>
          </a:xfrm>
          <a:prstGeom xmlns:a="http://schemas.openxmlformats.org/drawingml/2006/main" prst="roundRect">
            <a:avLst>
              <a:gd name="adj" fmla="val 961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FD246E6D-2369-4510-8AB2-7A58C6C23A65}"/>
              </a:ext>
            </a:extLst>
          </p:cNvPr>
          <p:cNvSpPr>
            <a:spLocks xmlns:a="http://schemas.openxmlformats.org/drawingml/2006/main" noGrp="1"/>
          </p:cNvSpPr>
          <p:nvPr/>
        </p:nvSpPr>
        <p:spPr>
          <a:xfrm xmlns:a="http://schemas.openxmlformats.org/drawingml/2006/main" rot="0" flipH="0" flipV="0">
            <a:off x="3374136" y="3129915"/>
            <a:ext cx="180607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2.28 km</a:t>
            </a:r>
          </a:p>
        </p:txBody>
      </p:sp>
      <p:sp>
        <p:nvSpPr>
          <p:cNvPr id="20" name="TextBox 20">
            <a:extLst xmlns:a="http://schemas.openxmlformats.org/drawingml/2006/main">
              <a:ext uri="{FF2B5EF4-FFF2-40B4-BE49-F238E27FC236}">
                <a16:creationId xmlns:a16="http://schemas.microsoft.com/office/drawing/2014/main" id="{8D3EBB4A-2726-4A2B-B3D0-E82FCBC861F5}"/>
              </a:ext>
            </a:extLst>
          </p:cNvPr>
          <p:cNvSpPr>
            <a:spLocks xmlns:a="http://schemas.openxmlformats.org/drawingml/2006/main" noGrp="1"/>
          </p:cNvSpPr>
          <p:nvPr/>
        </p:nvSpPr>
        <p:spPr>
          <a:xfrm xmlns:a="http://schemas.openxmlformats.org/drawingml/2006/main" rot="0" flipH="0" flipV="0">
            <a:off x="3384804" y="3623310"/>
            <a:ext cx="108646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avg straight-line distance</a:t>
            </a:r>
          </a:p>
        </p:txBody>
      </p:sp>
      <p:sp>
        <p:nvSpPr>
          <p:cNvPr id="23" name="Freeform 23">
            <a:extLst xmlns:a="http://schemas.openxmlformats.org/drawingml/2006/main">
              <a:ext uri="{FF2B5EF4-FFF2-40B4-BE49-F238E27FC236}">
                <a16:creationId xmlns:a16="http://schemas.microsoft.com/office/drawing/2014/main" id="{0F419DCD-E222-4372-AF8B-93F10F4EEA16}"/>
              </a:ext>
            </a:extLst>
          </p:cNvPr>
          <p:cNvSpPr>
            <a:spLocks xmlns:a="http://schemas.openxmlformats.org/drawingml/2006/main" noGrp="1"/>
          </p:cNvSpPr>
          <p:nvPr/>
        </p:nvSpPr>
        <p:spPr>
          <a:xfrm xmlns:a="http://schemas.openxmlformats.org/drawingml/2006/main" rot="0" flipH="0" flipV="0">
            <a:off x="488156" y="4183856"/>
            <a:ext cx="185737" cy="185737"/>
          </a:xfrm>
          <a:custGeom xmlns:a="http://schemas.openxmlformats.org/drawingml/2006/main">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4" name="Freeform 24">
            <a:extLst xmlns:a="http://schemas.openxmlformats.org/drawingml/2006/main">
              <a:ext uri="{FF2B5EF4-FFF2-40B4-BE49-F238E27FC236}">
                <a16:creationId xmlns:a16="http://schemas.microsoft.com/office/drawing/2014/main" id="{AF092A0D-600A-4AD1-984E-B1213BF17020}"/>
              </a:ext>
            </a:extLst>
          </p:cNvPr>
          <p:cNvSpPr>
            <a:spLocks xmlns:a="http://schemas.openxmlformats.org/drawingml/2006/main" noGrp="1"/>
          </p:cNvSpPr>
          <p:nvPr/>
        </p:nvSpPr>
        <p:spPr>
          <a:xfrm xmlns:a="http://schemas.openxmlformats.org/drawingml/2006/main" rot="0" flipH="0" flipV="0">
            <a:off x="550068" y="4256087"/>
            <a:ext cx="61912" cy="41275"/>
          </a:xfrm>
          <a:custGeom xmlns:a="http://schemas.openxmlformats.org/drawingml/2006/main">
            <a:rect l="l" t="t" r="r" b="b"/>
            <a:pathLst>
              <a:path w="61912" h="41275">
                <a:moveTo>
                  <a:pt x="0" y="20637"/>
                </a:moveTo>
                <a:lnTo>
                  <a:pt x="20637" y="41275"/>
                </a:lnTo>
                <a:lnTo>
                  <a:pt x="61912" y="0"/>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6" name="TextBox 26">
            <a:extLst xmlns:a="http://schemas.openxmlformats.org/drawingml/2006/main">
              <a:ext uri="{FF2B5EF4-FFF2-40B4-BE49-F238E27FC236}">
                <a16:creationId xmlns:a16="http://schemas.microsoft.com/office/drawing/2014/main" id="{6C395F0F-5375-4F76-96CA-BA56BA28C0FF}"/>
              </a:ext>
            </a:extLst>
          </p:cNvPr>
          <p:cNvSpPr>
            <a:spLocks xmlns:a="http://schemas.openxmlformats.org/drawingml/2006/main" noGrp="1"/>
          </p:cNvSpPr>
          <p:nvPr/>
        </p:nvSpPr>
        <p:spPr>
          <a:xfrm xmlns:a="http://schemas.openxmlformats.org/drawingml/2006/main" rot="0" flipH="0" flipV="0">
            <a:off x="792480" y="4181475"/>
            <a:ext cx="3603403"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mn-lt"/>
                <a:ea typeface="+mn-lt"/>
                <a:cs typeface="+mn-lt"/>
              </a:rPr>
              <a:t>CBC status: Optimal · all residual checks pass</a:t>
            </a:r>
          </a:p>
        </p:txBody>
      </p:sp>
      <p:sp>
        <p:nvSpPr>
          <p:cNvPr id="28" name="TextBox 28">
            <a:extLst xmlns:a="http://schemas.openxmlformats.org/drawingml/2006/main">
              <a:ext uri="{FF2B5EF4-FFF2-40B4-BE49-F238E27FC236}">
                <a16:creationId xmlns:a16="http://schemas.microsoft.com/office/drawing/2014/main" id="{12BE86F4-FF30-4362-98D1-13723A3955F7}"/>
              </a:ext>
            </a:extLst>
          </p:cNvPr>
          <p:cNvSpPr>
            <a:spLocks xmlns:a="http://schemas.openxmlformats.org/drawingml/2006/main" noGrp="1"/>
          </p:cNvSpPr>
          <p:nvPr/>
        </p:nvSpPr>
        <p:spPr>
          <a:xfrm xmlns:a="http://schemas.openxmlformats.org/drawingml/2006/main" rot="0" flipH="0" flipV="0">
            <a:off x="451104" y="4671060"/>
            <a:ext cx="117543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BUILT SITES</a:t>
            </a:r>
          </a:p>
        </p:txBody>
      </p:sp>
      <p:sp>
        <p:nvSpPr>
          <p:cNvPr id="29" name="TextBox 29">
            <a:extLst xmlns:a="http://schemas.openxmlformats.org/drawingml/2006/main">
              <a:ext uri="{FF2B5EF4-FFF2-40B4-BE49-F238E27FC236}">
                <a16:creationId xmlns:a16="http://schemas.microsoft.com/office/drawing/2014/main" id="{AE6CFE34-E595-4992-9A03-EFF9DABCDF13}"/>
              </a:ext>
            </a:extLst>
          </p:cNvPr>
          <p:cNvSpPr>
            <a:spLocks xmlns:a="http://schemas.openxmlformats.org/drawingml/2006/main" noGrp="1"/>
          </p:cNvSpPr>
          <p:nvPr/>
        </p:nvSpPr>
        <p:spPr>
          <a:xfrm xmlns:a="http://schemas.openxmlformats.org/drawingml/2006/main" rot="0" flipH="0" flipV="0">
            <a:off x="448818" y="4927282"/>
            <a:ext cx="542491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Consolas"/>
                <a:ea typeface="Consolas"/>
                <a:cs typeface="Consolas"/>
              </a:rPr>
              <a:t>S00 S03 S13 S15 S16 S18 — all 4,000-unit garages</a:t>
            </a:r>
          </a:p>
        </p:txBody>
      </p:sp>
      <p:sp>
        <p:nvSpPr>
          <p:cNvPr id="31" name="Rectangle 31">
            <a:extLst xmlns:a="http://schemas.openxmlformats.org/drawingml/2006/main">
              <a:ext uri="{FF2B5EF4-FFF2-40B4-BE49-F238E27FC236}">
                <a16:creationId xmlns:a16="http://schemas.microsoft.com/office/drawing/2014/main" id="{F3DAAB07-56D1-4AD7-9D1A-50293B37338C}"/>
              </a:ext>
            </a:extLst>
          </p:cNvPr>
          <p:cNvSpPr>
            <a:spLocks xmlns:a="http://schemas.openxmlformats.org/drawingml/2006/main" noGrp="1"/>
          </p:cNvSpPr>
          <p:nvPr/>
        </p:nvSpPr>
        <p:spPr>
          <a:xfrm xmlns:a="http://schemas.openxmlformats.org/drawingml/2006/main" rot="0" flipH="0" flipV="0">
            <a:off x="457200" y="5334000"/>
            <a:ext cx="5334000" cy="685800"/>
          </a:xfrm>
          <a:prstGeom xmlns:a="http://schemas.openxmlformats.org/drawingml/2006/main" prst="roundRect">
            <a:avLst>
              <a:gd name="adj" fmla="val 11111"/>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2" name="Rectangle 32">
            <a:extLst xmlns:a="http://schemas.openxmlformats.org/drawingml/2006/main">
              <a:ext uri="{FF2B5EF4-FFF2-40B4-BE49-F238E27FC236}">
                <a16:creationId xmlns:a16="http://schemas.microsoft.com/office/drawing/2014/main" id="{03F3B5F2-5CDD-41E3-8693-2CB4BAB87E2A}"/>
              </a:ext>
            </a:extLst>
          </p:cNvPr>
          <p:cNvSpPr>
            <a:spLocks xmlns:a="http://schemas.openxmlformats.org/drawingml/2006/main" noGrp="1"/>
          </p:cNvSpPr>
          <p:nvPr/>
        </p:nvSpPr>
        <p:spPr>
          <a:xfrm xmlns:a="http://schemas.openxmlformats.org/drawingml/2006/main" rot="0" flipH="0" flipV="0">
            <a:off x="457200" y="5334000"/>
            <a:ext cx="57150" cy="6858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3" name="TextBox 33">
            <a:extLst xmlns:a="http://schemas.openxmlformats.org/drawingml/2006/main">
              <a:ext uri="{FF2B5EF4-FFF2-40B4-BE49-F238E27FC236}">
                <a16:creationId xmlns:a16="http://schemas.microsoft.com/office/drawing/2014/main" id="{B3858D28-7745-42FD-897A-29E1E3B7C8CA}"/>
              </a:ext>
            </a:extLst>
          </p:cNvPr>
          <p:cNvSpPr>
            <a:spLocks xmlns:a="http://schemas.openxmlformats.org/drawingml/2006/main" noGrp="1"/>
          </p:cNvSpPr>
          <p:nvPr/>
        </p:nvSpPr>
        <p:spPr>
          <a:xfrm xmlns:a="http://schemas.openxmlformats.org/drawingml/2006/main" rot="0" flipH="0" flipV="0">
            <a:off x="717042" y="5493068"/>
            <a:ext cx="331942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Primary objective: $589k capex; secondary:</a:t>
            </a:r>
          </a:p>
        </p:txBody>
      </p:sp>
      <p:sp>
        <p:nvSpPr>
          <p:cNvPr id="34" name="TextBox 34">
            <a:extLst xmlns:a="http://schemas.openxmlformats.org/drawingml/2006/main">
              <a:ext uri="{FF2B5EF4-FFF2-40B4-BE49-F238E27FC236}">
                <a16:creationId xmlns:a16="http://schemas.microsoft.com/office/drawing/2014/main" id="{52B0C3C3-3EF8-4CB8-A997-8751E23CC1B1}"/>
              </a:ext>
            </a:extLst>
          </p:cNvPr>
          <p:cNvSpPr>
            <a:spLocks xmlns:a="http://schemas.openxmlformats.org/drawingml/2006/main" noGrp="1"/>
          </p:cNvSpPr>
          <p:nvPr/>
        </p:nvSpPr>
        <p:spPr>
          <a:xfrm xmlns:a="http://schemas.openxmlformats.org/drawingml/2006/main" rot="0" flipH="0" flipV="0">
            <a:off x="717042" y="5721668"/>
            <a:ext cx="4084625"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52,921 demand-km at minimum capex.</a:t>
            </a:r>
          </a:p>
        </p:txBody>
      </p:sp>
      <p:sp>
        <p:nvSpPr>
          <p:cNvPr id="36" name="Rectangle 36">
            <a:extLst xmlns:a="http://schemas.openxmlformats.org/drawingml/2006/main">
              <a:ext uri="{FF2B5EF4-FFF2-40B4-BE49-F238E27FC236}">
                <a16:creationId xmlns:a16="http://schemas.microsoft.com/office/drawing/2014/main" id="{6CB85884-B6DE-4F45-87A5-AF64B1D69293}"/>
              </a:ext>
            </a:extLst>
          </p:cNvPr>
          <p:cNvSpPr>
            <a:spLocks xmlns:a="http://schemas.openxmlformats.org/drawingml/2006/main" noGrp="1"/>
          </p:cNvSpPr>
          <p:nvPr/>
        </p:nvSpPr>
        <p:spPr>
          <a:xfrm xmlns:a="http://schemas.openxmlformats.org/drawingml/2006/main" rot="0" flipH="0" flipV="0">
            <a:off x="6191250" y="1695450"/>
            <a:ext cx="5543550" cy="4514850"/>
          </a:xfrm>
          <a:prstGeom xmlns:a="http://schemas.openxmlformats.org/drawingml/2006/main" prst="roundRect">
            <a:avLst>
              <a:gd name="adj" fmla="val 1688"/>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69" name="Image 37"/>
          <p:cNvPicPr>
            <a:picLocks xmlns:a="http://schemas.openxmlformats.org/drawingml/2006/main" noChangeAspect="1"/>
          </p:cNvPicPr>
          <p:nvPr/>
        </p:nvPicPr>
        <p:blipFill>
          <a:blip xmlns:r="http://schemas.openxmlformats.org/officeDocument/2006/relationships" xmlns:a="http://schemas.openxmlformats.org/drawingml/2006/main" r:embed="R1b36bcefc6cb45eb"/>
          <a:stretch xmlns:a="http://schemas.openxmlformats.org/drawingml/2006/main">
            <a:fillRect l="0" t="0" r="0" b="0"/>
          </a:stretch>
        </p:blipFill>
        <p:spPr>
          <a:xfrm xmlns:a="http://schemas.openxmlformats.org/drawingml/2006/main" rot="0" flipH="0" flipV="0">
            <a:off x="6361347" y="1809750"/>
            <a:ext cx="5203356" cy="4038600"/>
          </a:xfrm>
          <a:prstGeom xmlns:a="http://schemas.openxmlformats.org/drawingml/2006/main" prst="rect">
            <a:avLst/>
          </a:prstGeom>
        </p:spPr>
      </p:pic>
      <p:sp>
        <p:nvSpPr>
          <p:cNvPr id="38" name="TextBox 38">
            <a:extLst xmlns:a="http://schemas.openxmlformats.org/drawingml/2006/main">
              <a:ext uri="{FF2B5EF4-FFF2-40B4-BE49-F238E27FC236}">
                <a16:creationId xmlns:a16="http://schemas.microsoft.com/office/drawing/2014/main" id="{984F63F1-2981-4F19-96F0-C7B34338FC45}"/>
              </a:ext>
            </a:extLst>
          </p:cNvPr>
          <p:cNvSpPr>
            <a:spLocks xmlns:a="http://schemas.openxmlformats.org/drawingml/2006/main" noGrp="1"/>
          </p:cNvSpPr>
          <p:nvPr/>
        </p:nvSpPr>
        <p:spPr>
          <a:xfrm xmlns:a="http://schemas.openxmlformats.org/drawingml/2006/main" rot="0" flipH="0" flipV="0">
            <a:off x="6299454" y="5947410"/>
            <a:ext cx="446024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Six selected licensed facilities; costs/capacities remain scenario assumptions.</a:t>
            </a:r>
          </a:p>
        </p:txBody>
      </p:sp>
      <p:sp>
        <p:nvSpPr>
          <p:cNvPr id="40" name="Line 40">
            <a:extLst xmlns:a="http://schemas.openxmlformats.org/drawingml/2006/main">
              <a:ext uri="{FF2B5EF4-FFF2-40B4-BE49-F238E27FC236}">
                <a16:creationId xmlns:a16="http://schemas.microsoft.com/office/drawing/2014/main" id="{15C2618A-651C-44E1-B11C-93BA7D40238F}"/>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1" name="TextBox 41">
            <a:extLst xmlns:a="http://schemas.openxmlformats.org/drawingml/2006/main">
              <a:ext uri="{FF2B5EF4-FFF2-40B4-BE49-F238E27FC236}">
                <a16:creationId xmlns:a16="http://schemas.microsoft.com/office/drawing/2014/main" id="{FD67BD4D-01AD-4E42-B466-400B808DA71A}"/>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42" name="TextBox 42">
            <a:extLst xmlns:a="http://schemas.openxmlformats.org/drawingml/2006/main">
              <a:ext uri="{FF2B5EF4-FFF2-40B4-BE49-F238E27FC236}">
                <a16:creationId xmlns:a16="http://schemas.microsoft.com/office/drawing/2014/main" id="{959D38C5-29E1-4D61-8FB2-8CAE010C0129}"/>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07 / 14</a:t>
            </a:r>
          </a:p>
        </p:txBody>
      </p:sp>
    </p:spTree>
    <p:extLst>
      <p:ext uri="{BB962C8B-B14F-4D97-AF65-F5344CB8AC3E}">
        <p14:creationId xmlns:p14="http://schemas.microsoft.com/office/powerpoint/2010/main" val="1144755941"/>
      </p:ext>
    </p:extLst>
  </p:cSld>
</p:sld>
</file>

<file path=ppt/slides/slide8.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871B2773-08BF-4A0F-BDFE-F4C92AE03B8F}"/>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7BF3F81C-8165-45EA-BE1A-87353FE5C112}"/>
              </a:ext>
            </a:extLst>
          </p:cNvPr>
          <p:cNvSpPr>
            <a:spLocks xmlns:a="http://schemas.openxmlformats.org/drawingml/2006/main" noGrp="1"/>
          </p:cNvSpPr>
          <p:nvPr/>
        </p:nvSpPr>
        <p:spPr>
          <a:xfrm xmlns:a="http://schemas.openxmlformats.org/drawingml/2006/main" rot="0" flipH="0" flipV="0">
            <a:off x="451104" y="708660"/>
            <a:ext cx="278800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08 · RESULTS — TWO MODES</a:t>
            </a:r>
          </a:p>
        </p:txBody>
      </p:sp>
      <p:sp>
        <p:nvSpPr>
          <p:cNvPr id="4" name="TextBox 4">
            <a:extLst xmlns:a="http://schemas.openxmlformats.org/drawingml/2006/main">
              <a:ext uri="{FF2B5EF4-FFF2-40B4-BE49-F238E27FC236}">
                <a16:creationId xmlns:a16="http://schemas.microsoft.com/office/drawing/2014/main" id="{827746F3-A0CF-4940-AC22-CD44F4416843}"/>
              </a:ext>
            </a:extLst>
          </p:cNvPr>
          <p:cNvSpPr>
            <a:spLocks xmlns:a="http://schemas.openxmlformats.org/drawingml/2006/main" noGrp="1"/>
          </p:cNvSpPr>
          <p:nvPr/>
        </p:nvSpPr>
        <p:spPr>
          <a:xfrm xmlns:a="http://schemas.openxmlformats.org/drawingml/2006/main" rot="0" flipH="0" flipV="0">
            <a:off x="441960" y="895350"/>
            <a:ext cx="11077061"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min_cost vs max_coverage: one model, two questions</a:t>
            </a:r>
          </a:p>
        </p:txBody>
      </p:sp>
      <p:sp>
        <p:nvSpPr>
          <p:cNvPr id="6" name="TextBox 6">
            <a:extLst xmlns:a="http://schemas.openxmlformats.org/drawingml/2006/main">
              <a:ext uri="{FF2B5EF4-FFF2-40B4-BE49-F238E27FC236}">
                <a16:creationId xmlns:a16="http://schemas.microsoft.com/office/drawing/2014/main" id="{3E9FA6D9-4BE2-4042-AE0D-31F88686636E}"/>
              </a:ext>
            </a:extLst>
          </p:cNvPr>
          <p:cNvSpPr>
            <a:spLocks xmlns:a="http://schemas.openxmlformats.org/drawingml/2006/main" noGrp="1"/>
          </p:cNvSpPr>
          <p:nvPr/>
        </p:nvSpPr>
        <p:spPr>
          <a:xfrm xmlns:a="http://schemas.openxmlformats.org/drawingml/2006/main" rot="0" flipH="0" flipV="0">
            <a:off x="449580" y="1666875"/>
            <a:ext cx="9018294"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Same data, different modelling choice — the two agree above the knee and diverge below it.</a:t>
            </a:r>
          </a:p>
        </p:txBody>
      </p:sp>
      <p:sp>
        <p:nvSpPr>
          <p:cNvPr id="8" name="Rectangle 8">
            <a:extLst xmlns:a="http://schemas.openxmlformats.org/drawingml/2006/main">
              <a:ext uri="{FF2B5EF4-FFF2-40B4-BE49-F238E27FC236}">
                <a16:creationId xmlns:a16="http://schemas.microsoft.com/office/drawing/2014/main" id="{95CE10CC-E456-42B7-AFE6-E9D4D36F9178}"/>
              </a:ext>
            </a:extLst>
          </p:cNvPr>
          <p:cNvSpPr>
            <a:spLocks xmlns:a="http://schemas.openxmlformats.org/drawingml/2006/main" noGrp="1"/>
          </p:cNvSpPr>
          <p:nvPr/>
        </p:nvSpPr>
        <p:spPr>
          <a:xfrm xmlns:a="http://schemas.openxmlformats.org/drawingml/2006/main" rot="0" flipH="0" flipV="0">
            <a:off x="457200" y="3657600"/>
            <a:ext cx="11277600" cy="571500"/>
          </a:xfrm>
          <a:prstGeom xmlns:a="http://schemas.openxmlformats.org/drawingml/2006/main" prst="roundRect">
            <a:avLst>
              <a:gd name="adj" fmla="val 10000"/>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9" name="TextBox 9">
            <a:extLst xmlns:a="http://schemas.openxmlformats.org/drawingml/2006/main">
              <a:ext uri="{FF2B5EF4-FFF2-40B4-BE49-F238E27FC236}">
                <a16:creationId xmlns:a16="http://schemas.microsoft.com/office/drawing/2014/main" id="{D890CFC7-E7BB-42DE-B8F0-21976316EA8C}"/>
              </a:ext>
            </a:extLst>
          </p:cNvPr>
          <p:cNvSpPr>
            <a:spLocks xmlns:a="http://schemas.openxmlformats.org/drawingml/2006/main" noGrp="1"/>
          </p:cNvSpPr>
          <p:nvPr/>
        </p:nvSpPr>
        <p:spPr>
          <a:xfrm xmlns:a="http://schemas.openxmlformats.org/drawingml/2006/main" rot="0" flipH="0" flipV="0">
            <a:off x="679704" y="2175510"/>
            <a:ext cx="65696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75">
                <a:solidFill>
                  <a:schemeClr val="accent1"/>
                </a:solidFill>
                <a:latin typeface="+mn-lt"/>
                <a:ea typeface="+mn-lt"/>
                <a:cs typeface="+mn-lt"/>
              </a:rPr>
              <a:t>BUDGET</a:t>
            </a:r>
          </a:p>
        </p:txBody>
      </p:sp>
      <p:sp>
        <p:nvSpPr>
          <p:cNvPr id="10" name="TextBox 10">
            <a:extLst xmlns:a="http://schemas.openxmlformats.org/drawingml/2006/main">
              <a:ext uri="{FF2B5EF4-FFF2-40B4-BE49-F238E27FC236}">
                <a16:creationId xmlns:a16="http://schemas.microsoft.com/office/drawing/2014/main" id="{8A6A2E2A-DEEE-4E76-B35D-308B1878107A}"/>
              </a:ext>
            </a:extLst>
          </p:cNvPr>
          <p:cNvSpPr>
            <a:spLocks xmlns:a="http://schemas.openxmlformats.org/drawingml/2006/main" noGrp="1"/>
          </p:cNvSpPr>
          <p:nvPr/>
        </p:nvSpPr>
        <p:spPr>
          <a:xfrm xmlns:a="http://schemas.openxmlformats.org/drawingml/2006/main" rot="0" flipH="0" flipV="0">
            <a:off x="3803904" y="2175510"/>
            <a:ext cx="82072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75">
                <a:solidFill>
                  <a:schemeClr val="accent1"/>
                </a:solidFill>
                <a:latin typeface="+mn-lt"/>
                <a:ea typeface="+mn-lt"/>
                <a:cs typeface="+mn-lt"/>
              </a:rPr>
              <a:t>min_cost</a:t>
            </a:r>
          </a:p>
        </p:txBody>
      </p:sp>
      <p:sp>
        <p:nvSpPr>
          <p:cNvPr id="11" name="TextBox 11">
            <a:extLst xmlns:a="http://schemas.openxmlformats.org/drawingml/2006/main">
              <a:ext uri="{FF2B5EF4-FFF2-40B4-BE49-F238E27FC236}">
                <a16:creationId xmlns:a16="http://schemas.microsoft.com/office/drawing/2014/main" id="{19EE792F-FB98-49C5-ABC1-3583DD9DC962}"/>
              </a:ext>
            </a:extLst>
          </p:cNvPr>
          <p:cNvSpPr>
            <a:spLocks xmlns:a="http://schemas.openxmlformats.org/drawingml/2006/main" noGrp="1"/>
          </p:cNvSpPr>
          <p:nvPr/>
        </p:nvSpPr>
        <p:spPr>
          <a:xfrm xmlns:a="http://schemas.openxmlformats.org/drawingml/2006/main" rot="0" flipH="0" flipV="0">
            <a:off x="7804404" y="2175510"/>
            <a:ext cx="127667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75">
                <a:solidFill>
                  <a:schemeClr val="accent1"/>
                </a:solidFill>
                <a:latin typeface="+mn-lt"/>
                <a:ea typeface="+mn-lt"/>
                <a:cs typeface="+mn-lt"/>
              </a:rPr>
              <a:t>max_coverage</a:t>
            </a:r>
          </a:p>
        </p:txBody>
      </p:sp>
      <p:sp>
        <p:nvSpPr>
          <p:cNvPr id="12" name="Line 12">
            <a:extLst xmlns:a="http://schemas.openxmlformats.org/drawingml/2006/main">
              <a:ext uri="{FF2B5EF4-FFF2-40B4-BE49-F238E27FC236}">
                <a16:creationId xmlns:a16="http://schemas.microsoft.com/office/drawing/2014/main" id="{92118999-D799-429F-9FC4-E59BD49F8A18}"/>
              </a:ext>
            </a:extLst>
          </p:cNvPr>
          <p:cNvSpPr>
            <a:spLocks xmlns:a="http://schemas.openxmlformats.org/drawingml/2006/main" noGrp="1"/>
          </p:cNvSpPr>
          <p:nvPr/>
        </p:nvSpPr>
        <p:spPr>
          <a:xfrm xmlns:a="http://schemas.openxmlformats.org/drawingml/2006/main" rot="0" flipH="0" flipV="0">
            <a:off x="457200" y="2457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3" name="TextBox 13">
            <a:extLst xmlns:a="http://schemas.openxmlformats.org/drawingml/2006/main">
              <a:ext uri="{FF2B5EF4-FFF2-40B4-BE49-F238E27FC236}">
                <a16:creationId xmlns:a16="http://schemas.microsoft.com/office/drawing/2014/main" id="{73E3EAF0-39DC-446A-A6E7-0A9840AB42C2}"/>
              </a:ext>
            </a:extLst>
          </p:cNvPr>
          <p:cNvSpPr>
            <a:spLocks xmlns:a="http://schemas.openxmlformats.org/drawingml/2006/main" noGrp="1"/>
          </p:cNvSpPr>
          <p:nvPr/>
        </p:nvSpPr>
        <p:spPr>
          <a:xfrm xmlns:a="http://schemas.openxmlformats.org/drawingml/2006/main" rot="0" flipH="0" flipV="0">
            <a:off x="677418" y="271748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Consolas"/>
                <a:ea typeface="Consolas"/>
                <a:cs typeface="Consolas"/>
              </a:rPr>
              <a:t>$300k</a:t>
            </a:r>
          </a:p>
        </p:txBody>
      </p:sp>
      <p:sp>
        <p:nvSpPr>
          <p:cNvPr id="14" name="TextBox 14">
            <a:extLst xmlns:a="http://schemas.openxmlformats.org/drawingml/2006/main">
              <a:ext uri="{FF2B5EF4-FFF2-40B4-BE49-F238E27FC236}">
                <a16:creationId xmlns:a16="http://schemas.microsoft.com/office/drawing/2014/main" id="{0C321544-8704-48F5-BB3E-058208DE4CE9}"/>
              </a:ext>
            </a:extLst>
          </p:cNvPr>
          <p:cNvSpPr>
            <a:spLocks xmlns:a="http://schemas.openxmlformats.org/drawingml/2006/main" noGrp="1"/>
          </p:cNvSpPr>
          <p:nvPr/>
        </p:nvSpPr>
        <p:spPr>
          <a:xfrm xmlns:a="http://schemas.openxmlformats.org/drawingml/2006/main" rot="0" flipH="0" flipV="0">
            <a:off x="3802380" y="2733675"/>
            <a:ext cx="1028067"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3"/>
                </a:solidFill>
                <a:latin typeface="+mn-lt"/>
                <a:ea typeface="+mn-lt"/>
                <a:cs typeface="+mn-lt"/>
              </a:rPr>
              <a:t>Infeasible</a:t>
            </a:r>
          </a:p>
        </p:txBody>
      </p:sp>
      <p:sp>
        <p:nvSpPr>
          <p:cNvPr id="15" name="TextBox 15">
            <a:extLst xmlns:a="http://schemas.openxmlformats.org/drawingml/2006/main">
              <a:ext uri="{FF2B5EF4-FFF2-40B4-BE49-F238E27FC236}">
                <a16:creationId xmlns:a16="http://schemas.microsoft.com/office/drawing/2014/main" id="{DC80AC3F-3D7A-40D3-8BFA-5E53CED0F6E5}"/>
              </a:ext>
            </a:extLst>
          </p:cNvPr>
          <p:cNvSpPr>
            <a:spLocks xmlns:a="http://schemas.openxmlformats.org/drawingml/2006/main" noGrp="1"/>
          </p:cNvSpPr>
          <p:nvPr/>
        </p:nvSpPr>
        <p:spPr>
          <a:xfrm xmlns:a="http://schemas.openxmlformats.org/drawingml/2006/main" rot="0" flipH="0" flipV="0">
            <a:off x="7802880" y="2733675"/>
            <a:ext cx="223647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51.6% covered · $255k</a:t>
            </a:r>
          </a:p>
        </p:txBody>
      </p:sp>
      <p:sp>
        <p:nvSpPr>
          <p:cNvPr id="17" name="Line 17">
            <a:extLst xmlns:a="http://schemas.openxmlformats.org/drawingml/2006/main">
              <a:ext uri="{FF2B5EF4-FFF2-40B4-BE49-F238E27FC236}">
                <a16:creationId xmlns:a16="http://schemas.microsoft.com/office/drawing/2014/main" id="{BA70970D-95BE-46B4-9525-D4552FB2CA7C}"/>
              </a:ext>
            </a:extLst>
          </p:cNvPr>
          <p:cNvSpPr>
            <a:spLocks xmlns:a="http://schemas.openxmlformats.org/drawingml/2006/main" noGrp="1"/>
          </p:cNvSpPr>
          <p:nvPr/>
        </p:nvSpPr>
        <p:spPr>
          <a:xfrm xmlns:a="http://schemas.openxmlformats.org/drawingml/2006/main" rot="0" flipH="0" flipV="0">
            <a:off x="457200" y="31051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18" name="TextBox 18">
            <a:extLst xmlns:a="http://schemas.openxmlformats.org/drawingml/2006/main">
              <a:ext uri="{FF2B5EF4-FFF2-40B4-BE49-F238E27FC236}">
                <a16:creationId xmlns:a16="http://schemas.microsoft.com/office/drawing/2014/main" id="{B00A7336-9DC5-40D7-9E65-BDF3452D2C92}"/>
              </a:ext>
            </a:extLst>
          </p:cNvPr>
          <p:cNvSpPr>
            <a:spLocks xmlns:a="http://schemas.openxmlformats.org/drawingml/2006/main" noGrp="1"/>
          </p:cNvSpPr>
          <p:nvPr/>
        </p:nvSpPr>
        <p:spPr>
          <a:xfrm xmlns:a="http://schemas.openxmlformats.org/drawingml/2006/main" rot="0" flipH="0" flipV="0">
            <a:off x="677418" y="326993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Consolas"/>
                <a:ea typeface="Consolas"/>
                <a:cs typeface="Consolas"/>
              </a:rPr>
              <a:t>$500k</a:t>
            </a:r>
          </a:p>
        </p:txBody>
      </p:sp>
      <p:sp>
        <p:nvSpPr>
          <p:cNvPr id="19" name="TextBox 19">
            <a:extLst xmlns:a="http://schemas.openxmlformats.org/drawingml/2006/main">
              <a:ext uri="{FF2B5EF4-FFF2-40B4-BE49-F238E27FC236}">
                <a16:creationId xmlns:a16="http://schemas.microsoft.com/office/drawing/2014/main" id="{EE8D4E5B-B588-4A08-98A0-C2A000F6F36B}"/>
              </a:ext>
            </a:extLst>
          </p:cNvPr>
          <p:cNvSpPr>
            <a:spLocks xmlns:a="http://schemas.openxmlformats.org/drawingml/2006/main" noGrp="1"/>
          </p:cNvSpPr>
          <p:nvPr/>
        </p:nvSpPr>
        <p:spPr>
          <a:xfrm xmlns:a="http://schemas.openxmlformats.org/drawingml/2006/main" rot="0" flipH="0" flipV="0">
            <a:off x="3802380" y="3286125"/>
            <a:ext cx="1028067"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3"/>
                </a:solidFill>
                <a:latin typeface="+mn-lt"/>
                <a:ea typeface="+mn-lt"/>
                <a:cs typeface="+mn-lt"/>
              </a:rPr>
              <a:t>Infeasible</a:t>
            </a:r>
          </a:p>
        </p:txBody>
      </p:sp>
      <p:sp>
        <p:nvSpPr>
          <p:cNvPr id="20" name="TextBox 20">
            <a:extLst xmlns:a="http://schemas.openxmlformats.org/drawingml/2006/main">
              <a:ext uri="{FF2B5EF4-FFF2-40B4-BE49-F238E27FC236}">
                <a16:creationId xmlns:a16="http://schemas.microsoft.com/office/drawing/2014/main" id="{00CEEC2B-E877-4E0C-B9A6-DB487A0C0EF5}"/>
              </a:ext>
            </a:extLst>
          </p:cNvPr>
          <p:cNvSpPr>
            <a:spLocks xmlns:a="http://schemas.openxmlformats.org/drawingml/2006/main" noGrp="1"/>
          </p:cNvSpPr>
          <p:nvPr/>
        </p:nvSpPr>
        <p:spPr>
          <a:xfrm xmlns:a="http://schemas.openxmlformats.org/drawingml/2006/main" rot="0" flipH="0" flipV="0">
            <a:off x="7802880" y="3286125"/>
            <a:ext cx="223647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86.0% covered · $457k</a:t>
            </a:r>
          </a:p>
        </p:txBody>
      </p:sp>
      <p:sp>
        <p:nvSpPr>
          <p:cNvPr id="22" name="TextBox 22">
            <a:extLst xmlns:a="http://schemas.openxmlformats.org/drawingml/2006/main">
              <a:ext uri="{FF2B5EF4-FFF2-40B4-BE49-F238E27FC236}">
                <a16:creationId xmlns:a16="http://schemas.microsoft.com/office/drawing/2014/main" id="{DA711CF3-9FF1-4087-82E1-7A129C79C092}"/>
              </a:ext>
            </a:extLst>
          </p:cNvPr>
          <p:cNvSpPr>
            <a:spLocks xmlns:a="http://schemas.openxmlformats.org/drawingml/2006/main" noGrp="1"/>
          </p:cNvSpPr>
          <p:nvPr/>
        </p:nvSpPr>
        <p:spPr>
          <a:xfrm xmlns:a="http://schemas.openxmlformats.org/drawingml/2006/main" rot="0" flipH="0" flipV="0">
            <a:off x="677418" y="384143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Consolas"/>
                <a:ea typeface="Consolas"/>
                <a:cs typeface="Consolas"/>
              </a:rPr>
              <a:t>$589k</a:t>
            </a:r>
          </a:p>
        </p:txBody>
      </p:sp>
      <p:sp>
        <p:nvSpPr>
          <p:cNvPr id="23" name="TextBox 23">
            <a:extLst xmlns:a="http://schemas.openxmlformats.org/drawingml/2006/main">
              <a:ext uri="{FF2B5EF4-FFF2-40B4-BE49-F238E27FC236}">
                <a16:creationId xmlns:a16="http://schemas.microsoft.com/office/drawing/2014/main" id="{6A0006AF-2075-415F-8BBB-EC57132722D6}"/>
              </a:ext>
            </a:extLst>
          </p:cNvPr>
          <p:cNvSpPr>
            <a:spLocks xmlns:a="http://schemas.openxmlformats.org/drawingml/2006/main" noGrp="1"/>
          </p:cNvSpPr>
          <p:nvPr/>
        </p:nvSpPr>
        <p:spPr>
          <a:xfrm xmlns:a="http://schemas.openxmlformats.org/drawingml/2006/main" rot="0" flipH="0" flipV="0">
            <a:off x="3802380" y="3857625"/>
            <a:ext cx="1828067"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mn-lt"/>
                <a:ea typeface="+mn-lt"/>
                <a:cs typeface="+mn-lt"/>
              </a:rPr>
              <a:t>6 stations · 100%</a:t>
            </a:r>
          </a:p>
        </p:txBody>
      </p:sp>
      <p:sp>
        <p:nvSpPr>
          <p:cNvPr id="24" name="TextBox 24">
            <a:extLst xmlns:a="http://schemas.openxmlformats.org/drawingml/2006/main">
              <a:ext uri="{FF2B5EF4-FFF2-40B4-BE49-F238E27FC236}">
                <a16:creationId xmlns:a16="http://schemas.microsoft.com/office/drawing/2014/main" id="{F6515189-068F-43AA-88D8-058E450212AF}"/>
              </a:ext>
            </a:extLst>
          </p:cNvPr>
          <p:cNvSpPr>
            <a:spLocks xmlns:a="http://schemas.openxmlformats.org/drawingml/2006/main" noGrp="1"/>
          </p:cNvSpPr>
          <p:nvPr/>
        </p:nvSpPr>
        <p:spPr>
          <a:xfrm xmlns:a="http://schemas.openxmlformats.org/drawingml/2006/main" rot="0" flipH="0" flipV="0">
            <a:off x="7802880" y="3857625"/>
            <a:ext cx="301541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mn-lt"/>
                <a:ea typeface="+mn-lt"/>
                <a:cs typeface="+mn-lt"/>
              </a:rPr>
              <a:t>6 stations · 100% (identical)</a:t>
            </a:r>
          </a:p>
        </p:txBody>
      </p:sp>
      <p:sp>
        <p:nvSpPr>
          <p:cNvPr id="27" name="Rectangle 27">
            <a:extLst xmlns:a="http://schemas.openxmlformats.org/drawingml/2006/main">
              <a:ext uri="{FF2B5EF4-FFF2-40B4-BE49-F238E27FC236}">
                <a16:creationId xmlns:a16="http://schemas.microsoft.com/office/drawing/2014/main" id="{3E5A8AAE-3980-4CB0-BE84-DDA4B0F861E0}"/>
              </a:ext>
            </a:extLst>
          </p:cNvPr>
          <p:cNvSpPr>
            <a:spLocks xmlns:a="http://schemas.openxmlformats.org/drawingml/2006/main" noGrp="1"/>
          </p:cNvSpPr>
          <p:nvPr/>
        </p:nvSpPr>
        <p:spPr>
          <a:xfrm xmlns:a="http://schemas.openxmlformats.org/drawingml/2006/main" rot="0" flipH="0" flipV="0">
            <a:off x="457200" y="4476750"/>
            <a:ext cx="5448300" cy="628650"/>
          </a:xfrm>
          <a:prstGeom xmlns:a="http://schemas.openxmlformats.org/drawingml/2006/main" prst="roundRect">
            <a:avLst>
              <a:gd name="adj" fmla="val 12121"/>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8" name="Freeform 28">
            <a:extLst xmlns:a="http://schemas.openxmlformats.org/drawingml/2006/main">
              <a:ext uri="{FF2B5EF4-FFF2-40B4-BE49-F238E27FC236}">
                <a16:creationId xmlns:a16="http://schemas.microsoft.com/office/drawing/2014/main" id="{D9914E1C-C245-41F9-8679-A0B4809D4A6B}"/>
              </a:ext>
            </a:extLst>
          </p:cNvPr>
          <p:cNvSpPr>
            <a:spLocks xmlns:a="http://schemas.openxmlformats.org/drawingml/2006/main" noGrp="1"/>
          </p:cNvSpPr>
          <p:nvPr/>
        </p:nvSpPr>
        <p:spPr>
          <a:xfrm xmlns:a="http://schemas.openxmlformats.org/drawingml/2006/main" rot="0" flipH="0" flipV="0">
            <a:off x="758031" y="4729162"/>
            <a:ext cx="103187" cy="123825"/>
          </a:xfrm>
          <a:custGeom xmlns:a="http://schemas.openxmlformats.org/drawingml/2006/main">
            <a:rect l="l" t="t" r="r" b="b"/>
            <a:pathLst>
              <a:path w="103187" h="123825">
                <a:moveTo>
                  <a:pt x="100092" y="20637"/>
                </a:moveTo>
                <a:cubicBezTo>
                  <a:pt x="95890" y="8715"/>
                  <a:pt x="84861" y="545"/>
                  <a:pt x="72231" y="0"/>
                </a:cubicBezTo>
                <a:lnTo>
                  <a:pt x="30956" y="0"/>
                </a:lnTo>
                <a:cubicBezTo>
                  <a:pt x="13860" y="0"/>
                  <a:pt x="0" y="13860"/>
                  <a:pt x="0" y="30956"/>
                </a:cubicBezTo>
                <a:cubicBezTo>
                  <a:pt x="0" y="48053"/>
                  <a:pt x="13860" y="61912"/>
                  <a:pt x="30956" y="61912"/>
                </a:cubicBezTo>
                <a:lnTo>
                  <a:pt x="72231" y="61912"/>
                </a:lnTo>
                <a:cubicBezTo>
                  <a:pt x="89328" y="61912"/>
                  <a:pt x="103187" y="75772"/>
                  <a:pt x="103187" y="92868"/>
                </a:cubicBezTo>
                <a:cubicBezTo>
                  <a:pt x="103187" y="109965"/>
                  <a:pt x="89328" y="123825"/>
                  <a:pt x="72231" y="123825"/>
                </a:cubicBezTo>
                <a:lnTo>
                  <a:pt x="30956" y="123825"/>
                </a:lnTo>
                <a:cubicBezTo>
                  <a:pt x="18327" y="123279"/>
                  <a:pt x="7298" y="115110"/>
                  <a:pt x="3096" y="103187"/>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9" name="Freeform 29">
            <a:extLst xmlns:a="http://schemas.openxmlformats.org/drawingml/2006/main">
              <a:ext uri="{FF2B5EF4-FFF2-40B4-BE49-F238E27FC236}">
                <a16:creationId xmlns:a16="http://schemas.microsoft.com/office/drawing/2014/main" id="{53D883A9-6385-49F1-BEF4-707432B193F9}"/>
              </a:ext>
            </a:extLst>
          </p:cNvPr>
          <p:cNvSpPr>
            <a:spLocks xmlns:a="http://schemas.openxmlformats.org/drawingml/2006/main" noGrp="1"/>
          </p:cNvSpPr>
          <p:nvPr/>
        </p:nvSpPr>
        <p:spPr>
          <a:xfrm xmlns:a="http://schemas.openxmlformats.org/drawingml/2006/main" rot="0" flipH="0" flipV="0">
            <a:off x="809625" y="4698206"/>
            <a:ext cx="9525" cy="185737"/>
          </a:xfrm>
          <a:custGeom xmlns:a="http://schemas.openxmlformats.org/drawingml/2006/main">
            <a:rect l="l" t="t" r="r" b="b"/>
            <a:pathLst>
              <a:path w="9525" h="185737">
                <a:moveTo>
                  <a:pt x="0" y="0"/>
                </a:moveTo>
                <a:lnTo>
                  <a:pt x="0" y="30956"/>
                </a:lnTo>
                <a:moveTo>
                  <a:pt x="0" y="154781"/>
                </a:moveTo>
                <a:lnTo>
                  <a:pt x="0" y="185737"/>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1" name="TextBox 31">
            <a:extLst xmlns:a="http://schemas.openxmlformats.org/drawingml/2006/main">
              <a:ext uri="{FF2B5EF4-FFF2-40B4-BE49-F238E27FC236}">
                <a16:creationId xmlns:a16="http://schemas.microsoft.com/office/drawing/2014/main" id="{FAFB773B-5385-42CA-B83A-0B4EE84293E4}"/>
              </a:ext>
            </a:extLst>
          </p:cNvPr>
          <p:cNvSpPr>
            <a:spLocks xmlns:a="http://schemas.openxmlformats.org/drawingml/2006/main" noGrp="1"/>
          </p:cNvSpPr>
          <p:nvPr/>
        </p:nvSpPr>
        <p:spPr>
          <a:xfrm xmlns:a="http://schemas.openxmlformats.org/drawingml/2006/main" rot="0" flipH="0" flipV="0">
            <a:off x="1041273" y="4624864"/>
            <a:ext cx="799996"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b="1">
                <a:solidFill>
                  <a:schemeClr val="accent1"/>
                </a:solidFill>
                <a:latin typeface="+mn-lt"/>
                <a:ea typeface="+mn-lt"/>
                <a:cs typeface="+mn-lt"/>
              </a:rPr>
              <a:t>min_cost</a:t>
            </a:r>
          </a:p>
        </p:txBody>
      </p:sp>
      <p:sp>
        <p:nvSpPr>
          <p:cNvPr id="32" name="TextBox 32">
            <a:extLst xmlns:a="http://schemas.openxmlformats.org/drawingml/2006/main">
              <a:ext uri="{FF2B5EF4-FFF2-40B4-BE49-F238E27FC236}">
                <a16:creationId xmlns:a16="http://schemas.microsoft.com/office/drawing/2014/main" id="{53883CD4-4247-4325-BD84-91B7EF3CD203}"/>
              </a:ext>
            </a:extLst>
          </p:cNvPr>
          <p:cNvSpPr>
            <a:spLocks xmlns:a="http://schemas.openxmlformats.org/drawingml/2006/main" noGrp="1"/>
          </p:cNvSpPr>
          <p:nvPr/>
        </p:nvSpPr>
        <p:spPr>
          <a:xfrm xmlns:a="http://schemas.openxmlformats.org/drawingml/2006/main" rot="0" flipH="0" flipV="0">
            <a:off x="1040892" y="4845368"/>
            <a:ext cx="253696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What does full service cost?</a:t>
            </a:r>
          </a:p>
        </p:txBody>
      </p:sp>
      <p:sp>
        <p:nvSpPr>
          <p:cNvPr id="34" name="Rectangle 34">
            <a:extLst xmlns:a="http://schemas.openxmlformats.org/drawingml/2006/main">
              <a:ext uri="{FF2B5EF4-FFF2-40B4-BE49-F238E27FC236}">
                <a16:creationId xmlns:a16="http://schemas.microsoft.com/office/drawing/2014/main" id="{0F2BADE7-FFB0-4E8C-B577-C679736B9840}"/>
              </a:ext>
            </a:extLst>
          </p:cNvPr>
          <p:cNvSpPr>
            <a:spLocks xmlns:a="http://schemas.openxmlformats.org/drawingml/2006/main" noGrp="1"/>
          </p:cNvSpPr>
          <p:nvPr/>
        </p:nvSpPr>
        <p:spPr>
          <a:xfrm xmlns:a="http://schemas.openxmlformats.org/drawingml/2006/main" rot="0" flipH="0" flipV="0">
            <a:off x="6286500" y="4476750"/>
            <a:ext cx="5448300" cy="628650"/>
          </a:xfrm>
          <a:prstGeom xmlns:a="http://schemas.openxmlformats.org/drawingml/2006/main" prst="roundRect">
            <a:avLst>
              <a:gd name="adj" fmla="val 12121"/>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5" name="Freeform 35">
            <a:extLst xmlns:a="http://schemas.openxmlformats.org/drawingml/2006/main">
              <a:ext uri="{FF2B5EF4-FFF2-40B4-BE49-F238E27FC236}">
                <a16:creationId xmlns:a16="http://schemas.microsoft.com/office/drawing/2014/main" id="{2E6C149D-5449-4210-B627-4D2044205F79}"/>
              </a:ext>
            </a:extLst>
          </p:cNvPr>
          <p:cNvSpPr>
            <a:spLocks xmlns:a="http://schemas.openxmlformats.org/drawingml/2006/main" noGrp="1"/>
          </p:cNvSpPr>
          <p:nvPr/>
        </p:nvSpPr>
        <p:spPr>
          <a:xfrm xmlns:a="http://schemas.openxmlformats.org/drawingml/2006/main" rot="0" flipH="0" flipV="0">
            <a:off x="6556375" y="4863306"/>
            <a:ext cx="165099" cy="9525"/>
          </a:xfrm>
          <a:custGeom xmlns:a="http://schemas.openxmlformats.org/drawingml/2006/main">
            <a:rect l="l" t="t" r="r" b="b"/>
            <a:pathLst>
              <a:path w="165099" h="9525">
                <a:moveTo>
                  <a:pt x="0" y="0"/>
                </a:moveTo>
                <a:lnTo>
                  <a:pt x="165099" y="0"/>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6" name="Freeform 36">
            <a:extLst xmlns:a="http://schemas.openxmlformats.org/drawingml/2006/main">
              <a:ext uri="{FF2B5EF4-FFF2-40B4-BE49-F238E27FC236}">
                <a16:creationId xmlns:a16="http://schemas.microsoft.com/office/drawing/2014/main" id="{36108C14-6269-444A-A5B7-059EC263DC52}"/>
              </a:ext>
            </a:extLst>
          </p:cNvPr>
          <p:cNvSpPr>
            <a:spLocks xmlns:a="http://schemas.openxmlformats.org/drawingml/2006/main" noGrp="1"/>
          </p:cNvSpPr>
          <p:nvPr/>
        </p:nvSpPr>
        <p:spPr>
          <a:xfrm xmlns:a="http://schemas.openxmlformats.org/drawingml/2006/main" rot="0" flipH="0" flipV="0">
            <a:off x="6556375" y="4729162"/>
            <a:ext cx="165099" cy="92868"/>
          </a:xfrm>
          <a:custGeom xmlns:a="http://schemas.openxmlformats.org/drawingml/2006/main">
            <a:rect l="l" t="t" r="r" b="b"/>
            <a:pathLst>
              <a:path w="165099" h="92868">
                <a:moveTo>
                  <a:pt x="0" y="92868"/>
                </a:moveTo>
                <a:lnTo>
                  <a:pt x="41275" y="30956"/>
                </a:lnTo>
                <a:lnTo>
                  <a:pt x="82550" y="51594"/>
                </a:lnTo>
                <a:lnTo>
                  <a:pt x="123825" y="0"/>
                </a:lnTo>
                <a:lnTo>
                  <a:pt x="165099" y="41275"/>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8" name="TextBox 38">
            <a:extLst xmlns:a="http://schemas.openxmlformats.org/drawingml/2006/main">
              <a:ext uri="{FF2B5EF4-FFF2-40B4-BE49-F238E27FC236}">
                <a16:creationId xmlns:a16="http://schemas.microsoft.com/office/drawing/2014/main" id="{0A2258AD-3FD3-4218-933C-F61E2F27E4EF}"/>
              </a:ext>
            </a:extLst>
          </p:cNvPr>
          <p:cNvSpPr>
            <a:spLocks xmlns:a="http://schemas.openxmlformats.org/drawingml/2006/main" noGrp="1"/>
          </p:cNvSpPr>
          <p:nvPr/>
        </p:nvSpPr>
        <p:spPr>
          <a:xfrm xmlns:a="http://schemas.openxmlformats.org/drawingml/2006/main" rot="0" flipH="0" flipV="0">
            <a:off x="6870573" y="4624864"/>
            <a:ext cx="1243273"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b="1">
                <a:solidFill>
                  <a:schemeClr val="accent1"/>
                </a:solidFill>
                <a:latin typeface="+mn-lt"/>
                <a:ea typeface="+mn-lt"/>
                <a:cs typeface="+mn-lt"/>
              </a:rPr>
              <a:t>max_coverage</a:t>
            </a:r>
          </a:p>
        </p:txBody>
      </p:sp>
      <p:sp>
        <p:nvSpPr>
          <p:cNvPr id="39" name="TextBox 39">
            <a:extLst xmlns:a="http://schemas.openxmlformats.org/drawingml/2006/main">
              <a:ext uri="{FF2B5EF4-FFF2-40B4-BE49-F238E27FC236}">
                <a16:creationId xmlns:a16="http://schemas.microsoft.com/office/drawing/2014/main" id="{71646E8A-2C57-45E2-BC7C-AE569C47C995}"/>
              </a:ext>
            </a:extLst>
          </p:cNvPr>
          <p:cNvSpPr>
            <a:spLocks xmlns:a="http://schemas.openxmlformats.org/drawingml/2006/main" noGrp="1"/>
          </p:cNvSpPr>
          <p:nvPr/>
        </p:nvSpPr>
        <p:spPr>
          <a:xfrm xmlns:a="http://schemas.openxmlformats.org/drawingml/2006/main" rot="0" flipH="0" flipV="0">
            <a:off x="6870192" y="4845368"/>
            <a:ext cx="2828463"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The budget is fixed — now what?</a:t>
            </a:r>
          </a:p>
        </p:txBody>
      </p:sp>
      <p:sp>
        <p:nvSpPr>
          <p:cNvPr id="41" name="Rectangle 41">
            <a:extLst xmlns:a="http://schemas.openxmlformats.org/drawingml/2006/main">
              <a:ext uri="{FF2B5EF4-FFF2-40B4-BE49-F238E27FC236}">
                <a16:creationId xmlns:a16="http://schemas.microsoft.com/office/drawing/2014/main" id="{E4943DC5-B118-4D7D-9616-BBE3AEFBC3BC}"/>
              </a:ext>
            </a:extLst>
          </p:cNvPr>
          <p:cNvSpPr>
            <a:spLocks xmlns:a="http://schemas.openxmlformats.org/drawingml/2006/main" noGrp="1"/>
          </p:cNvSpPr>
          <p:nvPr/>
        </p:nvSpPr>
        <p:spPr>
          <a:xfrm xmlns:a="http://schemas.openxmlformats.org/drawingml/2006/main" rot="0" flipH="0" flipV="0">
            <a:off x="457200" y="5257800"/>
            <a:ext cx="11277600" cy="590550"/>
          </a:xfrm>
          <a:prstGeom xmlns:a="http://schemas.openxmlformats.org/drawingml/2006/main" prst="roundRect">
            <a:avLst>
              <a:gd name="adj" fmla="val 12903"/>
            </a:avLst>
          </a:prstGeom>
          <a:solidFill xmlns:a="http://schemas.openxmlformats.org/drawingml/2006/main">
            <a:srgbClr val="ECF7F5"/>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2" name="Rectangle 42">
            <a:extLst xmlns:a="http://schemas.openxmlformats.org/drawingml/2006/main">
              <a:ext uri="{FF2B5EF4-FFF2-40B4-BE49-F238E27FC236}">
                <a16:creationId xmlns:a16="http://schemas.microsoft.com/office/drawing/2014/main" id="{76355592-0602-4B11-B9B5-54B23B6CF876}"/>
              </a:ext>
            </a:extLst>
          </p:cNvPr>
          <p:cNvSpPr>
            <a:spLocks xmlns:a="http://schemas.openxmlformats.org/drawingml/2006/main" noGrp="1"/>
          </p:cNvSpPr>
          <p:nvPr/>
        </p:nvSpPr>
        <p:spPr>
          <a:xfrm xmlns:a="http://schemas.openxmlformats.org/drawingml/2006/main" rot="0" flipH="0" flipV="0">
            <a:off x="457200" y="5257800"/>
            <a:ext cx="57150" cy="59055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3" name="TextBox 43">
            <a:extLst xmlns:a="http://schemas.openxmlformats.org/drawingml/2006/main">
              <a:ext uri="{FF2B5EF4-FFF2-40B4-BE49-F238E27FC236}">
                <a16:creationId xmlns:a16="http://schemas.microsoft.com/office/drawing/2014/main" id="{AB9E9144-24E4-4AF5-8DA1-08DF1BE68500}"/>
              </a:ext>
            </a:extLst>
          </p:cNvPr>
          <p:cNvSpPr>
            <a:spLocks xmlns:a="http://schemas.openxmlformats.org/drawingml/2006/main" noGrp="1"/>
          </p:cNvSpPr>
          <p:nvPr/>
        </p:nvSpPr>
        <p:spPr>
          <a:xfrm xmlns:a="http://schemas.openxmlformats.org/drawingml/2006/main" rot="0" flipH="0" flipV="0">
            <a:off x="717042" y="5474018"/>
            <a:ext cx="935538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At and above $589k both return the same minimum-cost plan; below it, max_coverage remains usable.</a:t>
            </a:r>
          </a:p>
        </p:txBody>
      </p:sp>
      <p:sp>
        <p:nvSpPr>
          <p:cNvPr id="45" name="Line 45">
            <a:extLst xmlns:a="http://schemas.openxmlformats.org/drawingml/2006/main">
              <a:ext uri="{FF2B5EF4-FFF2-40B4-BE49-F238E27FC236}">
                <a16:creationId xmlns:a16="http://schemas.microsoft.com/office/drawing/2014/main" id="{91043197-8A58-4C05-8A69-45D6D8A07DDA}"/>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6" name="TextBox 46">
            <a:extLst xmlns:a="http://schemas.openxmlformats.org/drawingml/2006/main">
              <a:ext uri="{FF2B5EF4-FFF2-40B4-BE49-F238E27FC236}">
                <a16:creationId xmlns:a16="http://schemas.microsoft.com/office/drawing/2014/main" id="{FEF4E544-471A-4D3D-9E33-07CC683FCDD6}"/>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47" name="TextBox 47">
            <a:extLst xmlns:a="http://schemas.openxmlformats.org/drawingml/2006/main">
              <a:ext uri="{FF2B5EF4-FFF2-40B4-BE49-F238E27FC236}">
                <a16:creationId xmlns:a16="http://schemas.microsoft.com/office/drawing/2014/main" id="{218730BD-16AE-4CA8-A40F-A52B6AA3D941}"/>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08 / 14</a:t>
            </a:r>
          </a:p>
        </p:txBody>
      </p:sp>
    </p:spTree>
    <p:extLst>
      <p:ext uri="{BB962C8B-B14F-4D97-AF65-F5344CB8AC3E}">
        <p14:creationId xmlns:p14="http://schemas.microsoft.com/office/powerpoint/2010/main" val="176833533"/>
      </p:ext>
    </p:extLst>
  </p:cSld>
</p:sld>
</file>

<file path=ppt/slides/slide9.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0A0BC32C-C739-4A20-9475-067D1F322578}"/>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E8B1FCC3-B5E6-4D8A-A9C2-789D3D11011F}"/>
              </a:ext>
            </a:extLst>
          </p:cNvPr>
          <p:cNvSpPr>
            <a:spLocks xmlns:a="http://schemas.openxmlformats.org/drawingml/2006/main" noGrp="1"/>
          </p:cNvSpPr>
          <p:nvPr/>
        </p:nvSpPr>
        <p:spPr>
          <a:xfrm xmlns:a="http://schemas.openxmlformats.org/drawingml/2006/main" rot="0" flipH="0" flipV="0">
            <a:off x="451104" y="708660"/>
            <a:ext cx="390430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09 · SENSITIVITY — BUDGET (HEADLINE)</a:t>
            </a:r>
          </a:p>
        </p:txBody>
      </p:sp>
      <p:sp>
        <p:nvSpPr>
          <p:cNvPr id="4" name="TextBox 4">
            <a:extLst xmlns:a="http://schemas.openxmlformats.org/drawingml/2006/main">
              <a:ext uri="{FF2B5EF4-FFF2-40B4-BE49-F238E27FC236}">
                <a16:creationId xmlns:a16="http://schemas.microsoft.com/office/drawing/2014/main" id="{8F5AAF7F-3A59-48C9-B49F-6768D0D82516}"/>
              </a:ext>
            </a:extLst>
          </p:cNvPr>
          <p:cNvSpPr>
            <a:spLocks xmlns:a="http://schemas.openxmlformats.org/drawingml/2006/main" noGrp="1"/>
          </p:cNvSpPr>
          <p:nvPr/>
        </p:nvSpPr>
        <p:spPr>
          <a:xfrm xmlns:a="http://schemas.openxmlformats.org/drawingml/2006/main" rot="0" flipH="0" flipV="0">
            <a:off x="441960" y="895350"/>
            <a:ext cx="5688120"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Coverage saturates at $589k</a:t>
            </a:r>
          </a:p>
        </p:txBody>
      </p:sp>
      <p:sp>
        <p:nvSpPr>
          <p:cNvPr id="6" name="TextBox 6">
            <a:extLst xmlns:a="http://schemas.openxmlformats.org/drawingml/2006/main">
              <a:ext uri="{FF2B5EF4-FFF2-40B4-BE49-F238E27FC236}">
                <a16:creationId xmlns:a16="http://schemas.microsoft.com/office/drawing/2014/main" id="{BFA030CC-6E83-4025-BC7E-3361AD774B60}"/>
              </a:ext>
            </a:extLst>
          </p:cNvPr>
          <p:cNvSpPr>
            <a:spLocks xmlns:a="http://schemas.openxmlformats.org/drawingml/2006/main" noGrp="1"/>
          </p:cNvSpPr>
          <p:nvPr/>
        </p:nvSpPr>
        <p:spPr>
          <a:xfrm xmlns:a="http://schemas.openxmlformats.org/drawingml/2006/main" rot="0" flipH="0" flipV="0">
            <a:off x="449580" y="1590675"/>
            <a:ext cx="11125088"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Coverage reaches 100% at $589k; the cost tie-break keeps actual spend flat above the knee.</a:t>
            </a:r>
          </a:p>
        </p:txBody>
      </p:sp>
      <p:sp>
        <p:nvSpPr>
          <p:cNvPr id="8" name="Rectangle 8">
            <a:extLst xmlns:a="http://schemas.openxmlformats.org/drawingml/2006/main">
              <a:ext uri="{FF2B5EF4-FFF2-40B4-BE49-F238E27FC236}">
                <a16:creationId xmlns:a16="http://schemas.microsoft.com/office/drawing/2014/main" id="{2E1FFCC1-BB43-40F6-A856-CA124DB633EE}"/>
              </a:ext>
            </a:extLst>
          </p:cNvPr>
          <p:cNvSpPr>
            <a:spLocks xmlns:a="http://schemas.openxmlformats.org/drawingml/2006/main" noGrp="1"/>
          </p:cNvSpPr>
          <p:nvPr/>
        </p:nvSpPr>
        <p:spPr>
          <a:xfrm xmlns:a="http://schemas.openxmlformats.org/drawingml/2006/main" rot="0" flipH="0" flipV="0">
            <a:off x="457200" y="1905000"/>
            <a:ext cx="6896100" cy="4305300"/>
          </a:xfrm>
          <a:prstGeom xmlns:a="http://schemas.openxmlformats.org/drawingml/2006/main" prst="roundRect">
            <a:avLst>
              <a:gd name="adj" fmla="val 1770"/>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40" name="Image 9"/>
          <p:cNvPicPr>
            <a:picLocks xmlns:a="http://schemas.openxmlformats.org/drawingml/2006/main" noChangeAspect="1"/>
          </p:cNvPicPr>
          <p:nvPr/>
        </p:nvPicPr>
        <p:blipFill>
          <a:blip xmlns:r="http://schemas.openxmlformats.org/officeDocument/2006/relationships" xmlns:a="http://schemas.openxmlformats.org/drawingml/2006/main" r:embed="R99778f87ae754d63"/>
          <a:stretch xmlns:a="http://schemas.openxmlformats.org/drawingml/2006/main">
            <a:fillRect l="0" t="0" r="0" b="0"/>
          </a:stretch>
        </p:blipFill>
        <p:spPr>
          <a:xfrm xmlns:a="http://schemas.openxmlformats.org/drawingml/2006/main" rot="0" flipH="0" flipV="0">
            <a:off x="643890" y="2019300"/>
            <a:ext cx="6522720" cy="4076700"/>
          </a:xfrm>
          <a:prstGeom xmlns:a="http://schemas.openxmlformats.org/drawingml/2006/main" prst="rect">
            <a:avLst/>
          </a:prstGeom>
        </p:spPr>
      </p:pic>
      <p:sp>
        <p:nvSpPr>
          <p:cNvPr id="11" name="Rectangle 11">
            <a:extLst xmlns:a="http://schemas.openxmlformats.org/drawingml/2006/main">
              <a:ext uri="{FF2B5EF4-FFF2-40B4-BE49-F238E27FC236}">
                <a16:creationId xmlns:a16="http://schemas.microsoft.com/office/drawing/2014/main" id="{8E7D8546-B42C-4CE7-9855-638323894D38}"/>
              </a:ext>
            </a:extLst>
          </p:cNvPr>
          <p:cNvSpPr>
            <a:spLocks xmlns:a="http://schemas.openxmlformats.org/drawingml/2006/main" noGrp="1"/>
          </p:cNvSpPr>
          <p:nvPr/>
        </p:nvSpPr>
        <p:spPr>
          <a:xfrm xmlns:a="http://schemas.openxmlformats.org/drawingml/2006/main" rot="0" flipH="0" flipV="0">
            <a:off x="7620000" y="1905000"/>
            <a:ext cx="4114800" cy="1314450"/>
          </a:xfrm>
          <a:prstGeom xmlns:a="http://schemas.openxmlformats.org/drawingml/2006/main" prst="roundRect">
            <a:avLst>
              <a:gd name="adj" fmla="val 7246"/>
            </a:avLst>
          </a:prstGeom>
          <a:solidFill xmlns:a="http://schemas.openxmlformats.org/drawingml/2006/main">
            <a:srgbClr val="FEF3C7"/>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2" name="Rectangle 12">
            <a:extLst xmlns:a="http://schemas.openxmlformats.org/drawingml/2006/main">
              <a:ext uri="{FF2B5EF4-FFF2-40B4-BE49-F238E27FC236}">
                <a16:creationId xmlns:a16="http://schemas.microsoft.com/office/drawing/2014/main" id="{8961269F-E2B2-4151-AD31-17E07D49FE90}"/>
              </a:ext>
            </a:extLst>
          </p:cNvPr>
          <p:cNvSpPr>
            <a:spLocks xmlns:a="http://schemas.openxmlformats.org/drawingml/2006/main" noGrp="1"/>
          </p:cNvSpPr>
          <p:nvPr/>
        </p:nvSpPr>
        <p:spPr>
          <a:xfrm xmlns:a="http://schemas.openxmlformats.org/drawingml/2006/main" rot="0" flipH="0" flipV="0">
            <a:off x="7620000" y="1905000"/>
            <a:ext cx="57150" cy="1314450"/>
          </a:xfrm>
          <a:prstGeom xmlns:a="http://schemas.openxmlformats.org/drawingml/2006/main" prst="rect">
            <a:avLst/>
          </a:prstGeom>
          <a:solidFill xmlns:a="http://schemas.openxmlformats.org/drawingml/2006/main">
            <a:schemeClr val="accen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3" name="Freeform 13">
            <a:extLst xmlns:a="http://schemas.openxmlformats.org/drawingml/2006/main">
              <a:ext uri="{FF2B5EF4-FFF2-40B4-BE49-F238E27FC236}">
                <a16:creationId xmlns:a16="http://schemas.microsoft.com/office/drawing/2014/main" id="{244A67A5-5EFD-4638-921E-E5D5A97381AE}"/>
              </a:ext>
            </a:extLst>
          </p:cNvPr>
          <p:cNvSpPr>
            <a:spLocks xmlns:a="http://schemas.openxmlformats.org/drawingml/2006/main" noGrp="1"/>
          </p:cNvSpPr>
          <p:nvPr/>
        </p:nvSpPr>
        <p:spPr>
          <a:xfrm xmlns:a="http://schemas.openxmlformats.org/drawingml/2006/main" rot="0" flipH="0" flipV="0">
            <a:off x="7981156" y="2228056"/>
            <a:ext cx="20637" cy="20637"/>
          </a:xfrm>
          <a:custGeom xmlns:a="http://schemas.openxmlformats.org/drawingml/2006/main">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xmlns:a="http://schemas.openxmlformats.org/drawingml/2006/main"/>
          <a:ln xmlns:a="http://schemas.openxmlformats.org/drawingml/2006/main" w="20637">
            <a:solidFill>
              <a:srgbClr val="B45309"/>
            </a:solidFill>
          </a:ln>
        </p:spPr>
        <p:txBody>
          <a:bodyPr xmlns:a="http://schemas.openxmlformats.org/drawingml/2006/main"/>
          <a:lstStyle xmlns:a="http://schemas.openxmlformats.org/drawingml/2006/main"/>
          <a:p xmlns:a="http://schemas.openxmlformats.org/drawingml/2006/main">
            <a:endParaRPr/>
          </a:p>
        </p:txBody>
      </p:sp>
      <p:sp>
        <p:nvSpPr>
          <p:cNvPr id="14" name="Freeform 14">
            <a:extLst xmlns:a="http://schemas.openxmlformats.org/drawingml/2006/main">
              <a:ext uri="{FF2B5EF4-FFF2-40B4-BE49-F238E27FC236}">
                <a16:creationId xmlns:a16="http://schemas.microsoft.com/office/drawing/2014/main" id="{0B9CFDB0-AE1F-4D3B-9BCD-F68B88160E53}"/>
              </a:ext>
            </a:extLst>
          </p:cNvPr>
          <p:cNvSpPr>
            <a:spLocks xmlns:a="http://schemas.openxmlformats.org/drawingml/2006/main" noGrp="1"/>
          </p:cNvSpPr>
          <p:nvPr/>
        </p:nvSpPr>
        <p:spPr>
          <a:xfrm xmlns:a="http://schemas.openxmlformats.org/drawingml/2006/main" rot="0" flipH="0" flipV="0">
            <a:off x="7939881" y="2186781"/>
            <a:ext cx="103187" cy="103187"/>
          </a:xfrm>
          <a:custGeom xmlns:a="http://schemas.openxmlformats.org/drawingml/2006/main">
            <a:rect l="l" t="t" r="r" b="b"/>
            <a:pathLst>
              <a:path w="103187" h="103187">
                <a:moveTo>
                  <a:pt x="0" y="51594"/>
                </a:moveTo>
                <a:cubicBezTo>
                  <a:pt x="0" y="80088"/>
                  <a:pt x="23099" y="103187"/>
                  <a:pt x="51594" y="103187"/>
                </a:cubicBezTo>
                <a:cubicBezTo>
                  <a:pt x="80088" y="103187"/>
                  <a:pt x="103187" y="80088"/>
                  <a:pt x="103187" y="51594"/>
                </a:cubicBezTo>
                <a:cubicBezTo>
                  <a:pt x="103187" y="23099"/>
                  <a:pt x="80088" y="0"/>
                  <a:pt x="51594" y="0"/>
                </a:cubicBezTo>
                <a:cubicBezTo>
                  <a:pt x="23099" y="0"/>
                  <a:pt x="0" y="23099"/>
                  <a:pt x="0" y="51594"/>
                </a:cubicBezTo>
              </a:path>
            </a:pathLst>
          </a:custGeom>
          <a:noFill xmlns:a="http://schemas.openxmlformats.org/drawingml/2006/main"/>
          <a:ln xmlns:a="http://schemas.openxmlformats.org/drawingml/2006/main" w="20637">
            <a:solidFill>
              <a:srgbClr val="B45309"/>
            </a:solidFill>
          </a:ln>
        </p:spPr>
        <p:txBody>
          <a:bodyPr xmlns:a="http://schemas.openxmlformats.org/drawingml/2006/main"/>
          <a:lstStyle xmlns:a="http://schemas.openxmlformats.org/drawingml/2006/main"/>
          <a:p xmlns:a="http://schemas.openxmlformats.org/drawingml/2006/main">
            <a:endParaRPr/>
          </a:p>
        </p:txBody>
      </p:sp>
      <p:sp>
        <p:nvSpPr>
          <p:cNvPr id="15" name="Freeform 15">
            <a:extLst xmlns:a="http://schemas.openxmlformats.org/drawingml/2006/main">
              <a:ext uri="{FF2B5EF4-FFF2-40B4-BE49-F238E27FC236}">
                <a16:creationId xmlns:a16="http://schemas.microsoft.com/office/drawing/2014/main" id="{76D19E75-C49A-436B-A5EC-F2181676CE23}"/>
              </a:ext>
            </a:extLst>
          </p:cNvPr>
          <p:cNvSpPr>
            <a:spLocks xmlns:a="http://schemas.openxmlformats.org/drawingml/2006/main" noGrp="1"/>
          </p:cNvSpPr>
          <p:nvPr/>
        </p:nvSpPr>
        <p:spPr>
          <a:xfrm xmlns:a="http://schemas.openxmlformats.org/drawingml/2006/main" rot="0" flipH="0" flipV="0">
            <a:off x="7898606" y="2145506"/>
            <a:ext cx="185737" cy="185737"/>
          </a:xfrm>
          <a:custGeom xmlns:a="http://schemas.openxmlformats.org/drawingml/2006/main">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xmlns:a="http://schemas.openxmlformats.org/drawingml/2006/main"/>
          <a:ln xmlns:a="http://schemas.openxmlformats.org/drawingml/2006/main" w="20637">
            <a:solidFill>
              <a:srgbClr val="B45309"/>
            </a:solidFill>
          </a:ln>
        </p:spPr>
        <p:txBody>
          <a:bodyPr xmlns:a="http://schemas.openxmlformats.org/drawingml/2006/main"/>
          <a:lstStyle xmlns:a="http://schemas.openxmlformats.org/drawingml/2006/main"/>
          <a:p xmlns:a="http://schemas.openxmlformats.org/drawingml/2006/main">
            <a:endParaRPr/>
          </a:p>
        </p:txBody>
      </p:sp>
      <p:sp>
        <p:nvSpPr>
          <p:cNvPr id="17" name="TextBox 17">
            <a:extLst xmlns:a="http://schemas.openxmlformats.org/drawingml/2006/main">
              <a:ext uri="{FF2B5EF4-FFF2-40B4-BE49-F238E27FC236}">
                <a16:creationId xmlns:a16="http://schemas.microsoft.com/office/drawing/2014/main" id="{E546109F-3147-465B-8780-7B83FDA05AC1}"/>
              </a:ext>
            </a:extLst>
          </p:cNvPr>
          <p:cNvSpPr>
            <a:spLocks xmlns:a="http://schemas.openxmlformats.org/drawingml/2006/main" noGrp="1"/>
          </p:cNvSpPr>
          <p:nvPr/>
        </p:nvSpPr>
        <p:spPr>
          <a:xfrm xmlns:a="http://schemas.openxmlformats.org/drawingml/2006/main" rot="0" flipH="0" flipV="0">
            <a:off x="8204454" y="2175510"/>
            <a:ext cx="90531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rgbClr val="92400E"/>
                </a:solidFill>
                <a:latin typeface="+mn-lt"/>
                <a:ea typeface="+mn-lt"/>
                <a:cs typeface="+mn-lt"/>
              </a:rPr>
              <a:t>THE KNEE</a:t>
            </a:r>
          </a:p>
        </p:txBody>
      </p:sp>
      <p:sp>
        <p:nvSpPr>
          <p:cNvPr id="18" name="TextBox 18">
            <a:extLst xmlns:a="http://schemas.openxmlformats.org/drawingml/2006/main">
              <a:ext uri="{FF2B5EF4-FFF2-40B4-BE49-F238E27FC236}">
                <a16:creationId xmlns:a16="http://schemas.microsoft.com/office/drawing/2014/main" id="{F2F9B5FA-D4A8-48D2-B9C0-0FC97B462449}"/>
              </a:ext>
            </a:extLst>
          </p:cNvPr>
          <p:cNvSpPr>
            <a:spLocks xmlns:a="http://schemas.openxmlformats.org/drawingml/2006/main" noGrp="1"/>
          </p:cNvSpPr>
          <p:nvPr/>
        </p:nvSpPr>
        <p:spPr>
          <a:xfrm xmlns:a="http://schemas.openxmlformats.org/drawingml/2006/main" rot="0" flipH="0" flipV="0">
            <a:off x="7850886" y="2463165"/>
            <a:ext cx="2085945"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dk1"/>
                </a:solidFill>
                <a:latin typeface="Consolas"/>
                <a:ea typeface="Consolas"/>
                <a:cs typeface="Consolas"/>
              </a:rPr>
              <a:t>$589,000</a:t>
            </a:r>
          </a:p>
        </p:txBody>
      </p:sp>
      <p:sp>
        <p:nvSpPr>
          <p:cNvPr id="19" name="TextBox 19">
            <a:extLst xmlns:a="http://schemas.openxmlformats.org/drawingml/2006/main">
              <a:ext uri="{FF2B5EF4-FFF2-40B4-BE49-F238E27FC236}">
                <a16:creationId xmlns:a16="http://schemas.microsoft.com/office/drawing/2014/main" id="{62F417FC-260D-4BFF-AD34-C1634EC0F182}"/>
              </a:ext>
            </a:extLst>
          </p:cNvPr>
          <p:cNvSpPr>
            <a:spLocks xmlns:a="http://schemas.openxmlformats.org/drawingml/2006/main" noGrp="1"/>
          </p:cNvSpPr>
          <p:nvPr/>
        </p:nvSpPr>
        <p:spPr>
          <a:xfrm xmlns:a="http://schemas.openxmlformats.org/drawingml/2006/main" rot="0" flipH="0" flipV="0">
            <a:off x="7861173" y="2948464"/>
            <a:ext cx="2735509"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80">
                <a:solidFill>
                  <a:srgbClr val="92400E"/>
                </a:solidFill>
                <a:latin typeface="+mn-lt"/>
                <a:ea typeface="+mn-lt"/>
                <a:cs typeface="+mn-lt"/>
              </a:rPr>
              <a:t>cheapest plan covering everyone</a:t>
            </a:r>
          </a:p>
        </p:txBody>
      </p:sp>
      <p:sp>
        <p:nvSpPr>
          <p:cNvPr id="21" name="Rectangle 21">
            <a:extLst xmlns:a="http://schemas.openxmlformats.org/drawingml/2006/main">
              <a:ext uri="{FF2B5EF4-FFF2-40B4-BE49-F238E27FC236}">
                <a16:creationId xmlns:a16="http://schemas.microsoft.com/office/drawing/2014/main" id="{AD2792EB-8538-4DDA-B6A2-234305987844}"/>
              </a:ext>
            </a:extLst>
          </p:cNvPr>
          <p:cNvSpPr>
            <a:spLocks xmlns:a="http://schemas.openxmlformats.org/drawingml/2006/main" noGrp="1"/>
          </p:cNvSpPr>
          <p:nvPr/>
        </p:nvSpPr>
        <p:spPr>
          <a:xfrm xmlns:a="http://schemas.openxmlformats.org/drawingml/2006/main" rot="0" flipH="0" flipV="0">
            <a:off x="7620000" y="3352800"/>
            <a:ext cx="4114800" cy="1123950"/>
          </a:xfrm>
          <a:prstGeom xmlns:a="http://schemas.openxmlformats.org/drawingml/2006/main" prst="roundRect">
            <a:avLst>
              <a:gd name="adj" fmla="val 8475"/>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2" name="TextBox 22">
            <a:extLst xmlns:a="http://schemas.openxmlformats.org/drawingml/2006/main">
              <a:ext uri="{FF2B5EF4-FFF2-40B4-BE49-F238E27FC236}">
                <a16:creationId xmlns:a16="http://schemas.microsoft.com/office/drawing/2014/main" id="{F5752926-7F0F-4170-8667-BE62C4C0D505}"/>
              </a:ext>
            </a:extLst>
          </p:cNvPr>
          <p:cNvSpPr>
            <a:spLocks xmlns:a="http://schemas.openxmlformats.org/drawingml/2006/main" noGrp="1"/>
          </p:cNvSpPr>
          <p:nvPr/>
        </p:nvSpPr>
        <p:spPr>
          <a:xfrm xmlns:a="http://schemas.openxmlformats.org/drawingml/2006/main" rot="0" flipH="0" flipV="0">
            <a:off x="7860030" y="3571875"/>
            <a:ext cx="2834249"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mn-lt"/>
                <a:ea typeface="+mn-lt"/>
                <a:cs typeface="+mn-lt"/>
              </a:rPr>
              <a:t>$1.0M available; model spends $589k</a:t>
            </a:r>
          </a:p>
        </p:txBody>
      </p:sp>
      <p:sp>
        <p:nvSpPr>
          <p:cNvPr id="23" name="TextBox 23">
            <a:extLst xmlns:a="http://schemas.openxmlformats.org/drawingml/2006/main">
              <a:ext uri="{FF2B5EF4-FFF2-40B4-BE49-F238E27FC236}">
                <a16:creationId xmlns:a16="http://schemas.microsoft.com/office/drawing/2014/main" id="{50FF8F96-75A8-42B5-9F5A-5FE808A94FED}"/>
              </a:ext>
            </a:extLst>
          </p:cNvPr>
          <p:cNvSpPr>
            <a:spLocks xmlns:a="http://schemas.openxmlformats.org/drawingml/2006/main" noGrp="1"/>
          </p:cNvSpPr>
          <p:nvPr/>
        </p:nvSpPr>
        <p:spPr>
          <a:xfrm xmlns:a="http://schemas.openxmlformats.org/drawingml/2006/main" rot="0" flipH="0" flipV="0">
            <a:off x="7860030" y="3838575"/>
            <a:ext cx="2165794"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and leaves $411k unused —</a:t>
            </a:r>
          </a:p>
        </p:txBody>
      </p:sp>
      <p:sp>
        <p:nvSpPr>
          <p:cNvPr id="24" name="TextBox 24">
            <a:extLst xmlns:a="http://schemas.openxmlformats.org/drawingml/2006/main">
              <a:ext uri="{FF2B5EF4-FFF2-40B4-BE49-F238E27FC236}">
                <a16:creationId xmlns:a16="http://schemas.microsoft.com/office/drawing/2014/main" id="{CFC955B7-6572-4D19-B938-5D49531F184A}"/>
              </a:ext>
            </a:extLst>
          </p:cNvPr>
          <p:cNvSpPr>
            <a:spLocks xmlns:a="http://schemas.openxmlformats.org/drawingml/2006/main" noGrp="1"/>
          </p:cNvSpPr>
          <p:nvPr/>
        </p:nvSpPr>
        <p:spPr>
          <a:xfrm xmlns:a="http://schemas.openxmlformats.org/drawingml/2006/main" rot="0" flipH="0" flipV="0">
            <a:off x="7860030" y="4105275"/>
            <a:ext cx="3439468"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3"/>
                </a:solidFill>
                <a:latin typeface="+mn-lt"/>
                <a:ea typeface="+mn-lt"/>
                <a:cs typeface="+mn-lt"/>
              </a:rPr>
              <a:t>the former above-knee degeneracy is removed.</a:t>
            </a:r>
          </a:p>
        </p:txBody>
      </p:sp>
      <p:sp>
        <p:nvSpPr>
          <p:cNvPr id="26" name="Rectangle 26">
            <a:extLst xmlns:a="http://schemas.openxmlformats.org/drawingml/2006/main">
              <a:ext uri="{FF2B5EF4-FFF2-40B4-BE49-F238E27FC236}">
                <a16:creationId xmlns:a16="http://schemas.microsoft.com/office/drawing/2014/main" id="{493FA74C-9D27-44C9-A9C6-03B144583E6A}"/>
              </a:ext>
            </a:extLst>
          </p:cNvPr>
          <p:cNvSpPr>
            <a:spLocks xmlns:a="http://schemas.openxmlformats.org/drawingml/2006/main" noGrp="1"/>
          </p:cNvSpPr>
          <p:nvPr/>
        </p:nvSpPr>
        <p:spPr>
          <a:xfrm xmlns:a="http://schemas.openxmlformats.org/drawingml/2006/main" rot="0" flipH="0" flipV="0">
            <a:off x="7620000" y="4610100"/>
            <a:ext cx="4114800" cy="1428750"/>
          </a:xfrm>
          <a:prstGeom xmlns:a="http://schemas.openxmlformats.org/drawingml/2006/main" prst="roundRect">
            <a:avLst>
              <a:gd name="adj" fmla="val 6667"/>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7" name="Freeform 27">
            <a:extLst xmlns:a="http://schemas.openxmlformats.org/drawingml/2006/main">
              <a:ext uri="{FF2B5EF4-FFF2-40B4-BE49-F238E27FC236}">
                <a16:creationId xmlns:a16="http://schemas.microsoft.com/office/drawing/2014/main" id="{5C754256-D199-4FE1-8A4E-C05825068DBE}"/>
              </a:ext>
            </a:extLst>
          </p:cNvPr>
          <p:cNvSpPr>
            <a:spLocks xmlns:a="http://schemas.openxmlformats.org/drawingml/2006/main" noGrp="1"/>
          </p:cNvSpPr>
          <p:nvPr/>
        </p:nvSpPr>
        <p:spPr>
          <a:xfrm xmlns:a="http://schemas.openxmlformats.org/drawingml/2006/main" rot="0" flipH="0" flipV="0">
            <a:off x="7915275" y="4848225"/>
            <a:ext cx="133350" cy="171450"/>
          </a:xfrm>
          <a:custGeom xmlns:a="http://schemas.openxmlformats.org/drawingml/2006/main">
            <a:rect l="l" t="t" r="r" b="b"/>
            <a:pathLst>
              <a:path w="133350" h="171450">
                <a:moveTo>
                  <a:pt x="76200" y="0"/>
                </a:moveTo>
                <a:lnTo>
                  <a:pt x="76200" y="66675"/>
                </a:lnTo>
                <a:lnTo>
                  <a:pt x="133350" y="66675"/>
                </a:lnTo>
                <a:lnTo>
                  <a:pt x="57150" y="171450"/>
                </a:lnTo>
                <a:lnTo>
                  <a:pt x="57150" y="104775"/>
                </a:lnTo>
                <a:lnTo>
                  <a:pt x="0" y="104775"/>
                </a:lnTo>
                <a:lnTo>
                  <a:pt x="762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8" name="TextBox 28">
            <a:extLst xmlns:a="http://schemas.openxmlformats.org/drawingml/2006/main">
              <a:ext uri="{FF2B5EF4-FFF2-40B4-BE49-F238E27FC236}">
                <a16:creationId xmlns:a16="http://schemas.microsoft.com/office/drawing/2014/main" id="{523607B2-1EC5-4F7F-93F6-5E201560C716}"/>
              </a:ext>
            </a:extLst>
          </p:cNvPr>
          <p:cNvSpPr>
            <a:spLocks xmlns:a="http://schemas.openxmlformats.org/drawingml/2006/main" noGrp="1"/>
          </p:cNvSpPr>
          <p:nvPr/>
        </p:nvSpPr>
        <p:spPr>
          <a:xfrm xmlns:a="http://schemas.openxmlformats.org/drawingml/2006/main" rot="0" flipH="0" flipV="0">
            <a:off x="8185404" y="4861560"/>
            <a:ext cx="1651650"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BELOW THE KNEE</a:t>
            </a:r>
          </a:p>
        </p:txBody>
      </p:sp>
      <p:sp>
        <p:nvSpPr>
          <p:cNvPr id="29" name="TextBox 29">
            <a:extLst xmlns:a="http://schemas.openxmlformats.org/drawingml/2006/main">
              <a:ext uri="{FF2B5EF4-FFF2-40B4-BE49-F238E27FC236}">
                <a16:creationId xmlns:a16="http://schemas.microsoft.com/office/drawing/2014/main" id="{B3336497-083E-471D-AAAA-10DE08E06857}"/>
              </a:ext>
            </a:extLst>
          </p:cNvPr>
          <p:cNvSpPr>
            <a:spLocks xmlns:a="http://schemas.openxmlformats.org/drawingml/2006/main" noGrp="1"/>
          </p:cNvSpPr>
          <p:nvPr/>
        </p:nvSpPr>
        <p:spPr>
          <a:xfrm xmlns:a="http://schemas.openxmlformats.org/drawingml/2006/main" rot="0" flipH="0" flipV="0">
            <a:off x="7860792" y="5188268"/>
            <a:ext cx="2919794" cy="77838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lnSpc>
                <a:spcPts val="2025"/>
              </a:lnSpc>
              <a:buNone/>
            </a:pPr>
            <a:r>
              <a:rPr sz="1350">
                <a:solidFill>
                  <a:schemeClr val="dk1"/>
                </a:solidFill>
                <a:latin typeface="+mn-lt"/>
                <a:ea typeface="+mn-lt"/>
                <a:cs typeface="+mn-lt"/>
              </a:rPr>
              <a:t>Coverage is capacity-dominated, but</a:t>
            </a:r>
          </a:p>
          <a:p xmlns:a="http://schemas.openxmlformats.org/drawingml/2006/main">
            <a:pPr algn="l">
              <a:lnSpc>
                <a:spcPts val="2025"/>
              </a:lnSpc>
              <a:buNone/>
            </a:pPr>
            <a:r>
              <a:rPr sz="1350">
                <a:solidFill>
                  <a:schemeClr val="dk1"/>
                </a:solidFill>
                <a:latin typeface="+mn-lt"/>
                <a:ea typeface="+mn-lt"/>
                <a:cs typeface="+mn-lt"/>
              </a:rPr>
              <a:t>radius and geography still affect</a:t>
            </a:r>
          </a:p>
          <a:p xmlns:a="http://schemas.openxmlformats.org/drawingml/2006/main">
            <a:pPr algn="l">
              <a:lnSpc>
                <a:spcPts val="2025"/>
              </a:lnSpc>
              <a:buNone/>
            </a:pPr>
            <a:r>
              <a:rPr sz="1350">
                <a:solidFill>
                  <a:schemeClr val="dk1"/>
                </a:solidFill>
                <a:latin typeface="+mn-lt"/>
                <a:ea typeface="+mn-lt"/>
                <a:cs typeface="+mn-lt"/>
              </a:rPr>
              <a:t>which combination is feasible.</a:t>
            </a:r>
          </a:p>
        </p:txBody>
      </p:sp>
      <p:sp>
        <p:nvSpPr>
          <p:cNvPr id="31" name="Line 31">
            <a:extLst xmlns:a="http://schemas.openxmlformats.org/drawingml/2006/main">
              <a:ext uri="{FF2B5EF4-FFF2-40B4-BE49-F238E27FC236}">
                <a16:creationId xmlns:a16="http://schemas.microsoft.com/office/drawing/2014/main" id="{7F514FAF-38A9-490D-BC15-B1C3F34628AC}"/>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2" name="TextBox 32">
            <a:extLst xmlns:a="http://schemas.openxmlformats.org/drawingml/2006/main">
              <a:ext uri="{FF2B5EF4-FFF2-40B4-BE49-F238E27FC236}">
                <a16:creationId xmlns:a16="http://schemas.microsoft.com/office/drawing/2014/main" id="{239E45B2-3596-4870-A7CA-CEBD8EF0E272}"/>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33" name="TextBox 33">
            <a:extLst xmlns:a="http://schemas.openxmlformats.org/drawingml/2006/main">
              <a:ext uri="{FF2B5EF4-FFF2-40B4-BE49-F238E27FC236}">
                <a16:creationId xmlns:a16="http://schemas.microsoft.com/office/drawing/2014/main" id="{7DB13E24-79D3-4474-804A-E979EEA282E1}"/>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09 / 14</a:t>
            </a:r>
          </a:p>
        </p:txBody>
      </p:sp>
    </p:spTree>
    <p:extLst>
      <p:ext uri="{BB962C8B-B14F-4D97-AF65-F5344CB8AC3E}">
        <p14:creationId xmlns:p14="http://schemas.microsoft.com/office/powerpoint/2010/main" val="856692218"/>
      </p:ext>
    </p:extLst>
  </p:cSld>
</p:sld>
</file>

<file path=ppt/slides/slide10.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97316751-A244-45CA-9242-1C7303D364DC}"/>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E9854E90-06CE-4493-BA86-AC3DB2399FBA}"/>
              </a:ext>
            </a:extLst>
          </p:cNvPr>
          <p:cNvSpPr>
            <a:spLocks xmlns:a="http://schemas.openxmlformats.org/drawingml/2006/main" noGrp="1"/>
          </p:cNvSpPr>
          <p:nvPr/>
        </p:nvSpPr>
        <p:spPr>
          <a:xfrm xmlns:a="http://schemas.openxmlformats.org/drawingml/2006/main" rot="0" flipH="0" flipV="0">
            <a:off x="451104" y="708660"/>
            <a:ext cx="3499775"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10 · SENSITIVITY — SERVICE RADIUS</a:t>
            </a:r>
          </a:p>
        </p:txBody>
      </p:sp>
      <p:sp>
        <p:nvSpPr>
          <p:cNvPr id="4" name="TextBox 4">
            <a:extLst xmlns:a="http://schemas.openxmlformats.org/drawingml/2006/main">
              <a:ext uri="{FF2B5EF4-FFF2-40B4-BE49-F238E27FC236}">
                <a16:creationId xmlns:a16="http://schemas.microsoft.com/office/drawing/2014/main" id="{506D1A33-0F58-4E2D-8E84-7C1939D53B79}"/>
              </a:ext>
            </a:extLst>
          </p:cNvPr>
          <p:cNvSpPr>
            <a:spLocks xmlns:a="http://schemas.openxmlformats.org/drawingml/2006/main" noGrp="1"/>
          </p:cNvSpPr>
          <p:nvPr/>
        </p:nvSpPr>
        <p:spPr>
          <a:xfrm xmlns:a="http://schemas.openxmlformats.org/drawingml/2006/main" rot="0" flipH="0" flipV="0">
            <a:off x="441960" y="895350"/>
            <a:ext cx="6321266"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A 2.863 km floor, then a cost-distance dial</a:t>
            </a:r>
          </a:p>
        </p:txBody>
      </p:sp>
      <p:sp>
        <p:nvSpPr>
          <p:cNvPr id="6" name="TextBox 6">
            <a:extLst xmlns:a="http://schemas.openxmlformats.org/drawingml/2006/main">
              <a:ext uri="{FF2B5EF4-FFF2-40B4-BE49-F238E27FC236}">
                <a16:creationId xmlns:a16="http://schemas.microsoft.com/office/drawing/2014/main" id="{3EC4ACDE-CDC7-40F5-84E6-AE561379F557}"/>
              </a:ext>
            </a:extLst>
          </p:cNvPr>
          <p:cNvSpPr>
            <a:spLocks xmlns:a="http://schemas.openxmlformats.org/drawingml/2006/main" noGrp="1"/>
          </p:cNvSpPr>
          <p:nvPr/>
        </p:nvSpPr>
        <p:spPr>
          <a:xfrm xmlns:a="http://schemas.openxmlformats.org/drawingml/2006/main" rot="0" flipH="0" flipV="0">
            <a:off x="449580" y="1590675"/>
            <a:ext cx="1028036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The limiting demand cell is 2.863 km from its nearest candidate; the threshold is not 4 km.</a:t>
            </a:r>
          </a:p>
        </p:txBody>
      </p:sp>
      <p:sp>
        <p:nvSpPr>
          <p:cNvPr id="8" name="Rectangle 8">
            <a:extLst xmlns:a="http://schemas.openxmlformats.org/drawingml/2006/main">
              <a:ext uri="{FF2B5EF4-FFF2-40B4-BE49-F238E27FC236}">
                <a16:creationId xmlns:a16="http://schemas.microsoft.com/office/drawing/2014/main" id="{0E8749E3-30E4-44A4-ADEC-C87B9DF908D4}"/>
              </a:ext>
            </a:extLst>
          </p:cNvPr>
          <p:cNvSpPr>
            <a:spLocks xmlns:a="http://schemas.openxmlformats.org/drawingml/2006/main" noGrp="1"/>
          </p:cNvSpPr>
          <p:nvPr/>
        </p:nvSpPr>
        <p:spPr>
          <a:xfrm xmlns:a="http://schemas.openxmlformats.org/drawingml/2006/main" rot="0" flipH="0" flipV="0">
            <a:off x="457200" y="2000250"/>
            <a:ext cx="7239000" cy="2781300"/>
          </a:xfrm>
          <a:prstGeom xmlns:a="http://schemas.openxmlformats.org/drawingml/2006/main" prst="roundRect">
            <a:avLst>
              <a:gd name="adj" fmla="val 2740"/>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48" name="Image 9"/>
          <p:cNvPicPr>
            <a:picLocks xmlns:a="http://schemas.openxmlformats.org/drawingml/2006/main" noChangeAspect="1"/>
          </p:cNvPicPr>
          <p:nvPr/>
        </p:nvPicPr>
        <p:blipFill>
          <a:blip xmlns:r="http://schemas.openxmlformats.org/officeDocument/2006/relationships" xmlns:a="http://schemas.openxmlformats.org/drawingml/2006/main" r:embed="Rf7966e4a1c374d1b"/>
          <a:stretch xmlns:a="http://schemas.openxmlformats.org/drawingml/2006/main">
            <a:fillRect l="0" t="0" r="0" b="0"/>
          </a:stretch>
        </p:blipFill>
        <p:spPr>
          <a:xfrm xmlns:a="http://schemas.openxmlformats.org/drawingml/2006/main" rot="0" flipH="0" flipV="0">
            <a:off x="571500" y="2139043"/>
            <a:ext cx="7010400" cy="2503714"/>
          </a:xfrm>
          <a:prstGeom xmlns:a="http://schemas.openxmlformats.org/drawingml/2006/main" prst="rect">
            <a:avLst/>
          </a:prstGeom>
        </p:spPr>
      </p:pic>
      <p:sp>
        <p:nvSpPr>
          <p:cNvPr id="11" name="TextBox 11">
            <a:extLst xmlns:a="http://schemas.openxmlformats.org/drawingml/2006/main">
              <a:ext uri="{FF2B5EF4-FFF2-40B4-BE49-F238E27FC236}">
                <a16:creationId xmlns:a16="http://schemas.microsoft.com/office/drawing/2014/main" id="{272BAE90-928F-42DE-BF7C-FC5EBF777A2B}"/>
              </a:ext>
            </a:extLst>
          </p:cNvPr>
          <p:cNvSpPr>
            <a:spLocks xmlns:a="http://schemas.openxmlformats.org/drawingml/2006/main" noGrp="1"/>
          </p:cNvSpPr>
          <p:nvPr/>
        </p:nvSpPr>
        <p:spPr>
          <a:xfrm xmlns:a="http://schemas.openxmlformats.org/drawingml/2006/main" rot="0" flipH="0" flipV="0">
            <a:off x="451104" y="5090160"/>
            <a:ext cx="138424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FROM 3 km UP</a:t>
            </a:r>
          </a:p>
        </p:txBody>
      </p:sp>
      <p:sp>
        <p:nvSpPr>
          <p:cNvPr id="12" name="TextBox 12">
            <a:extLst xmlns:a="http://schemas.openxmlformats.org/drawingml/2006/main">
              <a:ext uri="{FF2B5EF4-FFF2-40B4-BE49-F238E27FC236}">
                <a16:creationId xmlns:a16="http://schemas.microsoft.com/office/drawing/2014/main" id="{083CE514-591E-4E21-9CDD-10B55544A11E}"/>
              </a:ext>
            </a:extLst>
          </p:cNvPr>
          <p:cNvSpPr>
            <a:spLocks xmlns:a="http://schemas.openxmlformats.org/drawingml/2006/main" noGrp="1"/>
          </p:cNvSpPr>
          <p:nvPr/>
        </p:nvSpPr>
        <p:spPr>
          <a:xfrm xmlns:a="http://schemas.openxmlformats.org/drawingml/2006/main" rot="0" flipH="0" flipV="0">
            <a:off x="449580" y="5381625"/>
            <a:ext cx="511600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Full-service cost: $839k @ 3 km → $543k @ 8 km.</a:t>
            </a:r>
          </a:p>
        </p:txBody>
      </p:sp>
      <p:sp>
        <p:nvSpPr>
          <p:cNvPr id="13" name="TextBox 13">
            <a:extLst xmlns:a="http://schemas.openxmlformats.org/drawingml/2006/main">
              <a:ext uri="{FF2B5EF4-FFF2-40B4-BE49-F238E27FC236}">
                <a16:creationId xmlns:a16="http://schemas.microsoft.com/office/drawing/2014/main" id="{99260D7F-4665-4100-9E7C-EE0558657094}"/>
              </a:ext>
            </a:extLst>
          </p:cNvPr>
          <p:cNvSpPr>
            <a:spLocks xmlns:a="http://schemas.openxmlformats.org/drawingml/2006/main" noGrp="1"/>
          </p:cNvSpPr>
          <p:nvPr/>
        </p:nvSpPr>
        <p:spPr>
          <a:xfrm xmlns:a="http://schemas.openxmlformats.org/drawingml/2006/main" rot="0" flipH="0" flipV="0">
            <a:off x="449580" y="5667375"/>
            <a:ext cx="6253596"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Average distance rises 1.72 → 3.01 km; build count falls 7 → 6.</a:t>
            </a:r>
          </a:p>
        </p:txBody>
      </p:sp>
      <p:sp>
        <p:nvSpPr>
          <p:cNvPr id="15" name="Rectangle 15">
            <a:extLst xmlns:a="http://schemas.openxmlformats.org/drawingml/2006/main">
              <a:ext uri="{FF2B5EF4-FFF2-40B4-BE49-F238E27FC236}">
                <a16:creationId xmlns:a16="http://schemas.microsoft.com/office/drawing/2014/main" id="{3F17FC97-68F8-4125-943E-3260E675A10E}"/>
              </a:ext>
            </a:extLst>
          </p:cNvPr>
          <p:cNvSpPr>
            <a:spLocks xmlns:a="http://schemas.openxmlformats.org/drawingml/2006/main" noGrp="1"/>
          </p:cNvSpPr>
          <p:nvPr/>
        </p:nvSpPr>
        <p:spPr>
          <a:xfrm xmlns:a="http://schemas.openxmlformats.org/drawingml/2006/main" rot="0" flipH="0" flipV="0">
            <a:off x="7924800" y="2000250"/>
            <a:ext cx="3810000" cy="1905000"/>
          </a:xfrm>
          <a:prstGeom xmlns:a="http://schemas.openxmlformats.org/drawingml/2006/main" prst="roundRect">
            <a:avLst>
              <a:gd name="adj" fmla="val 5000"/>
            </a:avLst>
          </a:prstGeom>
          <a:solidFill xmlns:a="http://schemas.openxmlformats.org/drawingml/2006/main">
            <a:srgbClr val="FEF2F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6" name="Rectangle 16">
            <a:extLst xmlns:a="http://schemas.openxmlformats.org/drawingml/2006/main">
              <a:ext uri="{FF2B5EF4-FFF2-40B4-BE49-F238E27FC236}">
                <a16:creationId xmlns:a16="http://schemas.microsoft.com/office/drawing/2014/main" id="{80AF0B65-B38A-4F7D-8D09-73AD28D2DC63}"/>
              </a:ext>
            </a:extLst>
          </p:cNvPr>
          <p:cNvSpPr>
            <a:spLocks xmlns:a="http://schemas.openxmlformats.org/drawingml/2006/main" noGrp="1"/>
          </p:cNvSpPr>
          <p:nvPr/>
        </p:nvSpPr>
        <p:spPr>
          <a:xfrm xmlns:a="http://schemas.openxmlformats.org/drawingml/2006/main" rot="0" flipH="0" flipV="0">
            <a:off x="7924800" y="2000250"/>
            <a:ext cx="57150" cy="190500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7" name="Freeform 17">
            <a:extLst xmlns:a="http://schemas.openxmlformats.org/drawingml/2006/main">
              <a:ext uri="{FF2B5EF4-FFF2-40B4-BE49-F238E27FC236}">
                <a16:creationId xmlns:a16="http://schemas.microsoft.com/office/drawing/2014/main" id="{992E6DCC-EBB4-4847-9EBD-D87D6B8683D8}"/>
              </a:ext>
            </a:extLst>
          </p:cNvPr>
          <p:cNvSpPr>
            <a:spLocks xmlns:a="http://schemas.openxmlformats.org/drawingml/2006/main" noGrp="1"/>
          </p:cNvSpPr>
          <p:nvPr/>
        </p:nvSpPr>
        <p:spPr>
          <a:xfrm xmlns:a="http://schemas.openxmlformats.org/drawingml/2006/main" rot="0" flipH="0" flipV="0">
            <a:off x="8296275" y="2302668"/>
            <a:ext cx="9525" cy="41275"/>
          </a:xfrm>
          <a:custGeom xmlns:a="http://schemas.openxmlformats.org/drawingml/2006/main">
            <a:rect l="l" t="t" r="r" b="b"/>
            <a:pathLst>
              <a:path w="9525" h="41275">
                <a:moveTo>
                  <a:pt x="0" y="0"/>
                </a:moveTo>
                <a:lnTo>
                  <a:pt x="0" y="41275"/>
                </a:ln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18" name="Freeform 18">
            <a:extLst xmlns:a="http://schemas.openxmlformats.org/drawingml/2006/main">
              <a:ext uri="{FF2B5EF4-FFF2-40B4-BE49-F238E27FC236}">
                <a16:creationId xmlns:a16="http://schemas.microsoft.com/office/drawing/2014/main" id="{1A0A3F6C-0557-4DE4-85B0-54A0F997FF58}"/>
              </a:ext>
            </a:extLst>
          </p:cNvPr>
          <p:cNvSpPr>
            <a:spLocks xmlns:a="http://schemas.openxmlformats.org/drawingml/2006/main" noGrp="1"/>
          </p:cNvSpPr>
          <p:nvPr/>
        </p:nvSpPr>
        <p:spPr>
          <a:xfrm xmlns:a="http://schemas.openxmlformats.org/drawingml/2006/main" rot="0" flipH="0" flipV="0">
            <a:off x="8192209" y="2237328"/>
            <a:ext cx="208123" cy="178805"/>
          </a:xfrm>
          <a:custGeom xmlns:a="http://schemas.openxmlformats.org/drawingml/2006/main">
            <a:rect l="l" t="t" r="r" b="b"/>
            <a:pathLst>
              <a:path w="208123" h="178805">
                <a:moveTo>
                  <a:pt x="87174" y="9526"/>
                </a:moveTo>
                <a:lnTo>
                  <a:pt x="3530" y="149180"/>
                </a:lnTo>
                <a:cubicBezTo>
                  <a:pt x="21" y="155256"/>
                  <a:pt x="0" y="162738"/>
                  <a:pt x="3474" y="168834"/>
                </a:cubicBezTo>
                <a:cubicBezTo>
                  <a:pt x="6948" y="174931"/>
                  <a:pt x="13395" y="178726"/>
                  <a:pt x="20412" y="178805"/>
                </a:cubicBezTo>
                <a:lnTo>
                  <a:pt x="187719" y="178805"/>
                </a:lnTo>
                <a:cubicBezTo>
                  <a:pt x="194732" y="178724"/>
                  <a:pt x="201176" y="174930"/>
                  <a:pt x="204650" y="168837"/>
                </a:cubicBezTo>
                <a:cubicBezTo>
                  <a:pt x="208123" y="162744"/>
                  <a:pt x="208104" y="155266"/>
                  <a:pt x="204601" y="149190"/>
                </a:cubicBezTo>
                <a:lnTo>
                  <a:pt x="120957" y="9516"/>
                </a:lnTo>
                <a:cubicBezTo>
                  <a:pt x="117378" y="3609"/>
                  <a:pt x="110973" y="0"/>
                  <a:pt x="104065" y="0"/>
                </a:cubicBezTo>
                <a:cubicBezTo>
                  <a:pt x="97158" y="0"/>
                  <a:pt x="90753" y="3609"/>
                  <a:pt x="87174" y="9516"/>
                </a:cubicBez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19" name="Freeform 19">
            <a:extLst xmlns:a="http://schemas.openxmlformats.org/drawingml/2006/main">
              <a:ext uri="{FF2B5EF4-FFF2-40B4-BE49-F238E27FC236}">
                <a16:creationId xmlns:a16="http://schemas.microsoft.com/office/drawing/2014/main" id="{678AB5CD-07F0-4046-BA4E-736936745858}"/>
              </a:ext>
            </a:extLst>
          </p:cNvPr>
          <p:cNvSpPr>
            <a:spLocks xmlns:a="http://schemas.openxmlformats.org/drawingml/2006/main" noGrp="1"/>
          </p:cNvSpPr>
          <p:nvPr/>
        </p:nvSpPr>
        <p:spPr>
          <a:xfrm xmlns:a="http://schemas.openxmlformats.org/drawingml/2006/main" rot="0" flipH="0" flipV="0">
            <a:off x="8296275" y="2374899"/>
            <a:ext cx="9525" cy="9525"/>
          </a:xfrm>
          <a:custGeom xmlns:a="http://schemas.openxmlformats.org/drawingml/2006/main">
            <a:rect l="l" t="t" r="r" b="b"/>
            <a:pathLst>
              <a:path w="9525" h="9525">
                <a:moveTo>
                  <a:pt x="0" y="0"/>
                </a:moveTo>
                <a:lnTo>
                  <a:pt x="103" y="0"/>
                </a:ln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99888BDF-1F35-45F9-96B2-F6D4402908E5}"/>
              </a:ext>
            </a:extLst>
          </p:cNvPr>
          <p:cNvSpPr>
            <a:spLocks xmlns:a="http://schemas.openxmlformats.org/drawingml/2006/main" noGrp="1"/>
          </p:cNvSpPr>
          <p:nvPr/>
        </p:nvSpPr>
        <p:spPr>
          <a:xfrm xmlns:a="http://schemas.openxmlformats.org/drawingml/2006/main" rot="0" flipH="0" flipV="0">
            <a:off x="8509254" y="2270760"/>
            <a:ext cx="109691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3"/>
                </a:solidFill>
                <a:latin typeface="+mn-lt"/>
                <a:ea typeface="+mn-lt"/>
                <a:cs typeface="+mn-lt"/>
              </a:rPr>
              <a:t>THE FLOOR</a:t>
            </a:r>
          </a:p>
        </p:txBody>
      </p:sp>
      <p:sp>
        <p:nvSpPr>
          <p:cNvPr id="22" name="TextBox 22">
            <a:extLst xmlns:a="http://schemas.openxmlformats.org/drawingml/2006/main">
              <a:ext uri="{FF2B5EF4-FFF2-40B4-BE49-F238E27FC236}">
                <a16:creationId xmlns:a16="http://schemas.microsoft.com/office/drawing/2014/main" id="{BB4C1204-08D3-46E8-9631-50D4529BB7FE}"/>
              </a:ext>
            </a:extLst>
          </p:cNvPr>
          <p:cNvSpPr>
            <a:spLocks xmlns:a="http://schemas.openxmlformats.org/drawingml/2006/main" noGrp="1"/>
          </p:cNvSpPr>
          <p:nvPr/>
        </p:nvSpPr>
        <p:spPr>
          <a:xfrm xmlns:a="http://schemas.openxmlformats.org/drawingml/2006/main" rot="0" flipH="0" flipV="0">
            <a:off x="8165592" y="2635568"/>
            <a:ext cx="333712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Below 2.863 km: structurally infeasible.</a:t>
            </a:r>
          </a:p>
        </p:txBody>
      </p:sp>
      <p:sp>
        <p:nvSpPr>
          <p:cNvPr id="23" name="TextBox 23">
            <a:extLst xmlns:a="http://schemas.openxmlformats.org/drawingml/2006/main">
              <a:ext uri="{FF2B5EF4-FFF2-40B4-BE49-F238E27FC236}">
                <a16:creationId xmlns:a16="http://schemas.microsoft.com/office/drawing/2014/main" id="{1ACA6B5F-113A-4BF1-A07B-55E31FDB97AB}"/>
              </a:ext>
            </a:extLst>
          </p:cNvPr>
          <p:cNvSpPr>
            <a:spLocks xmlns:a="http://schemas.openxmlformats.org/drawingml/2006/main" noGrp="1"/>
          </p:cNvSpPr>
          <p:nvPr/>
        </p:nvSpPr>
        <p:spPr>
          <a:xfrm xmlns:a="http://schemas.openxmlformats.org/drawingml/2006/main" rot="0" flipH="0" flipV="0">
            <a:off x="8165592" y="2959418"/>
            <a:ext cx="340180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D24 (Humboldt Park) is 2.863 km from its</a:t>
            </a:r>
          </a:p>
        </p:txBody>
      </p:sp>
      <p:sp>
        <p:nvSpPr>
          <p:cNvPr id="24" name="TextBox 24">
            <a:extLst xmlns:a="http://schemas.openxmlformats.org/drawingml/2006/main">
              <a:ext uri="{FF2B5EF4-FFF2-40B4-BE49-F238E27FC236}">
                <a16:creationId xmlns:a16="http://schemas.microsoft.com/office/drawing/2014/main" id="{B080BF9E-0B5D-4F3F-9BA9-273870E8394F}"/>
              </a:ext>
            </a:extLst>
          </p:cNvPr>
          <p:cNvSpPr>
            <a:spLocks xmlns:a="http://schemas.openxmlformats.org/drawingml/2006/main" noGrp="1"/>
          </p:cNvSpPr>
          <p:nvPr/>
        </p:nvSpPr>
        <p:spPr>
          <a:xfrm xmlns:a="http://schemas.openxmlformats.org/drawingml/2006/main" rot="0" flipH="0" flipV="0">
            <a:off x="8165592" y="3188018"/>
            <a:ext cx="313959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nearest sampled candidate facility.</a:t>
            </a:r>
          </a:p>
        </p:txBody>
      </p:sp>
      <p:sp>
        <p:nvSpPr>
          <p:cNvPr id="25" name="TextBox 25">
            <a:extLst xmlns:a="http://schemas.openxmlformats.org/drawingml/2006/main">
              <a:ext uri="{FF2B5EF4-FFF2-40B4-BE49-F238E27FC236}">
                <a16:creationId xmlns:a16="http://schemas.microsoft.com/office/drawing/2014/main" id="{B91DE411-9919-4A25-B26D-AA3EFFDB3816}"/>
              </a:ext>
            </a:extLst>
          </p:cNvPr>
          <p:cNvSpPr>
            <a:spLocks xmlns:a="http://schemas.openxmlformats.org/drawingml/2006/main" noGrp="1"/>
          </p:cNvSpPr>
          <p:nvPr/>
        </p:nvSpPr>
        <p:spPr>
          <a:xfrm xmlns:a="http://schemas.openxmlformats.org/drawingml/2006/main" rot="0" flipH="0" flipV="0">
            <a:off x="8165592" y="3511868"/>
            <a:ext cx="330276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991B1B"/>
                </a:solidFill>
                <a:latin typeface="+mn-lt"/>
                <a:ea typeface="+mn-lt"/>
                <a:cs typeface="+mn-lt"/>
              </a:rPr>
              <a:t>It's the candidate list, not money.</a:t>
            </a:r>
          </a:p>
        </p:txBody>
      </p:sp>
      <p:sp>
        <p:nvSpPr>
          <p:cNvPr id="27" name="Rectangle 27">
            <a:extLst xmlns:a="http://schemas.openxmlformats.org/drawingml/2006/main">
              <a:ext uri="{FF2B5EF4-FFF2-40B4-BE49-F238E27FC236}">
                <a16:creationId xmlns:a16="http://schemas.microsoft.com/office/drawing/2014/main" id="{C41D1766-496F-48B1-874A-0B60370FB2FE}"/>
              </a:ext>
            </a:extLst>
          </p:cNvPr>
          <p:cNvSpPr>
            <a:spLocks xmlns:a="http://schemas.openxmlformats.org/drawingml/2006/main" noGrp="1"/>
          </p:cNvSpPr>
          <p:nvPr/>
        </p:nvSpPr>
        <p:spPr>
          <a:xfrm xmlns:a="http://schemas.openxmlformats.org/drawingml/2006/main" rot="0" flipH="0" flipV="0">
            <a:off x="7924800" y="4076700"/>
            <a:ext cx="3810000" cy="1924050"/>
          </a:xfrm>
          <a:prstGeom xmlns:a="http://schemas.openxmlformats.org/drawingml/2006/main" prst="roundRect">
            <a:avLst>
              <a:gd name="adj" fmla="val 4950"/>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8" name="Rectangle 28">
            <a:extLst xmlns:a="http://schemas.openxmlformats.org/drawingml/2006/main">
              <a:ext uri="{FF2B5EF4-FFF2-40B4-BE49-F238E27FC236}">
                <a16:creationId xmlns:a16="http://schemas.microsoft.com/office/drawing/2014/main" id="{7EC820D3-D035-44FD-B323-DF5A8DCD93DE}"/>
              </a:ext>
            </a:extLst>
          </p:cNvPr>
          <p:cNvSpPr>
            <a:spLocks xmlns:a="http://schemas.openxmlformats.org/drawingml/2006/main" noGrp="1"/>
          </p:cNvSpPr>
          <p:nvPr/>
        </p:nvSpPr>
        <p:spPr>
          <a:xfrm xmlns:a="http://schemas.openxmlformats.org/drawingml/2006/main" rot="0" flipH="0" flipV="0">
            <a:off x="7924800" y="4076700"/>
            <a:ext cx="57150" cy="192405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9" name="Freeform 29">
            <a:extLst xmlns:a="http://schemas.openxmlformats.org/drawingml/2006/main">
              <a:ext uri="{FF2B5EF4-FFF2-40B4-BE49-F238E27FC236}">
                <a16:creationId xmlns:a16="http://schemas.microsoft.com/office/drawing/2014/main" id="{FFAD2E8F-38F9-4C9C-BEB6-4092F95731BB}"/>
              </a:ext>
            </a:extLst>
          </p:cNvPr>
          <p:cNvSpPr>
            <a:spLocks xmlns:a="http://schemas.openxmlformats.org/drawingml/2006/main" noGrp="1"/>
          </p:cNvSpPr>
          <p:nvPr/>
        </p:nvSpPr>
        <p:spPr>
          <a:xfrm xmlns:a="http://schemas.openxmlformats.org/drawingml/2006/main" rot="0" flipH="0" flipV="0">
            <a:off x="8203406" y="4461668"/>
            <a:ext cx="41275" cy="41275"/>
          </a:xfrm>
          <a:custGeom xmlns:a="http://schemas.openxmlformats.org/drawingml/2006/main">
            <a:rect l="l" t="t" r="r" b="b"/>
            <a:pathLst>
              <a:path w="41275" h="41275">
                <a:moveTo>
                  <a:pt x="0" y="20637"/>
                </a:moveTo>
                <a:cubicBezTo>
                  <a:pt x="0" y="32035"/>
                  <a:pt x="9240" y="41275"/>
                  <a:pt x="20637" y="41275"/>
                </a:cubicBezTo>
                <a:cubicBezTo>
                  <a:pt x="32035" y="41275"/>
                  <a:pt x="41275" y="32035"/>
                  <a:pt x="41275" y="20637"/>
                </a:cubicBezTo>
                <a:cubicBezTo>
                  <a:pt x="41275" y="9240"/>
                  <a:pt x="32035" y="0"/>
                  <a:pt x="20637" y="0"/>
                </a:cubicBezTo>
                <a:cubicBezTo>
                  <a:pt x="9240" y="0"/>
                  <a:pt x="0" y="9240"/>
                  <a:pt x="0" y="20637"/>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0" name="Freeform 30">
            <a:extLst xmlns:a="http://schemas.openxmlformats.org/drawingml/2006/main">
              <a:ext uri="{FF2B5EF4-FFF2-40B4-BE49-F238E27FC236}">
                <a16:creationId xmlns:a16="http://schemas.microsoft.com/office/drawing/2014/main" id="{053E1840-3AA4-4376-8984-C2167A2CF7C0}"/>
              </a:ext>
            </a:extLst>
          </p:cNvPr>
          <p:cNvSpPr>
            <a:spLocks xmlns:a="http://schemas.openxmlformats.org/drawingml/2006/main" noGrp="1"/>
          </p:cNvSpPr>
          <p:nvPr/>
        </p:nvSpPr>
        <p:spPr>
          <a:xfrm xmlns:a="http://schemas.openxmlformats.org/drawingml/2006/main" rot="0" flipH="0" flipV="0">
            <a:off x="8347868" y="4317206"/>
            <a:ext cx="41275" cy="41275"/>
          </a:xfrm>
          <a:custGeom xmlns:a="http://schemas.openxmlformats.org/drawingml/2006/main">
            <a:rect l="l" t="t" r="r" b="b"/>
            <a:pathLst>
              <a:path w="41275" h="41275">
                <a:moveTo>
                  <a:pt x="20637" y="41275"/>
                </a:moveTo>
                <a:cubicBezTo>
                  <a:pt x="32035" y="41275"/>
                  <a:pt x="41275" y="32035"/>
                  <a:pt x="41275" y="20637"/>
                </a:cubicBezTo>
                <a:cubicBezTo>
                  <a:pt x="41275" y="9240"/>
                  <a:pt x="32035" y="0"/>
                  <a:pt x="20637" y="0"/>
                </a:cubicBezTo>
                <a:cubicBezTo>
                  <a:pt x="9240" y="0"/>
                  <a:pt x="0" y="9240"/>
                  <a:pt x="0" y="20637"/>
                </a:cubicBezTo>
                <a:cubicBezTo>
                  <a:pt x="0" y="32035"/>
                  <a:pt x="9240" y="41275"/>
                  <a:pt x="20637" y="41275"/>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1" name="Freeform 31">
            <a:extLst xmlns:a="http://schemas.openxmlformats.org/drawingml/2006/main">
              <a:ext uri="{FF2B5EF4-FFF2-40B4-BE49-F238E27FC236}">
                <a16:creationId xmlns:a16="http://schemas.microsoft.com/office/drawing/2014/main" id="{CBFCFC33-1B30-4BF3-8A56-0B4090C7F61C}"/>
              </a:ext>
            </a:extLst>
          </p:cNvPr>
          <p:cNvSpPr>
            <a:spLocks xmlns:a="http://schemas.openxmlformats.org/drawingml/2006/main" noGrp="1"/>
          </p:cNvSpPr>
          <p:nvPr/>
        </p:nvSpPr>
        <p:spPr>
          <a:xfrm xmlns:a="http://schemas.openxmlformats.org/drawingml/2006/main" rot="0" flipH="0" flipV="0">
            <a:off x="8224044" y="4337844"/>
            <a:ext cx="154781" cy="144462"/>
          </a:xfrm>
          <a:custGeom xmlns:a="http://schemas.openxmlformats.org/drawingml/2006/main">
            <a:rect l="l" t="t" r="r" b="b"/>
            <a:pathLst>
              <a:path w="154781" h="144462">
                <a:moveTo>
                  <a:pt x="61912" y="144462"/>
                </a:moveTo>
                <a:lnTo>
                  <a:pt x="118665" y="144462"/>
                </a:lnTo>
                <a:cubicBezTo>
                  <a:pt x="138611" y="144462"/>
                  <a:pt x="154781" y="128293"/>
                  <a:pt x="154781" y="108347"/>
                </a:cubicBezTo>
                <a:cubicBezTo>
                  <a:pt x="154781" y="88400"/>
                  <a:pt x="138611" y="72231"/>
                  <a:pt x="118665" y="72231"/>
                </a:cubicBezTo>
                <a:lnTo>
                  <a:pt x="36116" y="72231"/>
                </a:lnTo>
                <a:cubicBezTo>
                  <a:pt x="16169" y="72231"/>
                  <a:pt x="0" y="56062"/>
                  <a:pt x="0" y="36116"/>
                </a:cubicBezTo>
                <a:cubicBezTo>
                  <a:pt x="0" y="16169"/>
                  <a:pt x="16169" y="0"/>
                  <a:pt x="36116" y="0"/>
                </a:cubicBezTo>
                <a:lnTo>
                  <a:pt x="82550" y="0"/>
                </a:ln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3" name="TextBox 33">
            <a:extLst xmlns:a="http://schemas.openxmlformats.org/drawingml/2006/main">
              <a:ext uri="{FF2B5EF4-FFF2-40B4-BE49-F238E27FC236}">
                <a16:creationId xmlns:a16="http://schemas.microsoft.com/office/drawing/2014/main" id="{0AB7A030-4601-4D9E-9DE4-97ECC783C295}"/>
              </a:ext>
            </a:extLst>
          </p:cNvPr>
          <p:cNvSpPr>
            <a:spLocks xmlns:a="http://schemas.openxmlformats.org/drawingml/2006/main" noGrp="1"/>
          </p:cNvSpPr>
          <p:nvPr/>
        </p:nvSpPr>
        <p:spPr>
          <a:xfrm xmlns:a="http://schemas.openxmlformats.org/drawingml/2006/main" rot="0" flipH="0" flipV="0">
            <a:off x="8509254" y="4347210"/>
            <a:ext cx="129533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A CHEAP DIAL</a:t>
            </a:r>
          </a:p>
        </p:txBody>
      </p:sp>
      <p:sp>
        <p:nvSpPr>
          <p:cNvPr id="34" name="TextBox 34">
            <a:extLst xmlns:a="http://schemas.openxmlformats.org/drawingml/2006/main">
              <a:ext uri="{FF2B5EF4-FFF2-40B4-BE49-F238E27FC236}">
                <a16:creationId xmlns:a16="http://schemas.microsoft.com/office/drawing/2014/main" id="{A9B39949-DF8E-43E0-8F23-1C3C8F047833}"/>
              </a:ext>
            </a:extLst>
          </p:cNvPr>
          <p:cNvSpPr>
            <a:spLocks xmlns:a="http://schemas.openxmlformats.org/drawingml/2006/main" noGrp="1"/>
          </p:cNvSpPr>
          <p:nvPr/>
        </p:nvSpPr>
        <p:spPr>
          <a:xfrm xmlns:a="http://schemas.openxmlformats.org/drawingml/2006/main" rot="0" flipH="0" flipV="0">
            <a:off x="8165592" y="4692968"/>
            <a:ext cx="172204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Consolas"/>
                <a:ea typeface="Consolas"/>
                <a:cs typeface="Consolas"/>
              </a:rPr>
              <a:t>5 → 3 km costs $250k</a:t>
            </a:r>
          </a:p>
        </p:txBody>
      </p:sp>
      <p:sp>
        <p:nvSpPr>
          <p:cNvPr id="35" name="TextBox 35">
            <a:extLst xmlns:a="http://schemas.openxmlformats.org/drawingml/2006/main">
              <a:ext uri="{FF2B5EF4-FFF2-40B4-BE49-F238E27FC236}">
                <a16:creationId xmlns:a16="http://schemas.microsoft.com/office/drawing/2014/main" id="{C44F8EF0-E96E-4E7E-B115-067EC47F0F45}"/>
              </a:ext>
            </a:extLst>
          </p:cNvPr>
          <p:cNvSpPr>
            <a:spLocks xmlns:a="http://schemas.openxmlformats.org/drawingml/2006/main" noGrp="1"/>
          </p:cNvSpPr>
          <p:nvPr/>
        </p:nvSpPr>
        <p:spPr>
          <a:xfrm xmlns:a="http://schemas.openxmlformats.org/drawingml/2006/main" rot="0" flipH="0" flipV="0">
            <a:off x="8165592" y="4959668"/>
            <a:ext cx="172204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Consolas"/>
                <a:ea typeface="Consolas"/>
                <a:cs typeface="Consolas"/>
              </a:rPr>
              <a:t>5 → 8 km saves $46k</a:t>
            </a:r>
          </a:p>
        </p:txBody>
      </p:sp>
      <p:sp>
        <p:nvSpPr>
          <p:cNvPr id="36" name="TextBox 36">
            <a:extLst xmlns:a="http://schemas.openxmlformats.org/drawingml/2006/main">
              <a:ext uri="{FF2B5EF4-FFF2-40B4-BE49-F238E27FC236}">
                <a16:creationId xmlns:a16="http://schemas.microsoft.com/office/drawing/2014/main" id="{94865472-1A77-4E4C-B808-967DF17759F3}"/>
              </a:ext>
            </a:extLst>
          </p:cNvPr>
          <p:cNvSpPr>
            <a:spLocks xmlns:a="http://schemas.openxmlformats.org/drawingml/2006/main" noGrp="1"/>
          </p:cNvSpPr>
          <p:nvPr/>
        </p:nvSpPr>
        <p:spPr>
          <a:xfrm xmlns:a="http://schemas.openxmlformats.org/drawingml/2006/main" rot="0" flipH="0" flipV="0">
            <a:off x="8165592" y="5226368"/>
            <a:ext cx="259295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Radius is no longer a uniformly cheap dial.</a:t>
            </a:r>
          </a:p>
        </p:txBody>
      </p:sp>
      <p:sp>
        <p:nvSpPr>
          <p:cNvPr id="37" name="TextBox 37">
            <a:extLst xmlns:a="http://schemas.openxmlformats.org/drawingml/2006/main">
              <a:ext uri="{FF2B5EF4-FFF2-40B4-BE49-F238E27FC236}">
                <a16:creationId xmlns:a16="http://schemas.microsoft.com/office/drawing/2014/main" id="{AB1D78F2-8ADD-4DBD-B2B7-3DECD17B859A}"/>
              </a:ext>
            </a:extLst>
          </p:cNvPr>
          <p:cNvSpPr>
            <a:spLocks xmlns:a="http://schemas.openxmlformats.org/drawingml/2006/main" noGrp="1"/>
          </p:cNvSpPr>
          <p:nvPr/>
        </p:nvSpPr>
        <p:spPr>
          <a:xfrm xmlns:a="http://schemas.openxmlformats.org/drawingml/2006/main" rot="0" flipH="0" flipV="0">
            <a:off x="8165592" y="5569268"/>
            <a:ext cx="360130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dk1"/>
                </a:solidFill>
                <a:latin typeface="+mn-lt"/>
                <a:ea typeface="+mn-lt"/>
                <a:cs typeface="+mn-lt"/>
              </a:rPr>
              <a:t>Candidate coverage changes close to the floor.</a:t>
            </a:r>
          </a:p>
        </p:txBody>
      </p:sp>
      <p:sp>
        <p:nvSpPr>
          <p:cNvPr id="39" name="Line 39">
            <a:extLst xmlns:a="http://schemas.openxmlformats.org/drawingml/2006/main">
              <a:ext uri="{FF2B5EF4-FFF2-40B4-BE49-F238E27FC236}">
                <a16:creationId xmlns:a16="http://schemas.microsoft.com/office/drawing/2014/main" id="{AFFC6E1F-905F-4CAD-BF27-D6F369BA7B36}"/>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0" name="TextBox 40">
            <a:extLst xmlns:a="http://schemas.openxmlformats.org/drawingml/2006/main">
              <a:ext uri="{FF2B5EF4-FFF2-40B4-BE49-F238E27FC236}">
                <a16:creationId xmlns:a16="http://schemas.microsoft.com/office/drawing/2014/main" id="{F35D2AE5-533A-41AC-ABE6-C5BB3595364A}"/>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41" name="TextBox 41">
            <a:extLst xmlns:a="http://schemas.openxmlformats.org/drawingml/2006/main">
              <a:ext uri="{FF2B5EF4-FFF2-40B4-BE49-F238E27FC236}">
                <a16:creationId xmlns:a16="http://schemas.microsoft.com/office/drawing/2014/main" id="{53D183F8-4C70-43A9-BC67-22D14D5F50FC}"/>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10 / 14</a:t>
            </a:r>
          </a:p>
        </p:txBody>
      </p:sp>
    </p:spTree>
    <p:extLst>
      <p:ext uri="{BB962C8B-B14F-4D97-AF65-F5344CB8AC3E}">
        <p14:creationId xmlns:p14="http://schemas.microsoft.com/office/powerpoint/2010/main" val="930484253"/>
      </p:ext>
    </p:extLst>
  </p:cSld>
</p:sld>
</file>

<file path=ppt/slides/slide11.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E174DEA2-7198-4A08-9068-E4D89738B53C}"/>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4E23A24-B93B-4103-82F9-E43DC4291239}"/>
              </a:ext>
            </a:extLst>
          </p:cNvPr>
          <p:cNvSpPr>
            <a:spLocks xmlns:a="http://schemas.openxmlformats.org/drawingml/2006/main" noGrp="1"/>
          </p:cNvSpPr>
          <p:nvPr/>
        </p:nvSpPr>
        <p:spPr>
          <a:xfrm xmlns:a="http://schemas.openxmlformats.org/drawingml/2006/main" rot="0" flipH="0" flipV="0">
            <a:off x="451104" y="708660"/>
            <a:ext cx="437497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11 · SENSITIVITY — CAPACITY &amp; ROBUSTNESS</a:t>
            </a:r>
          </a:p>
        </p:txBody>
      </p:sp>
      <p:sp>
        <p:nvSpPr>
          <p:cNvPr id="4" name="TextBox 4">
            <a:extLst xmlns:a="http://schemas.openxmlformats.org/drawingml/2006/main">
              <a:ext uri="{FF2B5EF4-FFF2-40B4-BE49-F238E27FC236}">
                <a16:creationId xmlns:a16="http://schemas.microsoft.com/office/drawing/2014/main" id="{99B55C5F-9568-4548-8E68-3C5EBB97955C}"/>
              </a:ext>
            </a:extLst>
          </p:cNvPr>
          <p:cNvSpPr>
            <a:spLocks xmlns:a="http://schemas.openxmlformats.org/drawingml/2006/main" noGrp="1"/>
          </p:cNvSpPr>
          <p:nvPr/>
        </p:nvSpPr>
        <p:spPr>
          <a:xfrm xmlns:a="http://schemas.openxmlformats.org/drawingml/2006/main" rot="0" flipH="0" flipV="0">
            <a:off x="441960" y="895350"/>
            <a:ext cx="9882788"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Capacity is the assumption the answer turns on</a:t>
            </a:r>
          </a:p>
        </p:txBody>
      </p:sp>
      <p:sp>
        <p:nvSpPr>
          <p:cNvPr id="6" name="TextBox 6">
            <a:extLst xmlns:a="http://schemas.openxmlformats.org/drawingml/2006/main">
              <a:ext uri="{FF2B5EF4-FFF2-40B4-BE49-F238E27FC236}">
                <a16:creationId xmlns:a16="http://schemas.microsoft.com/office/drawing/2014/main" id="{BD4F925A-B6F7-4B73-BFBF-1E0E44AEA138}"/>
              </a:ext>
            </a:extLst>
          </p:cNvPr>
          <p:cNvSpPr>
            <a:spLocks xmlns:a="http://schemas.openxmlformats.org/drawingml/2006/main" noGrp="1"/>
          </p:cNvSpPr>
          <p:nvPr/>
        </p:nvSpPr>
        <p:spPr>
          <a:xfrm xmlns:a="http://schemas.openxmlformats.org/drawingml/2006/main" rot="0" flipH="0" flipV="0">
            <a:off x="449580" y="1571625"/>
            <a:ext cx="1078536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Halving capacity moves the plan from 6 sites to 13; the arithmetic bound is only 12.</a:t>
            </a:r>
          </a:p>
        </p:txBody>
      </p:sp>
      <p:sp>
        <p:nvSpPr>
          <p:cNvPr id="8" name="Rectangle 8">
            <a:extLst xmlns:a="http://schemas.openxmlformats.org/drawingml/2006/main">
              <a:ext uri="{FF2B5EF4-FFF2-40B4-BE49-F238E27FC236}">
                <a16:creationId xmlns:a16="http://schemas.microsoft.com/office/drawing/2014/main" id="{C3E32F68-BFD3-4ABB-8D53-8B96FE479D18}"/>
              </a:ext>
            </a:extLst>
          </p:cNvPr>
          <p:cNvSpPr>
            <a:spLocks xmlns:a="http://schemas.openxmlformats.org/drawingml/2006/main" noGrp="1"/>
          </p:cNvSpPr>
          <p:nvPr/>
        </p:nvSpPr>
        <p:spPr>
          <a:xfrm xmlns:a="http://schemas.openxmlformats.org/drawingml/2006/main" rot="0" flipH="0" flipV="0">
            <a:off x="457200" y="1885950"/>
            <a:ext cx="7239000" cy="2762250"/>
          </a:xfrm>
          <a:prstGeom xmlns:a="http://schemas.openxmlformats.org/drawingml/2006/main" prst="roundRect">
            <a:avLst>
              <a:gd name="adj" fmla="val 2759"/>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64" name="Image 9"/>
          <p:cNvPicPr>
            <a:picLocks xmlns:a="http://schemas.openxmlformats.org/drawingml/2006/main" noChangeAspect="1"/>
          </p:cNvPicPr>
          <p:nvPr/>
        </p:nvPicPr>
        <p:blipFill>
          <a:blip xmlns:r="http://schemas.openxmlformats.org/officeDocument/2006/relationships" xmlns:a="http://schemas.openxmlformats.org/drawingml/2006/main" r:embed="Rcf99cc209a31400d"/>
          <a:stretch xmlns:a="http://schemas.openxmlformats.org/drawingml/2006/main">
            <a:fillRect l="0" t="0" r="0" b="0"/>
          </a:stretch>
        </p:blipFill>
        <p:spPr>
          <a:xfrm xmlns:a="http://schemas.openxmlformats.org/drawingml/2006/main" rot="0" flipH="0" flipV="0">
            <a:off x="571500" y="2015218"/>
            <a:ext cx="7010400" cy="2503714"/>
          </a:xfrm>
          <a:prstGeom xmlns:a="http://schemas.openxmlformats.org/drawingml/2006/main" prst="rect">
            <a:avLst/>
          </a:prstGeom>
        </p:spPr>
      </p:pic>
      <p:sp>
        <p:nvSpPr>
          <p:cNvPr id="11" name="Rectangle 11">
            <a:extLst xmlns:a="http://schemas.openxmlformats.org/drawingml/2006/main">
              <a:ext uri="{FF2B5EF4-FFF2-40B4-BE49-F238E27FC236}">
                <a16:creationId xmlns:a16="http://schemas.microsoft.com/office/drawing/2014/main" id="{CBEA0981-2852-4F78-BEA6-704CE7D96C2C}"/>
              </a:ext>
            </a:extLst>
          </p:cNvPr>
          <p:cNvSpPr>
            <a:spLocks xmlns:a="http://schemas.openxmlformats.org/drawingml/2006/main" noGrp="1"/>
          </p:cNvSpPr>
          <p:nvPr/>
        </p:nvSpPr>
        <p:spPr>
          <a:xfrm xmlns:a="http://schemas.openxmlformats.org/drawingml/2006/main" rot="0" flipH="0" flipV="0">
            <a:off x="7924800" y="1885950"/>
            <a:ext cx="3810000" cy="2762250"/>
          </a:xfrm>
          <a:prstGeom xmlns:a="http://schemas.openxmlformats.org/drawingml/2006/main" prst="roundRect">
            <a:avLst>
              <a:gd name="adj" fmla="val 3448"/>
            </a:avLst>
          </a:prstGeom>
          <a:solidFill xmlns:a="http://schemas.openxmlformats.org/drawingml/2006/main">
            <a:srgbClr val="FEF2F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2" name="Rectangle 12">
            <a:extLst xmlns:a="http://schemas.openxmlformats.org/drawingml/2006/main">
              <a:ext uri="{FF2B5EF4-FFF2-40B4-BE49-F238E27FC236}">
                <a16:creationId xmlns:a16="http://schemas.microsoft.com/office/drawing/2014/main" id="{8EC46820-B73E-4337-95ED-292E177C3CD6}"/>
              </a:ext>
            </a:extLst>
          </p:cNvPr>
          <p:cNvSpPr>
            <a:spLocks xmlns:a="http://schemas.openxmlformats.org/drawingml/2006/main" noGrp="1"/>
          </p:cNvSpPr>
          <p:nvPr/>
        </p:nvSpPr>
        <p:spPr>
          <a:xfrm xmlns:a="http://schemas.openxmlformats.org/drawingml/2006/main" rot="0" flipH="0" flipV="0">
            <a:off x="7924800" y="1885950"/>
            <a:ext cx="57150" cy="2762250"/>
          </a:xfrm>
          <a:prstGeom xmlns:a="http://schemas.openxmlformats.org/drawingml/2006/main" prst="rect">
            <a:avLst/>
          </a:prstGeom>
          <a:solidFill xmlns:a="http://schemas.openxmlformats.org/drawingml/2006/main">
            <a:schemeClr val="accent3"/>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3" name="Freeform 13">
            <a:extLst xmlns:a="http://schemas.openxmlformats.org/drawingml/2006/main">
              <a:ext uri="{FF2B5EF4-FFF2-40B4-BE49-F238E27FC236}">
                <a16:creationId xmlns:a16="http://schemas.microsoft.com/office/drawing/2014/main" id="{56267B4A-D245-41CD-BB63-74E0797AFC98}"/>
              </a:ext>
            </a:extLst>
          </p:cNvPr>
          <p:cNvSpPr>
            <a:spLocks xmlns:a="http://schemas.openxmlformats.org/drawingml/2006/main" noGrp="1"/>
          </p:cNvSpPr>
          <p:nvPr/>
        </p:nvSpPr>
        <p:spPr>
          <a:xfrm xmlns:a="http://schemas.openxmlformats.org/drawingml/2006/main" rot="0" flipH="0" flipV="0">
            <a:off x="8296275" y="2188368"/>
            <a:ext cx="9525" cy="41275"/>
          </a:xfrm>
          <a:custGeom xmlns:a="http://schemas.openxmlformats.org/drawingml/2006/main">
            <a:rect l="l" t="t" r="r" b="b"/>
            <a:pathLst>
              <a:path w="9525" h="41275">
                <a:moveTo>
                  <a:pt x="0" y="0"/>
                </a:moveTo>
                <a:lnTo>
                  <a:pt x="0" y="41275"/>
                </a:ln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14" name="Freeform 14">
            <a:extLst xmlns:a="http://schemas.openxmlformats.org/drawingml/2006/main">
              <a:ext uri="{FF2B5EF4-FFF2-40B4-BE49-F238E27FC236}">
                <a16:creationId xmlns:a16="http://schemas.microsoft.com/office/drawing/2014/main" id="{D0A83EC0-C50A-4828-B17D-D786FC4A3C33}"/>
              </a:ext>
            </a:extLst>
          </p:cNvPr>
          <p:cNvSpPr>
            <a:spLocks xmlns:a="http://schemas.openxmlformats.org/drawingml/2006/main" noGrp="1"/>
          </p:cNvSpPr>
          <p:nvPr/>
        </p:nvSpPr>
        <p:spPr>
          <a:xfrm xmlns:a="http://schemas.openxmlformats.org/drawingml/2006/main" rot="0" flipH="0" flipV="0">
            <a:off x="8192209" y="2123028"/>
            <a:ext cx="208123" cy="178805"/>
          </a:xfrm>
          <a:custGeom xmlns:a="http://schemas.openxmlformats.org/drawingml/2006/main">
            <a:rect l="l" t="t" r="r" b="b"/>
            <a:pathLst>
              <a:path w="208123" h="178805">
                <a:moveTo>
                  <a:pt x="87174" y="9526"/>
                </a:moveTo>
                <a:lnTo>
                  <a:pt x="3530" y="149180"/>
                </a:lnTo>
                <a:cubicBezTo>
                  <a:pt x="21" y="155256"/>
                  <a:pt x="0" y="162738"/>
                  <a:pt x="3474" y="168834"/>
                </a:cubicBezTo>
                <a:cubicBezTo>
                  <a:pt x="6948" y="174931"/>
                  <a:pt x="13395" y="178726"/>
                  <a:pt x="20412" y="178805"/>
                </a:cubicBezTo>
                <a:lnTo>
                  <a:pt x="187719" y="178805"/>
                </a:lnTo>
                <a:cubicBezTo>
                  <a:pt x="194732" y="178724"/>
                  <a:pt x="201176" y="174930"/>
                  <a:pt x="204650" y="168837"/>
                </a:cubicBezTo>
                <a:cubicBezTo>
                  <a:pt x="208123" y="162744"/>
                  <a:pt x="208104" y="155266"/>
                  <a:pt x="204601" y="149190"/>
                </a:cubicBezTo>
                <a:lnTo>
                  <a:pt x="120957" y="9516"/>
                </a:lnTo>
                <a:cubicBezTo>
                  <a:pt x="117378" y="3609"/>
                  <a:pt x="110973" y="0"/>
                  <a:pt x="104065" y="0"/>
                </a:cubicBezTo>
                <a:cubicBezTo>
                  <a:pt x="97158" y="0"/>
                  <a:pt x="90753" y="3609"/>
                  <a:pt x="87174" y="9516"/>
                </a:cubicBez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15" name="Freeform 15">
            <a:extLst xmlns:a="http://schemas.openxmlformats.org/drawingml/2006/main">
              <a:ext uri="{FF2B5EF4-FFF2-40B4-BE49-F238E27FC236}">
                <a16:creationId xmlns:a16="http://schemas.microsoft.com/office/drawing/2014/main" id="{FAEF4025-2B93-43D7-B31E-6A6E050E12B8}"/>
              </a:ext>
            </a:extLst>
          </p:cNvPr>
          <p:cNvSpPr>
            <a:spLocks xmlns:a="http://schemas.openxmlformats.org/drawingml/2006/main" noGrp="1"/>
          </p:cNvSpPr>
          <p:nvPr/>
        </p:nvSpPr>
        <p:spPr>
          <a:xfrm xmlns:a="http://schemas.openxmlformats.org/drawingml/2006/main" rot="0" flipH="0" flipV="0">
            <a:off x="8296275" y="2260599"/>
            <a:ext cx="9525" cy="9525"/>
          </a:xfrm>
          <a:custGeom xmlns:a="http://schemas.openxmlformats.org/drawingml/2006/main">
            <a:rect l="l" t="t" r="r" b="b"/>
            <a:pathLst>
              <a:path w="9525" h="9525">
                <a:moveTo>
                  <a:pt x="0" y="0"/>
                </a:moveTo>
                <a:lnTo>
                  <a:pt x="103" y="0"/>
                </a:lnTo>
              </a:path>
            </a:pathLst>
          </a:custGeom>
          <a:noFill xmlns:a="http://schemas.openxmlformats.org/drawingml/2006/main"/>
          <a:ln xmlns:a="http://schemas.openxmlformats.org/drawingml/2006/main" w="20637">
            <a:solidFill>
              <a:schemeClr val="accent3"/>
            </a:solidFill>
          </a:ln>
        </p:spPr>
        <p:txBody>
          <a:bodyPr xmlns:a="http://schemas.openxmlformats.org/drawingml/2006/main"/>
          <a:lstStyle xmlns:a="http://schemas.openxmlformats.org/drawingml/2006/main"/>
          <a:p xmlns:a="http://schemas.openxmlformats.org/drawingml/2006/main">
            <a:endParaRPr/>
          </a:p>
        </p:txBody>
      </p:sp>
      <p:sp>
        <p:nvSpPr>
          <p:cNvPr id="17" name="TextBox 17">
            <a:extLst xmlns:a="http://schemas.openxmlformats.org/drawingml/2006/main">
              <a:ext uri="{FF2B5EF4-FFF2-40B4-BE49-F238E27FC236}">
                <a16:creationId xmlns:a16="http://schemas.microsoft.com/office/drawing/2014/main" id="{6C756765-5A0D-47EA-AEA3-C31E62FB7EB4}"/>
              </a:ext>
            </a:extLst>
          </p:cNvPr>
          <p:cNvSpPr>
            <a:spLocks xmlns:a="http://schemas.openxmlformats.org/drawingml/2006/main" noGrp="1"/>
          </p:cNvSpPr>
          <p:nvPr/>
        </p:nvSpPr>
        <p:spPr>
          <a:xfrm xmlns:a="http://schemas.openxmlformats.org/drawingml/2006/main" rot="0" flipH="0" flipV="0">
            <a:off x="8509254" y="2156460"/>
            <a:ext cx="216158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3"/>
                </a:solidFill>
                <a:latin typeface="+mn-lt"/>
                <a:ea typeface="+mn-lt"/>
                <a:cs typeface="+mn-lt"/>
              </a:rPr>
              <a:t>RISKIEST ASSUMPTION</a:t>
            </a:r>
          </a:p>
        </p:txBody>
      </p:sp>
      <p:sp>
        <p:nvSpPr>
          <p:cNvPr id="18" name="TextBox 18">
            <a:extLst xmlns:a="http://schemas.openxmlformats.org/drawingml/2006/main">
              <a:ext uri="{FF2B5EF4-FFF2-40B4-BE49-F238E27FC236}">
                <a16:creationId xmlns:a16="http://schemas.microsoft.com/office/drawing/2014/main" id="{3AAA4D72-2D7C-4E4F-986D-118E43ECDD52}"/>
              </a:ext>
            </a:extLst>
          </p:cNvPr>
          <p:cNvSpPr>
            <a:spLocks xmlns:a="http://schemas.openxmlformats.org/drawingml/2006/main" noGrp="1"/>
          </p:cNvSpPr>
          <p:nvPr/>
        </p:nvSpPr>
        <p:spPr>
          <a:xfrm xmlns:a="http://schemas.openxmlformats.org/drawingml/2006/main" rot="0" flipH="0" flipV="0">
            <a:off x="8165592" y="2559368"/>
            <a:ext cx="153694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Halving capacity:</a:t>
            </a:r>
          </a:p>
        </p:txBody>
      </p:sp>
      <p:sp>
        <p:nvSpPr>
          <p:cNvPr id="19" name="TextBox 19">
            <a:extLst xmlns:a="http://schemas.openxmlformats.org/drawingml/2006/main">
              <a:ext uri="{FF2B5EF4-FFF2-40B4-BE49-F238E27FC236}">
                <a16:creationId xmlns:a16="http://schemas.microsoft.com/office/drawing/2014/main" id="{B9B988F8-552C-438C-BA1C-A1F05C61C072}"/>
              </a:ext>
            </a:extLst>
          </p:cNvPr>
          <p:cNvSpPr>
            <a:spLocks xmlns:a="http://schemas.openxmlformats.org/drawingml/2006/main" noGrp="1"/>
          </p:cNvSpPr>
          <p:nvPr/>
        </p:nvSpPr>
        <p:spPr>
          <a:xfrm xmlns:a="http://schemas.openxmlformats.org/drawingml/2006/main" rot="0" flipH="0" flipV="0">
            <a:off x="8164068" y="2831782"/>
            <a:ext cx="2451038"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991B1B"/>
                </a:solidFill>
                <a:latin typeface="Consolas"/>
                <a:ea typeface="Consolas"/>
                <a:cs typeface="Consolas"/>
              </a:rPr>
              <a:t>6/$589k → 13/$1.314M</a:t>
            </a:r>
          </a:p>
        </p:txBody>
      </p:sp>
      <p:sp>
        <p:nvSpPr>
          <p:cNvPr id="20" name="Line 20">
            <a:extLst xmlns:a="http://schemas.openxmlformats.org/drawingml/2006/main">
              <a:ext uri="{FF2B5EF4-FFF2-40B4-BE49-F238E27FC236}">
                <a16:creationId xmlns:a16="http://schemas.microsoft.com/office/drawing/2014/main" id="{560D51DB-6EF1-47D1-9D87-368FF2DB3875}"/>
              </a:ext>
            </a:extLst>
          </p:cNvPr>
          <p:cNvSpPr>
            <a:spLocks xmlns:a="http://schemas.openxmlformats.org/drawingml/2006/main" noGrp="1"/>
          </p:cNvSpPr>
          <p:nvPr/>
        </p:nvSpPr>
        <p:spPr>
          <a:xfrm xmlns:a="http://schemas.openxmlformats.org/drawingml/2006/main" rot="0" flipH="0" flipV="0">
            <a:off x="8172450" y="3219450"/>
            <a:ext cx="3314700" cy="9525"/>
          </a:xfrm>
          <a:custGeom xmlns:a="http://schemas.openxmlformats.org/drawingml/2006/main">
            <a:rect l="l" t="t" r="r" b="b"/>
            <a:pathLst>
              <a:path w="3314700" h="9525">
                <a:moveTo>
                  <a:pt x="0" y="0"/>
                </a:moveTo>
                <a:lnTo>
                  <a:pt x="3314700" y="0"/>
                </a:lnTo>
              </a:path>
            </a:pathLst>
          </a:custGeom>
          <a:noFill xmlns:a="http://schemas.openxmlformats.org/drawingml/2006/main"/>
          <a:ln xmlns:a="http://schemas.openxmlformats.org/drawingml/2006/main" w="9525">
            <a:solidFill>
              <a:srgbClr val="FECACA"/>
            </a:solidFill>
          </a:ln>
        </p:spPr>
        <p:txBody>
          <a:bodyPr xmlns:a="http://schemas.openxmlformats.org/drawingml/2006/main"/>
          <a:lstStyle xmlns:a="http://schemas.openxmlformats.org/drawingml/2006/main"/>
          <a:p xmlns:a="http://schemas.openxmlformats.org/drawingml/2006/main">
            <a:endParaRPr/>
          </a:p>
        </p:txBody>
      </p:sp>
      <p:sp>
        <p:nvSpPr>
          <p:cNvPr id="21" name="TextBox 21">
            <a:extLst xmlns:a="http://schemas.openxmlformats.org/drawingml/2006/main">
              <a:ext uri="{FF2B5EF4-FFF2-40B4-BE49-F238E27FC236}">
                <a16:creationId xmlns:a16="http://schemas.microsoft.com/office/drawing/2014/main" id="{845C76FD-021F-4D9D-A36E-486071195B89}"/>
              </a:ext>
            </a:extLst>
          </p:cNvPr>
          <p:cNvSpPr>
            <a:spLocks xmlns:a="http://schemas.openxmlformats.org/drawingml/2006/main" noGrp="1"/>
          </p:cNvSpPr>
          <p:nvPr/>
        </p:nvSpPr>
        <p:spPr>
          <a:xfrm xmlns:a="http://schemas.openxmlformats.org/drawingml/2006/main" rot="0" flipH="0" flipV="0">
            <a:off x="8165592" y="3359468"/>
            <a:ext cx="278356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Capacity-only lower bound:</a:t>
            </a:r>
          </a:p>
        </p:txBody>
      </p:sp>
      <p:sp>
        <p:nvSpPr>
          <p:cNvPr id="22" name="TextBox 22">
            <a:extLst xmlns:a="http://schemas.openxmlformats.org/drawingml/2006/main">
              <a:ext uri="{FF2B5EF4-FFF2-40B4-BE49-F238E27FC236}">
                <a16:creationId xmlns:a16="http://schemas.microsoft.com/office/drawing/2014/main" id="{24810DDA-AA82-4642-B2EF-1B31EC871AE5}"/>
              </a:ext>
            </a:extLst>
          </p:cNvPr>
          <p:cNvSpPr>
            <a:spLocks xmlns:a="http://schemas.openxmlformats.org/drawingml/2006/main" noGrp="1"/>
          </p:cNvSpPr>
          <p:nvPr/>
        </p:nvSpPr>
        <p:spPr>
          <a:xfrm xmlns:a="http://schemas.openxmlformats.org/drawingml/2006/main" rot="0" flipH="0" flipV="0">
            <a:off x="8164830" y="3590925"/>
            <a:ext cx="1965884"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dk1"/>
                </a:solidFill>
                <a:latin typeface="Consolas"/>
                <a:ea typeface="Consolas"/>
                <a:cs typeface="Consolas"/>
              </a:rPr>
              <a:t>12 sites at 0.5×; optimum needs 13</a:t>
            </a:r>
          </a:p>
        </p:txBody>
      </p:sp>
      <p:sp>
        <p:nvSpPr>
          <p:cNvPr id="23" name="TextBox 23">
            <a:extLst xmlns:a="http://schemas.openxmlformats.org/drawingml/2006/main">
              <a:ext uri="{FF2B5EF4-FFF2-40B4-BE49-F238E27FC236}">
                <a16:creationId xmlns:a16="http://schemas.microsoft.com/office/drawing/2014/main" id="{73E2C138-B107-4C30-A673-463213F928A9}"/>
              </a:ext>
            </a:extLst>
          </p:cNvPr>
          <p:cNvSpPr>
            <a:spLocks xmlns:a="http://schemas.openxmlformats.org/drawingml/2006/main" noGrp="1"/>
          </p:cNvSpPr>
          <p:nvPr/>
        </p:nvSpPr>
        <p:spPr>
          <a:xfrm xmlns:a="http://schemas.openxmlformats.org/drawingml/2006/main" rot="0" flipH="0" flipV="0">
            <a:off x="8165592" y="3950018"/>
            <a:ext cx="2210171"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Capacity drives the count —</a:t>
            </a:r>
          </a:p>
        </p:txBody>
      </p:sp>
      <p:sp>
        <p:nvSpPr>
          <p:cNvPr id="24" name="TextBox 24">
            <a:extLst xmlns:a="http://schemas.openxmlformats.org/drawingml/2006/main">
              <a:ext uri="{FF2B5EF4-FFF2-40B4-BE49-F238E27FC236}">
                <a16:creationId xmlns:a16="http://schemas.microsoft.com/office/drawing/2014/main" id="{9FD7C843-42C3-4725-8CE3-7A365D764E2A}"/>
              </a:ext>
            </a:extLst>
          </p:cNvPr>
          <p:cNvSpPr>
            <a:spLocks xmlns:a="http://schemas.openxmlformats.org/drawingml/2006/main" noGrp="1"/>
          </p:cNvSpPr>
          <p:nvPr/>
        </p:nvSpPr>
        <p:spPr>
          <a:xfrm xmlns:a="http://schemas.openxmlformats.org/drawingml/2006/main" rot="0" flipH="0" flipV="0">
            <a:off x="8165592" y="4197668"/>
            <a:ext cx="277611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geography can force extra sites.</a:t>
            </a:r>
          </a:p>
        </p:txBody>
      </p:sp>
      <p:sp>
        <p:nvSpPr>
          <p:cNvPr id="26" name="Rectangle 26">
            <a:extLst xmlns:a="http://schemas.openxmlformats.org/drawingml/2006/main">
              <a:ext uri="{FF2B5EF4-FFF2-40B4-BE49-F238E27FC236}">
                <a16:creationId xmlns:a16="http://schemas.microsoft.com/office/drawing/2014/main" id="{1BE09E37-7067-4FEE-92AC-2EEC86F411CB}"/>
              </a:ext>
            </a:extLst>
          </p:cNvPr>
          <p:cNvSpPr>
            <a:spLocks xmlns:a="http://schemas.openxmlformats.org/drawingml/2006/main" noGrp="1"/>
          </p:cNvSpPr>
          <p:nvPr/>
        </p:nvSpPr>
        <p:spPr>
          <a:xfrm xmlns:a="http://schemas.openxmlformats.org/drawingml/2006/main" rot="0" flipH="0" flipV="0">
            <a:off x="457200" y="4838700"/>
            <a:ext cx="5448300" cy="1352550"/>
          </a:xfrm>
          <a:prstGeom xmlns:a="http://schemas.openxmlformats.org/drawingml/2006/main" prst="roundRect">
            <a:avLst>
              <a:gd name="adj" fmla="val 7042"/>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7" name="Freeform 27">
            <a:extLst xmlns:a="http://schemas.openxmlformats.org/drawingml/2006/main">
              <a:ext uri="{FF2B5EF4-FFF2-40B4-BE49-F238E27FC236}">
                <a16:creationId xmlns:a16="http://schemas.microsoft.com/office/drawing/2014/main" id="{85864E0D-5663-42CF-879C-DC399C4BF7BE}"/>
              </a:ext>
            </a:extLst>
          </p:cNvPr>
          <p:cNvSpPr>
            <a:spLocks xmlns:a="http://schemas.openxmlformats.org/drawingml/2006/main" noGrp="1"/>
          </p:cNvSpPr>
          <p:nvPr/>
        </p:nvSpPr>
        <p:spPr>
          <a:xfrm xmlns:a="http://schemas.openxmlformats.org/drawingml/2006/main" rot="0" flipH="0" flipV="0">
            <a:off x="663575" y="5060950"/>
            <a:ext cx="34925" cy="34925"/>
          </a:xfrm>
          <a:custGeom xmlns:a="http://schemas.openxmlformats.org/drawingml/2006/main">
            <a:rect l="l" t="t" r="r" b="b"/>
            <a:pathLst>
              <a:path w="34925" h="34925">
                <a:moveTo>
                  <a:pt x="0" y="17463"/>
                </a:moveTo>
                <a:cubicBezTo>
                  <a:pt x="0" y="27107"/>
                  <a:pt x="7818" y="34925"/>
                  <a:pt x="17463" y="34925"/>
                </a:cubicBezTo>
                <a:cubicBezTo>
                  <a:pt x="27107" y="34925"/>
                  <a:pt x="34925" y="27107"/>
                  <a:pt x="34925" y="17463"/>
                </a:cubicBezTo>
                <a:cubicBezTo>
                  <a:pt x="34925" y="7818"/>
                  <a:pt x="27107" y="0"/>
                  <a:pt x="17463" y="0"/>
                </a:cubicBezTo>
                <a:cubicBezTo>
                  <a:pt x="7818" y="0"/>
                  <a:pt x="0" y="7818"/>
                  <a:pt x="0" y="17463"/>
                </a:cubicBez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8" name="Freeform 28">
            <a:extLst xmlns:a="http://schemas.openxmlformats.org/drawingml/2006/main">
              <a:ext uri="{FF2B5EF4-FFF2-40B4-BE49-F238E27FC236}">
                <a16:creationId xmlns:a16="http://schemas.microsoft.com/office/drawing/2014/main" id="{8E8C48D8-604E-415F-B911-D9CF44364BB3}"/>
              </a:ext>
            </a:extLst>
          </p:cNvPr>
          <p:cNvSpPr>
            <a:spLocks xmlns:a="http://schemas.openxmlformats.org/drawingml/2006/main" noGrp="1"/>
          </p:cNvSpPr>
          <p:nvPr/>
        </p:nvSpPr>
        <p:spPr>
          <a:xfrm xmlns:a="http://schemas.openxmlformats.org/drawingml/2006/main" rot="0" flipH="0" flipV="0">
            <a:off x="681038" y="5026025"/>
            <a:ext cx="9525" cy="34925"/>
          </a:xfrm>
          <a:custGeom xmlns:a="http://schemas.openxmlformats.org/drawingml/2006/main">
            <a:rect l="l" t="t" r="r" b="b"/>
            <a:pathLst>
              <a:path w="9525" h="34925">
                <a:moveTo>
                  <a:pt x="0" y="0"/>
                </a:moveTo>
                <a:lnTo>
                  <a:pt x="0" y="34925"/>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9" name="Freeform 29">
            <a:extLst xmlns:a="http://schemas.openxmlformats.org/drawingml/2006/main">
              <a:ext uri="{FF2B5EF4-FFF2-40B4-BE49-F238E27FC236}">
                <a16:creationId xmlns:a16="http://schemas.microsoft.com/office/drawing/2014/main" id="{AE442E89-0B83-4419-9A2C-C01B899807A8}"/>
              </a:ext>
            </a:extLst>
          </p:cNvPr>
          <p:cNvSpPr>
            <a:spLocks xmlns:a="http://schemas.openxmlformats.org/drawingml/2006/main" noGrp="1"/>
          </p:cNvSpPr>
          <p:nvPr/>
        </p:nvSpPr>
        <p:spPr>
          <a:xfrm xmlns:a="http://schemas.openxmlformats.org/drawingml/2006/main" rot="0" flipH="0" flipV="0">
            <a:off x="681038" y="5095875"/>
            <a:ext cx="9525" cy="69850"/>
          </a:xfrm>
          <a:custGeom xmlns:a="http://schemas.openxmlformats.org/drawingml/2006/main">
            <a:rect l="l" t="t" r="r" b="b"/>
            <a:pathLst>
              <a:path w="9525" h="69850">
                <a:moveTo>
                  <a:pt x="0" y="0"/>
                </a:moveTo>
                <a:lnTo>
                  <a:pt x="0" y="69850"/>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0" name="Freeform 30">
            <a:extLst xmlns:a="http://schemas.openxmlformats.org/drawingml/2006/main">
              <a:ext uri="{FF2B5EF4-FFF2-40B4-BE49-F238E27FC236}">
                <a16:creationId xmlns:a16="http://schemas.microsoft.com/office/drawing/2014/main" id="{BA183BDC-418F-4347-A561-EBC86E83B0C8}"/>
              </a:ext>
            </a:extLst>
          </p:cNvPr>
          <p:cNvSpPr>
            <a:spLocks xmlns:a="http://schemas.openxmlformats.org/drawingml/2006/main" noGrp="1"/>
          </p:cNvSpPr>
          <p:nvPr/>
        </p:nvSpPr>
        <p:spPr>
          <a:xfrm xmlns:a="http://schemas.openxmlformats.org/drawingml/2006/main" rot="0" flipH="0" flipV="0">
            <a:off x="715963" y="5113338"/>
            <a:ext cx="34925" cy="34925"/>
          </a:xfrm>
          <a:custGeom xmlns:a="http://schemas.openxmlformats.org/drawingml/2006/main">
            <a:rect l="l" t="t" r="r" b="b"/>
            <a:pathLst>
              <a:path w="34925" h="34925">
                <a:moveTo>
                  <a:pt x="0" y="17463"/>
                </a:moveTo>
                <a:cubicBezTo>
                  <a:pt x="0" y="27107"/>
                  <a:pt x="7818" y="34925"/>
                  <a:pt x="17463" y="34925"/>
                </a:cubicBezTo>
                <a:cubicBezTo>
                  <a:pt x="27107" y="34925"/>
                  <a:pt x="34925" y="27107"/>
                  <a:pt x="34925" y="17463"/>
                </a:cubicBezTo>
                <a:cubicBezTo>
                  <a:pt x="34925" y="7818"/>
                  <a:pt x="27107" y="0"/>
                  <a:pt x="17463" y="0"/>
                </a:cubicBezTo>
                <a:cubicBezTo>
                  <a:pt x="7818" y="0"/>
                  <a:pt x="0" y="7818"/>
                  <a:pt x="0" y="17463"/>
                </a:cubicBez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1" name="Freeform 31">
            <a:extLst xmlns:a="http://schemas.openxmlformats.org/drawingml/2006/main">
              <a:ext uri="{FF2B5EF4-FFF2-40B4-BE49-F238E27FC236}">
                <a16:creationId xmlns:a16="http://schemas.microsoft.com/office/drawing/2014/main" id="{016C7F35-8349-4A0B-90E7-307B269E90E8}"/>
              </a:ext>
            </a:extLst>
          </p:cNvPr>
          <p:cNvSpPr>
            <a:spLocks xmlns:a="http://schemas.openxmlformats.org/drawingml/2006/main" noGrp="1"/>
          </p:cNvSpPr>
          <p:nvPr/>
        </p:nvSpPr>
        <p:spPr>
          <a:xfrm xmlns:a="http://schemas.openxmlformats.org/drawingml/2006/main" rot="0" flipH="0" flipV="0">
            <a:off x="733425" y="5026025"/>
            <a:ext cx="9525" cy="87313"/>
          </a:xfrm>
          <a:custGeom xmlns:a="http://schemas.openxmlformats.org/drawingml/2006/main">
            <a:rect l="l" t="t" r="r" b="b"/>
            <a:pathLst>
              <a:path w="9525" h="87313">
                <a:moveTo>
                  <a:pt x="0" y="0"/>
                </a:moveTo>
                <a:lnTo>
                  <a:pt x="0" y="87313"/>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2" name="Freeform 32">
            <a:extLst xmlns:a="http://schemas.openxmlformats.org/drawingml/2006/main">
              <a:ext uri="{FF2B5EF4-FFF2-40B4-BE49-F238E27FC236}">
                <a16:creationId xmlns:a16="http://schemas.microsoft.com/office/drawing/2014/main" id="{D3A78062-54A3-4222-BC9C-B96993081E7E}"/>
              </a:ext>
            </a:extLst>
          </p:cNvPr>
          <p:cNvSpPr>
            <a:spLocks xmlns:a="http://schemas.openxmlformats.org/drawingml/2006/main" noGrp="1"/>
          </p:cNvSpPr>
          <p:nvPr/>
        </p:nvSpPr>
        <p:spPr>
          <a:xfrm xmlns:a="http://schemas.openxmlformats.org/drawingml/2006/main" rot="0" flipH="0" flipV="0">
            <a:off x="733425" y="5148263"/>
            <a:ext cx="9525" cy="17463"/>
          </a:xfrm>
          <a:custGeom xmlns:a="http://schemas.openxmlformats.org/drawingml/2006/main">
            <a:rect l="l" t="t" r="r" b="b"/>
            <a:pathLst>
              <a:path w="9525" h="17463">
                <a:moveTo>
                  <a:pt x="0" y="0"/>
                </a:moveTo>
                <a:lnTo>
                  <a:pt x="0" y="17463"/>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3" name="Freeform 33">
            <a:extLst xmlns:a="http://schemas.openxmlformats.org/drawingml/2006/main">
              <a:ext uri="{FF2B5EF4-FFF2-40B4-BE49-F238E27FC236}">
                <a16:creationId xmlns:a16="http://schemas.microsoft.com/office/drawing/2014/main" id="{AC7570C0-CC3A-4A15-96AF-4A57F18AB2D6}"/>
              </a:ext>
            </a:extLst>
          </p:cNvPr>
          <p:cNvSpPr>
            <a:spLocks xmlns:a="http://schemas.openxmlformats.org/drawingml/2006/main" noGrp="1"/>
          </p:cNvSpPr>
          <p:nvPr/>
        </p:nvSpPr>
        <p:spPr>
          <a:xfrm xmlns:a="http://schemas.openxmlformats.org/drawingml/2006/main" rot="0" flipH="0" flipV="0">
            <a:off x="768350" y="5034756"/>
            <a:ext cx="34925" cy="34925"/>
          </a:xfrm>
          <a:custGeom xmlns:a="http://schemas.openxmlformats.org/drawingml/2006/main">
            <a:rect l="l" t="t" r="r" b="b"/>
            <a:pathLst>
              <a:path w="34925" h="34925">
                <a:moveTo>
                  <a:pt x="0" y="17463"/>
                </a:moveTo>
                <a:cubicBezTo>
                  <a:pt x="0" y="27107"/>
                  <a:pt x="7818" y="34925"/>
                  <a:pt x="17463" y="34925"/>
                </a:cubicBezTo>
                <a:cubicBezTo>
                  <a:pt x="27107" y="34925"/>
                  <a:pt x="34925" y="27107"/>
                  <a:pt x="34925" y="17463"/>
                </a:cubicBezTo>
                <a:cubicBezTo>
                  <a:pt x="34925" y="7818"/>
                  <a:pt x="27107" y="0"/>
                  <a:pt x="17463" y="0"/>
                </a:cubicBezTo>
                <a:cubicBezTo>
                  <a:pt x="7818" y="0"/>
                  <a:pt x="0" y="7818"/>
                  <a:pt x="0" y="17463"/>
                </a:cubicBez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4" name="Freeform 34">
            <a:extLst xmlns:a="http://schemas.openxmlformats.org/drawingml/2006/main">
              <a:ext uri="{FF2B5EF4-FFF2-40B4-BE49-F238E27FC236}">
                <a16:creationId xmlns:a16="http://schemas.microsoft.com/office/drawing/2014/main" id="{CC660A14-F69C-44F9-A935-5055FA185D33}"/>
              </a:ext>
            </a:extLst>
          </p:cNvPr>
          <p:cNvSpPr>
            <a:spLocks xmlns:a="http://schemas.openxmlformats.org/drawingml/2006/main" noGrp="1"/>
          </p:cNvSpPr>
          <p:nvPr/>
        </p:nvSpPr>
        <p:spPr>
          <a:xfrm xmlns:a="http://schemas.openxmlformats.org/drawingml/2006/main" rot="0" flipH="0" flipV="0">
            <a:off x="785813" y="5026025"/>
            <a:ext cx="9525" cy="9525"/>
          </a:xfrm>
          <a:custGeom xmlns:a="http://schemas.openxmlformats.org/drawingml/2006/main">
            <a:rect l="l" t="t" r="r" b="b"/>
            <a:pathLst>
              <a:path w="9525" h="9525">
                <a:moveTo>
                  <a:pt x="0" y="0"/>
                </a:moveTo>
                <a:lnTo>
                  <a:pt x="0" y="8731"/>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5" name="Freeform 35">
            <a:extLst xmlns:a="http://schemas.openxmlformats.org/drawingml/2006/main">
              <a:ext uri="{FF2B5EF4-FFF2-40B4-BE49-F238E27FC236}">
                <a16:creationId xmlns:a16="http://schemas.microsoft.com/office/drawing/2014/main" id="{57C93E43-5539-4776-8CF7-04C836C73D27}"/>
              </a:ext>
            </a:extLst>
          </p:cNvPr>
          <p:cNvSpPr>
            <a:spLocks xmlns:a="http://schemas.openxmlformats.org/drawingml/2006/main" noGrp="1"/>
          </p:cNvSpPr>
          <p:nvPr/>
        </p:nvSpPr>
        <p:spPr>
          <a:xfrm xmlns:a="http://schemas.openxmlformats.org/drawingml/2006/main" rot="0" flipH="0" flipV="0">
            <a:off x="785813" y="5069681"/>
            <a:ext cx="9525" cy="96044"/>
          </a:xfrm>
          <a:custGeom xmlns:a="http://schemas.openxmlformats.org/drawingml/2006/main">
            <a:rect l="l" t="t" r="r" b="b"/>
            <a:pathLst>
              <a:path w="9525" h="96044">
                <a:moveTo>
                  <a:pt x="0" y="0"/>
                </a:moveTo>
                <a:lnTo>
                  <a:pt x="0" y="96044"/>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7" name="TextBox 37">
            <a:extLst xmlns:a="http://schemas.openxmlformats.org/drawingml/2006/main">
              <a:ext uri="{FF2B5EF4-FFF2-40B4-BE49-F238E27FC236}">
                <a16:creationId xmlns:a16="http://schemas.microsoft.com/office/drawing/2014/main" id="{37C38073-D12E-415F-81D1-60BEBAD91ACB}"/>
              </a:ext>
            </a:extLst>
          </p:cNvPr>
          <p:cNvSpPr>
            <a:spLocks xmlns:a="http://schemas.openxmlformats.org/drawingml/2006/main" noGrp="1"/>
          </p:cNvSpPr>
          <p:nvPr/>
        </p:nvSpPr>
        <p:spPr>
          <a:xfrm xmlns:a="http://schemas.openxmlformats.org/drawingml/2006/main" rot="0" flipH="0" flipV="0">
            <a:off x="908685" y="5031581"/>
            <a:ext cx="1605716"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λ · TRAVEL WEIGHT</a:t>
            </a:r>
          </a:p>
        </p:txBody>
      </p:sp>
      <p:sp>
        <p:nvSpPr>
          <p:cNvPr id="38" name="TextBox 38">
            <a:extLst xmlns:a="http://schemas.openxmlformats.org/drawingml/2006/main">
              <a:ext uri="{FF2B5EF4-FFF2-40B4-BE49-F238E27FC236}">
                <a16:creationId xmlns:a16="http://schemas.microsoft.com/office/drawing/2014/main" id="{AEF7FFFA-EFB9-4F56-92DB-CECD24158EAC}"/>
              </a:ext>
            </a:extLst>
          </p:cNvPr>
          <p:cNvSpPr>
            <a:spLocks xmlns:a="http://schemas.openxmlformats.org/drawingml/2006/main" noGrp="1"/>
          </p:cNvSpPr>
          <p:nvPr/>
        </p:nvSpPr>
        <p:spPr>
          <a:xfrm xmlns:a="http://schemas.openxmlformats.org/drawingml/2006/main" rot="0" flipH="0" flipV="0">
            <a:off x="621792" y="5340668"/>
            <a:ext cx="1745647"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Weighted objective is separate</a:t>
            </a:r>
          </a:p>
        </p:txBody>
      </p:sp>
      <p:sp>
        <p:nvSpPr>
          <p:cNvPr id="39" name="TextBox 39">
            <a:extLst xmlns:a="http://schemas.openxmlformats.org/drawingml/2006/main">
              <a:ext uri="{FF2B5EF4-FFF2-40B4-BE49-F238E27FC236}">
                <a16:creationId xmlns:a16="http://schemas.microsoft.com/office/drawing/2014/main" id="{1E985952-9495-46FD-AF12-7EA73D0E1FD3}"/>
              </a:ext>
            </a:extLst>
          </p:cNvPr>
          <p:cNvSpPr>
            <a:spLocks xmlns:a="http://schemas.openxmlformats.org/drawingml/2006/main" noGrp="1"/>
          </p:cNvSpPr>
          <p:nvPr/>
        </p:nvSpPr>
        <p:spPr>
          <a:xfrm xmlns:a="http://schemas.openxmlformats.org/drawingml/2006/main" rot="0" flipH="0" flipV="0">
            <a:off x="621792" y="5569268"/>
            <a:ext cx="182199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λ trades capex for shorter</a:t>
            </a:r>
          </a:p>
        </p:txBody>
      </p:sp>
      <p:sp>
        <p:nvSpPr>
          <p:cNvPr id="40" name="TextBox 40">
            <a:extLst xmlns:a="http://schemas.openxmlformats.org/drawingml/2006/main">
              <a:ext uri="{FF2B5EF4-FFF2-40B4-BE49-F238E27FC236}">
                <a16:creationId xmlns:a16="http://schemas.microsoft.com/office/drawing/2014/main" id="{A06BA27B-F307-4F93-AB6E-55A792DA9928}"/>
              </a:ext>
            </a:extLst>
          </p:cNvPr>
          <p:cNvSpPr>
            <a:spLocks xmlns:a="http://schemas.openxmlformats.org/drawingml/2006/main" noGrp="1"/>
          </p:cNvSpPr>
          <p:nvPr/>
        </p:nvSpPr>
        <p:spPr>
          <a:xfrm xmlns:a="http://schemas.openxmlformats.org/drawingml/2006/main" rot="0" flipH="0" flipV="0">
            <a:off x="621792" y="5797868"/>
            <a:ext cx="183108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assignments; not the baseline.</a:t>
            </a:r>
          </a:p>
        </p:txBody>
      </p:sp>
      <p:pic>
        <p:nvPicPr>
          <p:cNvPr id="92" name="Image 41"/>
          <p:cNvPicPr>
            <a:picLocks xmlns:a="http://schemas.openxmlformats.org/drawingml/2006/main" noChangeAspect="1"/>
          </p:cNvPicPr>
          <p:nvPr/>
        </p:nvPicPr>
        <p:blipFill>
          <a:blip xmlns:r="http://schemas.openxmlformats.org/officeDocument/2006/relationships" xmlns:a="http://schemas.openxmlformats.org/drawingml/2006/main" r:embed="R3482e23cf0094163"/>
          <a:stretch xmlns:a="http://schemas.openxmlformats.org/drawingml/2006/main">
            <a:fillRect l="0" t="0" r="0" b="0"/>
          </a:stretch>
        </p:blipFill>
        <p:spPr>
          <a:xfrm xmlns:a="http://schemas.openxmlformats.org/drawingml/2006/main" rot="0" flipH="0" flipV="0">
            <a:off x="2933700" y="4991100"/>
            <a:ext cx="2819400" cy="1009650"/>
          </a:xfrm>
          <a:prstGeom xmlns:a="http://schemas.openxmlformats.org/drawingml/2006/main" prst="rect">
            <a:avLst/>
          </a:prstGeom>
        </p:spPr>
      </p:pic>
      <p:sp>
        <p:nvSpPr>
          <p:cNvPr id="43" name="Rectangle 43">
            <a:extLst xmlns:a="http://schemas.openxmlformats.org/drawingml/2006/main">
              <a:ext uri="{FF2B5EF4-FFF2-40B4-BE49-F238E27FC236}">
                <a16:creationId xmlns:a16="http://schemas.microsoft.com/office/drawing/2014/main" id="{3C193AE8-6685-4F51-A526-6E1B502B19DF}"/>
              </a:ext>
            </a:extLst>
          </p:cNvPr>
          <p:cNvSpPr>
            <a:spLocks xmlns:a="http://schemas.openxmlformats.org/drawingml/2006/main" noGrp="1"/>
          </p:cNvSpPr>
          <p:nvPr/>
        </p:nvSpPr>
        <p:spPr>
          <a:xfrm xmlns:a="http://schemas.openxmlformats.org/drawingml/2006/main" rot="0" flipH="0" flipV="0">
            <a:off x="6286500" y="4838700"/>
            <a:ext cx="5448300" cy="1352550"/>
          </a:xfrm>
          <a:prstGeom xmlns:a="http://schemas.openxmlformats.org/drawingml/2006/main" prst="roundRect">
            <a:avLst>
              <a:gd name="adj" fmla="val 7042"/>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4" name="Freeform 44">
            <a:extLst xmlns:a="http://schemas.openxmlformats.org/drawingml/2006/main">
              <a:ext uri="{FF2B5EF4-FFF2-40B4-BE49-F238E27FC236}">
                <a16:creationId xmlns:a16="http://schemas.microsoft.com/office/drawing/2014/main" id="{F9B3E03C-3DBA-47D0-B01A-24B3249E901C}"/>
              </a:ext>
            </a:extLst>
          </p:cNvPr>
          <p:cNvSpPr>
            <a:spLocks xmlns:a="http://schemas.openxmlformats.org/drawingml/2006/main" noGrp="1"/>
          </p:cNvSpPr>
          <p:nvPr/>
        </p:nvSpPr>
        <p:spPr>
          <a:xfrm xmlns:a="http://schemas.openxmlformats.org/drawingml/2006/main" rot="0" flipH="0" flipV="0">
            <a:off x="6519069" y="5043488"/>
            <a:ext cx="87313" cy="104775"/>
          </a:xfrm>
          <a:custGeom xmlns:a="http://schemas.openxmlformats.org/drawingml/2006/main">
            <a:rect l="l" t="t" r="r" b="b"/>
            <a:pathLst>
              <a:path w="87313" h="104775">
                <a:moveTo>
                  <a:pt x="84693" y="17463"/>
                </a:moveTo>
                <a:cubicBezTo>
                  <a:pt x="81138" y="7374"/>
                  <a:pt x="71805" y="461"/>
                  <a:pt x="61119" y="0"/>
                </a:cubicBezTo>
                <a:lnTo>
                  <a:pt x="26194" y="0"/>
                </a:lnTo>
                <a:cubicBezTo>
                  <a:pt x="11727" y="0"/>
                  <a:pt x="0" y="11727"/>
                  <a:pt x="0" y="26194"/>
                </a:cubicBezTo>
                <a:cubicBezTo>
                  <a:pt x="0" y="40660"/>
                  <a:pt x="11727" y="52388"/>
                  <a:pt x="26194" y="52388"/>
                </a:cubicBezTo>
                <a:lnTo>
                  <a:pt x="61119" y="52388"/>
                </a:lnTo>
                <a:cubicBezTo>
                  <a:pt x="75585" y="52388"/>
                  <a:pt x="87313" y="64115"/>
                  <a:pt x="87313" y="78581"/>
                </a:cubicBezTo>
                <a:cubicBezTo>
                  <a:pt x="87313" y="93048"/>
                  <a:pt x="75585" y="104775"/>
                  <a:pt x="61119" y="104775"/>
                </a:cubicBezTo>
                <a:lnTo>
                  <a:pt x="26194" y="104775"/>
                </a:lnTo>
                <a:cubicBezTo>
                  <a:pt x="15507" y="104314"/>
                  <a:pt x="6175" y="97401"/>
                  <a:pt x="2619" y="87313"/>
                </a:cubicBez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5" name="Freeform 45">
            <a:extLst xmlns:a="http://schemas.openxmlformats.org/drawingml/2006/main">
              <a:ext uri="{FF2B5EF4-FFF2-40B4-BE49-F238E27FC236}">
                <a16:creationId xmlns:a16="http://schemas.microsoft.com/office/drawing/2014/main" id="{64A0B8CA-07C5-4518-AFAC-F9C831A73FE3}"/>
              </a:ext>
            </a:extLst>
          </p:cNvPr>
          <p:cNvSpPr>
            <a:spLocks xmlns:a="http://schemas.openxmlformats.org/drawingml/2006/main" noGrp="1"/>
          </p:cNvSpPr>
          <p:nvPr/>
        </p:nvSpPr>
        <p:spPr>
          <a:xfrm xmlns:a="http://schemas.openxmlformats.org/drawingml/2006/main" rot="0" flipH="0" flipV="0">
            <a:off x="6562725" y="5017294"/>
            <a:ext cx="9525" cy="157163"/>
          </a:xfrm>
          <a:custGeom xmlns:a="http://schemas.openxmlformats.org/drawingml/2006/main">
            <a:rect l="l" t="t" r="r" b="b"/>
            <a:pathLst>
              <a:path w="9525" h="157163">
                <a:moveTo>
                  <a:pt x="0" y="0"/>
                </a:moveTo>
                <a:lnTo>
                  <a:pt x="0" y="26194"/>
                </a:lnTo>
                <a:moveTo>
                  <a:pt x="0" y="130969"/>
                </a:moveTo>
                <a:lnTo>
                  <a:pt x="0" y="157163"/>
                </a:lnTo>
              </a:path>
            </a:pathLst>
          </a:custGeom>
          <a:noFill xmlns:a="http://schemas.openxmlformats.org/drawingml/2006/main"/>
          <a:ln xmlns:a="http://schemas.openxmlformats.org/drawingml/2006/main" w="17463">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7" name="TextBox 47">
            <a:extLst xmlns:a="http://schemas.openxmlformats.org/drawingml/2006/main">
              <a:ext uri="{FF2B5EF4-FFF2-40B4-BE49-F238E27FC236}">
                <a16:creationId xmlns:a16="http://schemas.microsoft.com/office/drawing/2014/main" id="{8A6417A6-056D-425E-8390-9B5F5E4D9137}"/>
              </a:ext>
            </a:extLst>
          </p:cNvPr>
          <p:cNvSpPr>
            <a:spLocks xmlns:a="http://schemas.openxmlformats.org/drawingml/2006/main" noGrp="1"/>
          </p:cNvSpPr>
          <p:nvPr/>
        </p:nvSpPr>
        <p:spPr>
          <a:xfrm xmlns:a="http://schemas.openxmlformats.org/drawingml/2006/main" rot="0" flipH="0" flipV="0">
            <a:off x="6737985" y="5031581"/>
            <a:ext cx="1756800"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SCENARIO STABILITY</a:t>
            </a:r>
          </a:p>
        </p:txBody>
      </p:sp>
      <p:sp>
        <p:nvSpPr>
          <p:cNvPr id="48" name="TextBox 48">
            <a:extLst xmlns:a="http://schemas.openxmlformats.org/drawingml/2006/main">
              <a:ext uri="{FF2B5EF4-FFF2-40B4-BE49-F238E27FC236}">
                <a16:creationId xmlns:a16="http://schemas.microsoft.com/office/drawing/2014/main" id="{3C98807E-B2C6-4065-99DB-0F36AD673910}"/>
              </a:ext>
            </a:extLst>
          </p:cNvPr>
          <p:cNvSpPr>
            <a:spLocks xmlns:a="http://schemas.openxmlformats.org/drawingml/2006/main" noGrp="1"/>
          </p:cNvSpPr>
          <p:nvPr/>
        </p:nvSpPr>
        <p:spPr>
          <a:xfrm xmlns:a="http://schemas.openxmlformats.org/drawingml/2006/main" rot="0" flipH="0" flipV="0">
            <a:off x="6451092" y="5340668"/>
            <a:ext cx="162815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Equal-weight score across</a:t>
            </a:r>
          </a:p>
        </p:txBody>
      </p:sp>
      <p:sp>
        <p:nvSpPr>
          <p:cNvPr id="49" name="TextBox 49">
            <a:extLst xmlns:a="http://schemas.openxmlformats.org/drawingml/2006/main">
              <a:ext uri="{FF2B5EF4-FFF2-40B4-BE49-F238E27FC236}">
                <a16:creationId xmlns:a16="http://schemas.microsoft.com/office/drawing/2014/main" id="{166E86F5-8C8F-40D5-A2F5-61109CF41DBB}"/>
              </a:ext>
            </a:extLst>
          </p:cNvPr>
          <p:cNvSpPr>
            <a:spLocks xmlns:a="http://schemas.openxmlformats.org/drawingml/2006/main" noGrp="1"/>
          </p:cNvSpPr>
          <p:nvPr/>
        </p:nvSpPr>
        <p:spPr>
          <a:xfrm xmlns:a="http://schemas.openxmlformats.org/drawingml/2006/main" rot="0" flipH="0" flipV="0">
            <a:off x="6451092" y="5569268"/>
            <a:ext cx="233995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budget, radius and capacity;</a:t>
            </a:r>
          </a:p>
        </p:txBody>
      </p:sp>
      <p:sp>
        <p:nvSpPr>
          <p:cNvPr id="50" name="TextBox 50">
            <a:extLst xmlns:a="http://schemas.openxmlformats.org/drawingml/2006/main">
              <a:ext uri="{FF2B5EF4-FFF2-40B4-BE49-F238E27FC236}">
                <a16:creationId xmlns:a16="http://schemas.microsoft.com/office/drawing/2014/main" id="{BED90F3B-76AB-429B-A93D-F8BF3043529B}"/>
              </a:ext>
            </a:extLst>
          </p:cNvPr>
          <p:cNvSpPr>
            <a:spLocks xmlns:a="http://schemas.openxmlformats.org/drawingml/2006/main" noGrp="1"/>
          </p:cNvSpPr>
          <p:nvPr/>
        </p:nvSpPr>
        <p:spPr>
          <a:xfrm xmlns:a="http://schemas.openxmlformats.org/drawingml/2006/main" rot="0" flipH="0" flipV="0">
            <a:off x="6451092" y="5797868"/>
            <a:ext cx="238538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diagnostic, not probability.</a:t>
            </a:r>
          </a:p>
        </p:txBody>
      </p:sp>
      <p:pic>
        <p:nvPicPr>
          <p:cNvPr id="100" name="Image 51"/>
          <p:cNvPicPr>
            <a:picLocks xmlns:a="http://schemas.openxmlformats.org/drawingml/2006/main" noChangeAspect="1"/>
          </p:cNvPicPr>
          <p:nvPr/>
        </p:nvPicPr>
        <p:blipFill>
          <a:blip xmlns:r="http://schemas.openxmlformats.org/officeDocument/2006/relationships" xmlns:a="http://schemas.openxmlformats.org/drawingml/2006/main" r:embed="R2e4e9d71e189422b"/>
          <a:stretch xmlns:a="http://schemas.openxmlformats.org/drawingml/2006/main">
            <a:fillRect l="0" t="0" r="0" b="0"/>
          </a:stretch>
        </p:blipFill>
        <p:spPr>
          <a:xfrm xmlns:a="http://schemas.openxmlformats.org/drawingml/2006/main" rot="0" flipH="0" flipV="0">
            <a:off x="8763000" y="4991100"/>
            <a:ext cx="2819400" cy="1009650"/>
          </a:xfrm>
          <a:prstGeom xmlns:a="http://schemas.openxmlformats.org/drawingml/2006/main" prst="rect">
            <a:avLst/>
          </a:prstGeom>
        </p:spPr>
      </p:pic>
      <p:sp>
        <p:nvSpPr>
          <p:cNvPr id="53" name="Line 53">
            <a:extLst xmlns:a="http://schemas.openxmlformats.org/drawingml/2006/main">
              <a:ext uri="{FF2B5EF4-FFF2-40B4-BE49-F238E27FC236}">
                <a16:creationId xmlns:a16="http://schemas.microsoft.com/office/drawing/2014/main" id="{C8B0927F-DBE2-4A02-82D9-8E243AD9BA96}"/>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54" name="TextBox 54">
            <a:extLst xmlns:a="http://schemas.openxmlformats.org/drawingml/2006/main">
              <a:ext uri="{FF2B5EF4-FFF2-40B4-BE49-F238E27FC236}">
                <a16:creationId xmlns:a16="http://schemas.microsoft.com/office/drawing/2014/main" id="{57F97D64-6333-431C-B205-F6AD692B52E8}"/>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55" name="TextBox 55">
            <a:extLst xmlns:a="http://schemas.openxmlformats.org/drawingml/2006/main">
              <a:ext uri="{FF2B5EF4-FFF2-40B4-BE49-F238E27FC236}">
                <a16:creationId xmlns:a16="http://schemas.microsoft.com/office/drawing/2014/main" id="{3AF2781B-7122-42C6-8AEF-10DE2A618C42}"/>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11 / 14</a:t>
            </a:r>
          </a:p>
        </p:txBody>
      </p:sp>
    </p:spTree>
    <p:extLst>
      <p:ext uri="{BB962C8B-B14F-4D97-AF65-F5344CB8AC3E}">
        <p14:creationId xmlns:p14="http://schemas.microsoft.com/office/powerpoint/2010/main" val="1359556266"/>
      </p:ext>
    </p:extLst>
  </p:cSld>
</p:sld>
</file>

<file path=ppt/slides/slide12.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1CA236A6-4CD3-45C1-BD2B-650D7CD388B4}"/>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2182D85C-93C8-4952-B703-3956BE340FB5}"/>
              </a:ext>
            </a:extLst>
          </p:cNvPr>
          <p:cNvSpPr>
            <a:spLocks xmlns:a="http://schemas.openxmlformats.org/drawingml/2006/main" noGrp="1"/>
          </p:cNvSpPr>
          <p:nvPr/>
        </p:nvSpPr>
        <p:spPr>
          <a:xfrm xmlns:a="http://schemas.openxmlformats.org/drawingml/2006/main" rot="0" flipH="0" flipV="0">
            <a:off x="451104" y="708660"/>
            <a:ext cx="2440656"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12 · SCENARIO ANALYSIS</a:t>
            </a:r>
          </a:p>
        </p:txBody>
      </p:sp>
      <p:sp>
        <p:nvSpPr>
          <p:cNvPr id="4" name="TextBox 4">
            <a:extLst xmlns:a="http://schemas.openxmlformats.org/drawingml/2006/main">
              <a:ext uri="{FF2B5EF4-FFF2-40B4-BE49-F238E27FC236}">
                <a16:creationId xmlns:a16="http://schemas.microsoft.com/office/drawing/2014/main" id="{579D526E-2942-4739-AB1A-38F925F13FF8}"/>
              </a:ext>
            </a:extLst>
          </p:cNvPr>
          <p:cNvSpPr>
            <a:spLocks xmlns:a="http://schemas.openxmlformats.org/drawingml/2006/main" noGrp="1"/>
          </p:cNvSpPr>
          <p:nvPr/>
        </p:nvSpPr>
        <p:spPr>
          <a:xfrm xmlns:a="http://schemas.openxmlformats.org/drawingml/2006/main" rot="0" flipH="0" flipV="0">
            <a:off x="441960" y="895350"/>
            <a:ext cx="8379386"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What $334k of extra spend actually buys</a:t>
            </a:r>
          </a:p>
        </p:txBody>
      </p:sp>
      <p:sp>
        <p:nvSpPr>
          <p:cNvPr id="6" name="TextBox 6">
            <a:extLst xmlns:a="http://schemas.openxmlformats.org/drawingml/2006/main">
              <a:ext uri="{FF2B5EF4-FFF2-40B4-BE49-F238E27FC236}">
                <a16:creationId xmlns:a16="http://schemas.microsoft.com/office/drawing/2014/main" id="{D4932E4C-7081-48D1-8DE0-FAB0694E0C2F}"/>
              </a:ext>
            </a:extLst>
          </p:cNvPr>
          <p:cNvSpPr>
            <a:spLocks xmlns:a="http://schemas.openxmlformats.org/drawingml/2006/main" noGrp="1"/>
          </p:cNvSpPr>
          <p:nvPr/>
        </p:nvSpPr>
        <p:spPr>
          <a:xfrm xmlns:a="http://schemas.openxmlformats.org/drawingml/2006/main" rot="0" flipH="0" flipV="0">
            <a:off x="449580" y="1552575"/>
            <a:ext cx="8342605"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At $300k the model builds 3 sites: 19 of 45 cells are full, 1 partial, and 25 zero-service;</a:t>
            </a:r>
          </a:p>
        </p:txBody>
      </p:sp>
      <p:sp>
        <p:nvSpPr>
          <p:cNvPr id="7" name="TextBox 7">
            <a:extLst xmlns:a="http://schemas.openxmlformats.org/drawingml/2006/main">
              <a:ext uri="{FF2B5EF4-FFF2-40B4-BE49-F238E27FC236}">
                <a16:creationId xmlns:a16="http://schemas.microsoft.com/office/drawing/2014/main" id="{ED33F333-37E1-4AC8-A754-7EF1661D1BA3}"/>
              </a:ext>
            </a:extLst>
          </p:cNvPr>
          <p:cNvSpPr>
            <a:spLocks xmlns:a="http://schemas.openxmlformats.org/drawingml/2006/main" noGrp="1"/>
          </p:cNvSpPr>
          <p:nvPr/>
        </p:nvSpPr>
        <p:spPr>
          <a:xfrm xmlns:a="http://schemas.openxmlformats.org/drawingml/2006/main" rot="0" flipH="0" flipV="0">
            <a:off x="449580" y="1781175"/>
            <a:ext cx="7665863"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rgbClr val="475569"/>
                </a:solidFill>
                <a:latin typeface="+mn-lt"/>
                <a:ea typeface="+mn-lt"/>
                <a:cs typeface="+mn-lt"/>
              </a:rPr>
              <a:t>the extra $334k of actual spend to reach $589k fully serves all 45 model cells.</a:t>
            </a:r>
          </a:p>
        </p:txBody>
      </p:sp>
      <p:sp>
        <p:nvSpPr>
          <p:cNvPr id="9" name="Rectangle 9">
            <a:extLst xmlns:a="http://schemas.openxmlformats.org/drawingml/2006/main">
              <a:ext uri="{FF2B5EF4-FFF2-40B4-BE49-F238E27FC236}">
                <a16:creationId xmlns:a16="http://schemas.microsoft.com/office/drawing/2014/main" id="{B09370B3-C263-4439-8330-F04D7660E643}"/>
              </a:ext>
            </a:extLst>
          </p:cNvPr>
          <p:cNvSpPr>
            <a:spLocks xmlns:a="http://schemas.openxmlformats.org/drawingml/2006/main" noGrp="1"/>
          </p:cNvSpPr>
          <p:nvPr/>
        </p:nvSpPr>
        <p:spPr>
          <a:xfrm xmlns:a="http://schemas.openxmlformats.org/drawingml/2006/main" rot="0" flipH="0" flipV="0">
            <a:off x="1143000" y="2019300"/>
            <a:ext cx="9906000" cy="4038600"/>
          </a:xfrm>
          <a:prstGeom xmlns:a="http://schemas.openxmlformats.org/drawingml/2006/main" prst="roundRect">
            <a:avLst>
              <a:gd name="adj" fmla="val 1887"/>
            </a:avLst>
          </a:prstGeom>
          <a:solidFill xmlns:a="http://schemas.openxmlformats.org/drawingml/2006/main">
            <a:schemeClr val="lt1"/>
          </a:solidFill>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pic>
        <p:nvPicPr>
          <p:cNvPr id="24" name="Image 10"/>
          <p:cNvPicPr>
            <a:picLocks xmlns:a="http://schemas.openxmlformats.org/drawingml/2006/main" noChangeAspect="1"/>
          </p:cNvPicPr>
          <p:nvPr/>
        </p:nvPicPr>
        <p:blipFill>
          <a:blip xmlns:r="http://schemas.openxmlformats.org/officeDocument/2006/relationships" xmlns:a="http://schemas.openxmlformats.org/drawingml/2006/main" r:embed="Rec2efc297f454be2"/>
          <a:stretch xmlns:a="http://schemas.openxmlformats.org/drawingml/2006/main">
            <a:fillRect l="0" t="0" r="0" b="0"/>
          </a:stretch>
        </p:blipFill>
        <p:spPr>
          <a:xfrm xmlns:a="http://schemas.openxmlformats.org/drawingml/2006/main" rot="0" flipH="0" flipV="0">
            <a:off x="1359877" y="2114550"/>
            <a:ext cx="9472246" cy="3848100"/>
          </a:xfrm>
          <a:prstGeom xmlns:a="http://schemas.openxmlformats.org/drawingml/2006/main" prst="rect">
            <a:avLst/>
          </a:prstGeom>
        </p:spPr>
      </p:pic>
      <p:sp>
        <p:nvSpPr>
          <p:cNvPr id="12" name="TextBox 12">
            <a:extLst xmlns:a="http://schemas.openxmlformats.org/drawingml/2006/main">
              <a:ext uri="{FF2B5EF4-FFF2-40B4-BE49-F238E27FC236}">
                <a16:creationId xmlns:a16="http://schemas.microsoft.com/office/drawing/2014/main" id="{4443279D-375F-48DC-97A3-DF128077B59B}"/>
              </a:ext>
            </a:extLst>
          </p:cNvPr>
          <p:cNvSpPr>
            <a:spLocks xmlns:a="http://schemas.openxmlformats.org/drawingml/2006/main" noGrp="1"/>
          </p:cNvSpPr>
          <p:nvPr/>
        </p:nvSpPr>
        <p:spPr>
          <a:xfrm xmlns:a="http://schemas.openxmlformats.org/drawingml/2006/main" rot="0" flipH="0" flipV="0">
            <a:off x="1165963" y="6148864"/>
            <a:ext cx="9860073" cy="24936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80" b="1">
                <a:solidFill>
                  <a:schemeClr val="accent3"/>
                </a:solidFill>
                <a:latin typeface="+mn-lt"/>
                <a:ea typeface="+mn-lt"/>
                <a:cs typeface="+mn-lt"/>
              </a:rPr>
              <a:t>Red = zero service; orange = partial. Reported coverage is demand volume, not a count of fully served cells.</a:t>
            </a:r>
          </a:p>
        </p:txBody>
      </p:sp>
      <p:sp>
        <p:nvSpPr>
          <p:cNvPr id="14" name="Line 14">
            <a:extLst xmlns:a="http://schemas.openxmlformats.org/drawingml/2006/main">
              <a:ext uri="{FF2B5EF4-FFF2-40B4-BE49-F238E27FC236}">
                <a16:creationId xmlns:a16="http://schemas.microsoft.com/office/drawing/2014/main" id="{BAB91992-ECFD-4520-975B-005E064CC2D3}"/>
              </a:ext>
            </a:extLst>
          </p:cNvPr>
          <p:cNvSpPr>
            <a:spLocks xmlns:a="http://schemas.openxmlformats.org/drawingml/2006/main" noGrp="1"/>
          </p:cNvSpPr>
          <p:nvPr/>
        </p:nvSpPr>
        <p:spPr>
          <a:xfrm xmlns:a="http://schemas.openxmlformats.org/drawingml/2006/main" rot="0" flipH="0" flipV="0">
            <a:off x="457200" y="64389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15" name="TextBox 15">
            <a:extLst xmlns:a="http://schemas.openxmlformats.org/drawingml/2006/main">
              <a:ext uri="{FF2B5EF4-FFF2-40B4-BE49-F238E27FC236}">
                <a16:creationId xmlns:a16="http://schemas.microsoft.com/office/drawing/2014/main" id="{9D46B346-5CB6-442A-BFAF-86A65A94C01E}"/>
              </a:ext>
            </a:extLst>
          </p:cNvPr>
          <p:cNvSpPr>
            <a:spLocks xmlns:a="http://schemas.openxmlformats.org/drawingml/2006/main" noGrp="1"/>
          </p:cNvSpPr>
          <p:nvPr/>
        </p:nvSpPr>
        <p:spPr>
          <a:xfrm xmlns:a="http://schemas.openxmlformats.org/drawingml/2006/main" rot="0" flipH="0" flipV="0">
            <a:off x="451104" y="653796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16" name="TextBox 16">
            <a:extLst xmlns:a="http://schemas.openxmlformats.org/drawingml/2006/main">
              <a:ext uri="{FF2B5EF4-FFF2-40B4-BE49-F238E27FC236}">
                <a16:creationId xmlns:a16="http://schemas.microsoft.com/office/drawing/2014/main" id="{97606619-46DE-418A-925F-68DC975C7B31}"/>
              </a:ext>
            </a:extLst>
          </p:cNvPr>
          <p:cNvSpPr>
            <a:spLocks xmlns:a="http://schemas.openxmlformats.org/drawingml/2006/main" noGrp="1"/>
          </p:cNvSpPr>
          <p:nvPr/>
        </p:nvSpPr>
        <p:spPr>
          <a:xfrm xmlns:a="http://schemas.openxmlformats.org/drawingml/2006/main" rot="0" flipH="0" flipV="0">
            <a:off x="11187532" y="653796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12 / 14</a:t>
            </a:r>
          </a:p>
        </p:txBody>
      </p:sp>
    </p:spTree>
    <p:extLst>
      <p:ext uri="{BB962C8B-B14F-4D97-AF65-F5344CB8AC3E}">
        <p14:creationId xmlns:p14="http://schemas.microsoft.com/office/powerpoint/2010/main" val="248798417"/>
      </p:ext>
    </p:extLst>
  </p:cSld>
</p:sld>
</file>

<file path=ppt/slides/slide13.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BB8A3AF7-D213-43EA-805D-82D37EA7662C}"/>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CC3BCE09-69AC-4D5D-967E-93152F76D0D0}"/>
              </a:ext>
            </a:extLst>
          </p:cNvPr>
          <p:cNvSpPr>
            <a:spLocks xmlns:a="http://schemas.openxmlformats.org/drawingml/2006/main" noGrp="1"/>
          </p:cNvSpPr>
          <p:nvPr/>
        </p:nvSpPr>
        <p:spPr>
          <a:xfrm xmlns:a="http://schemas.openxmlformats.org/drawingml/2006/main" rot="0" flipH="0" flipV="0">
            <a:off x="451104" y="708660"/>
            <a:ext cx="3897478"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13 · DEPLOYMENT — DECISION SUPPORT</a:t>
            </a:r>
          </a:p>
        </p:txBody>
      </p:sp>
      <p:sp>
        <p:nvSpPr>
          <p:cNvPr id="4" name="TextBox 4">
            <a:extLst xmlns:a="http://schemas.openxmlformats.org/drawingml/2006/main">
              <a:ext uri="{FF2B5EF4-FFF2-40B4-BE49-F238E27FC236}">
                <a16:creationId xmlns:a16="http://schemas.microsoft.com/office/drawing/2014/main" id="{52C5EB14-D126-405B-85F8-FF35704A346E}"/>
              </a:ext>
            </a:extLst>
          </p:cNvPr>
          <p:cNvSpPr>
            <a:spLocks xmlns:a="http://schemas.openxmlformats.org/drawingml/2006/main" noGrp="1"/>
          </p:cNvSpPr>
          <p:nvPr/>
        </p:nvSpPr>
        <p:spPr>
          <a:xfrm xmlns:a="http://schemas.openxmlformats.org/drawingml/2006/main" rot="0" flipH="0" flipV="0">
            <a:off x="441960" y="895350"/>
            <a:ext cx="9338443"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recommend(budget): one call, transparent scope</a:t>
            </a:r>
          </a:p>
        </p:txBody>
      </p:sp>
      <p:sp>
        <p:nvSpPr>
          <p:cNvPr id="6" name="Freeform 6">
            <a:extLst xmlns:a="http://schemas.openxmlformats.org/drawingml/2006/main">
              <a:ext uri="{FF2B5EF4-FFF2-40B4-BE49-F238E27FC236}">
                <a16:creationId xmlns:a16="http://schemas.microsoft.com/office/drawing/2014/main" id="{6CEE9EA9-829B-4E73-88EE-835360131CCF}"/>
              </a:ext>
            </a:extLst>
          </p:cNvPr>
          <p:cNvSpPr>
            <a:spLocks xmlns:a="http://schemas.openxmlformats.org/drawingml/2006/main" noGrp="1"/>
          </p:cNvSpPr>
          <p:nvPr/>
        </p:nvSpPr>
        <p:spPr>
          <a:xfrm xmlns:a="http://schemas.openxmlformats.org/drawingml/2006/main" rot="0" flipH="0" flipV="0">
            <a:off x="570706" y="1847056"/>
            <a:ext cx="20637" cy="20637"/>
          </a:xfrm>
          <a:custGeom xmlns:a="http://schemas.openxmlformats.org/drawingml/2006/main">
            <a:rect l="l" t="t" r="r" b="b"/>
            <a:pathLst>
              <a:path w="20637" h="20637">
                <a:moveTo>
                  <a:pt x="0" y="10319"/>
                </a:moveTo>
                <a:cubicBezTo>
                  <a:pt x="0" y="16018"/>
                  <a:pt x="4620" y="20637"/>
                  <a:pt x="10319" y="20637"/>
                </a:cubicBezTo>
                <a:cubicBezTo>
                  <a:pt x="16018" y="20637"/>
                  <a:pt x="20637" y="16018"/>
                  <a:pt x="20637" y="10319"/>
                </a:cubicBezTo>
                <a:cubicBezTo>
                  <a:pt x="20637" y="4620"/>
                  <a:pt x="16018" y="0"/>
                  <a:pt x="10319" y="0"/>
                </a:cubicBezTo>
                <a:cubicBezTo>
                  <a:pt x="4620" y="0"/>
                  <a:pt x="0" y="4620"/>
                  <a:pt x="0" y="10319"/>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7" name="Freeform 7">
            <a:extLst xmlns:a="http://schemas.openxmlformats.org/drawingml/2006/main">
              <a:ext uri="{FF2B5EF4-FFF2-40B4-BE49-F238E27FC236}">
                <a16:creationId xmlns:a16="http://schemas.microsoft.com/office/drawing/2014/main" id="{B53C5319-0979-492D-8A44-7D632D8B412A}"/>
              </a:ext>
            </a:extLst>
          </p:cNvPr>
          <p:cNvSpPr>
            <a:spLocks xmlns:a="http://schemas.openxmlformats.org/drawingml/2006/main" noGrp="1"/>
          </p:cNvSpPr>
          <p:nvPr/>
        </p:nvSpPr>
        <p:spPr>
          <a:xfrm xmlns:a="http://schemas.openxmlformats.org/drawingml/2006/main" rot="0" flipH="0" flipV="0">
            <a:off x="529431" y="1805781"/>
            <a:ext cx="103187" cy="103187"/>
          </a:xfrm>
          <a:custGeom xmlns:a="http://schemas.openxmlformats.org/drawingml/2006/main">
            <a:rect l="l" t="t" r="r" b="b"/>
            <a:pathLst>
              <a:path w="103187" h="103187">
                <a:moveTo>
                  <a:pt x="0" y="51594"/>
                </a:moveTo>
                <a:cubicBezTo>
                  <a:pt x="0" y="80088"/>
                  <a:pt x="23099" y="103187"/>
                  <a:pt x="51594" y="103187"/>
                </a:cubicBezTo>
                <a:cubicBezTo>
                  <a:pt x="80088" y="103187"/>
                  <a:pt x="103187" y="80088"/>
                  <a:pt x="103187" y="51594"/>
                </a:cubicBezTo>
                <a:cubicBezTo>
                  <a:pt x="103187" y="23099"/>
                  <a:pt x="80088" y="0"/>
                  <a:pt x="51594" y="0"/>
                </a:cubicBezTo>
                <a:cubicBezTo>
                  <a:pt x="23099" y="0"/>
                  <a:pt x="0" y="23099"/>
                  <a:pt x="0" y="51594"/>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8" name="Freeform 8">
            <a:extLst xmlns:a="http://schemas.openxmlformats.org/drawingml/2006/main">
              <a:ext uri="{FF2B5EF4-FFF2-40B4-BE49-F238E27FC236}">
                <a16:creationId xmlns:a16="http://schemas.microsoft.com/office/drawing/2014/main" id="{1AF8A0C9-6C62-4F1E-A594-592BE9363932}"/>
              </a:ext>
            </a:extLst>
          </p:cNvPr>
          <p:cNvSpPr>
            <a:spLocks xmlns:a="http://schemas.openxmlformats.org/drawingml/2006/main" noGrp="1"/>
          </p:cNvSpPr>
          <p:nvPr/>
        </p:nvSpPr>
        <p:spPr>
          <a:xfrm xmlns:a="http://schemas.openxmlformats.org/drawingml/2006/main" rot="0" flipH="0" flipV="0">
            <a:off x="488156" y="1764506"/>
            <a:ext cx="185737" cy="185737"/>
          </a:xfrm>
          <a:custGeom xmlns:a="http://schemas.openxmlformats.org/drawingml/2006/main">
            <a:rect l="l" t="t" r="r" b="b"/>
            <a:pathLst>
              <a:path w="185737" h="185737">
                <a:moveTo>
                  <a:pt x="0" y="92868"/>
                </a:moveTo>
                <a:cubicBezTo>
                  <a:pt x="0" y="144158"/>
                  <a:pt x="41579" y="185737"/>
                  <a:pt x="92868" y="185737"/>
                </a:cubicBezTo>
                <a:cubicBezTo>
                  <a:pt x="144158" y="185737"/>
                  <a:pt x="185737" y="144158"/>
                  <a:pt x="185737" y="92868"/>
                </a:cubicBezTo>
                <a:cubicBezTo>
                  <a:pt x="185737" y="41579"/>
                  <a:pt x="144158" y="0"/>
                  <a:pt x="92868" y="0"/>
                </a:cubicBezTo>
                <a:cubicBezTo>
                  <a:pt x="41579" y="0"/>
                  <a:pt x="0" y="41579"/>
                  <a:pt x="0" y="92868"/>
                </a:cubicBezTo>
              </a:path>
            </a:pathLst>
          </a:custGeom>
          <a:noFill xmlns:a="http://schemas.openxmlformats.org/drawingml/2006/main"/>
          <a:ln xmlns:a="http://schemas.openxmlformats.org/drawingml/2006/main" w="20637">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0" name="TextBox 10">
            <a:extLst xmlns:a="http://schemas.openxmlformats.org/drawingml/2006/main">
              <a:ext uri="{FF2B5EF4-FFF2-40B4-BE49-F238E27FC236}">
                <a16:creationId xmlns:a16="http://schemas.microsoft.com/office/drawing/2014/main" id="{73B2F1AC-9443-45B0-82D5-8E841CE30AA4}"/>
              </a:ext>
            </a:extLst>
          </p:cNvPr>
          <p:cNvSpPr>
            <a:spLocks xmlns:a="http://schemas.openxmlformats.org/drawingml/2006/main" noGrp="1"/>
          </p:cNvSpPr>
          <p:nvPr/>
        </p:nvSpPr>
        <p:spPr>
          <a:xfrm xmlns:a="http://schemas.openxmlformats.org/drawingml/2006/main" rot="0" flipH="0" flipV="0">
            <a:off x="811530" y="1666875"/>
            <a:ext cx="6133557"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Tries </a:t>
            </a:r>
            <a:r>
              <a:rPr sz="1500" b="1">
                <a:solidFill>
                  <a:schemeClr val="accent1"/>
                </a:solidFill>
                <a:latin typeface="Consolas"/>
                <a:ea typeface="Consolas"/>
                <a:cs typeface="Consolas"/>
              </a:rPr>
              <a:t>min_cost</a:t>
            </a:r>
            <a:r>
              <a:rPr sz="1500">
                <a:solidFill>
                  <a:schemeClr val="dk1"/>
                </a:solidFill>
                <a:latin typeface="+mn-lt"/>
                <a:ea typeface="+mn-lt"/>
                <a:cs typeface="+mn-lt"/>
              </a:rPr>
              <a:t> first — it never overspends — and falls back to</a:t>
            </a:r>
          </a:p>
        </p:txBody>
      </p:sp>
      <p:sp>
        <p:nvSpPr>
          <p:cNvPr id="11" name="TextBox 11">
            <a:extLst xmlns:a="http://schemas.openxmlformats.org/drawingml/2006/main">
              <a:ext uri="{FF2B5EF4-FFF2-40B4-BE49-F238E27FC236}">
                <a16:creationId xmlns:a16="http://schemas.microsoft.com/office/drawing/2014/main" id="{1A4281CB-8D42-485A-AAC0-0A96FF5CB367}"/>
              </a:ext>
            </a:extLst>
          </p:cNvPr>
          <p:cNvSpPr>
            <a:spLocks xmlns:a="http://schemas.openxmlformats.org/drawingml/2006/main" noGrp="1"/>
          </p:cNvSpPr>
          <p:nvPr/>
        </p:nvSpPr>
        <p:spPr>
          <a:xfrm xmlns:a="http://schemas.openxmlformats.org/drawingml/2006/main" rot="0" flipH="0" flipV="0">
            <a:off x="811530" y="1914525"/>
            <a:ext cx="549562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b="1">
                <a:solidFill>
                  <a:schemeClr val="accent1"/>
                </a:solidFill>
                <a:latin typeface="Consolas"/>
                <a:ea typeface="Consolas"/>
                <a:cs typeface="Consolas"/>
              </a:rPr>
              <a:t>max_coverage</a:t>
            </a:r>
            <a:r>
              <a:rPr sz="1500">
                <a:solidFill>
                  <a:schemeClr val="dk1"/>
                </a:solidFill>
                <a:latin typeface="+mn-lt"/>
                <a:ea typeface="+mn-lt"/>
                <a:cs typeface="+mn-lt"/>
              </a:rPr>
              <a:t> only when full coverage is unaffordable.</a:t>
            </a:r>
          </a:p>
        </p:txBody>
      </p:sp>
      <p:sp>
        <p:nvSpPr>
          <p:cNvPr id="13" name="Rectangle 13">
            <a:extLst xmlns:a="http://schemas.openxmlformats.org/drawingml/2006/main">
              <a:ext uri="{FF2B5EF4-FFF2-40B4-BE49-F238E27FC236}">
                <a16:creationId xmlns:a16="http://schemas.microsoft.com/office/drawing/2014/main" id="{46532E4C-A99C-4493-815D-0237853DD2A4}"/>
              </a:ext>
            </a:extLst>
          </p:cNvPr>
          <p:cNvSpPr>
            <a:spLocks xmlns:a="http://schemas.openxmlformats.org/drawingml/2006/main" noGrp="1"/>
          </p:cNvSpPr>
          <p:nvPr/>
        </p:nvSpPr>
        <p:spPr>
          <a:xfrm xmlns:a="http://schemas.openxmlformats.org/drawingml/2006/main" rot="0" flipH="0" flipV="0">
            <a:off x="457200" y="3638550"/>
            <a:ext cx="11277600" cy="552450"/>
          </a:xfrm>
          <a:prstGeom xmlns:a="http://schemas.openxmlformats.org/drawingml/2006/main" prst="roundRect">
            <a:avLst>
              <a:gd name="adj" fmla="val 10345"/>
            </a:avLst>
          </a:prstGeom>
          <a:solidFill xmlns:a="http://schemas.openxmlformats.org/drawingml/2006/main">
            <a:srgbClr val="ECF7F5"/>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14" name="TextBox 14">
            <a:extLst xmlns:a="http://schemas.openxmlformats.org/drawingml/2006/main">
              <a:ext uri="{FF2B5EF4-FFF2-40B4-BE49-F238E27FC236}">
                <a16:creationId xmlns:a16="http://schemas.microsoft.com/office/drawing/2014/main" id="{BBE6EAA4-A8A2-4654-8A0A-4E1897407CBD}"/>
              </a:ext>
            </a:extLst>
          </p:cNvPr>
          <p:cNvSpPr>
            <a:spLocks xmlns:a="http://schemas.openxmlformats.org/drawingml/2006/main" noGrp="1"/>
          </p:cNvSpPr>
          <p:nvPr/>
        </p:nvSpPr>
        <p:spPr>
          <a:xfrm xmlns:a="http://schemas.openxmlformats.org/drawingml/2006/main" rot="0" flipH="0" flipV="0">
            <a:off x="680085" y="2526506"/>
            <a:ext cx="616775"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BUDGET</a:t>
            </a:r>
          </a:p>
        </p:txBody>
      </p:sp>
      <p:sp>
        <p:nvSpPr>
          <p:cNvPr id="15" name="TextBox 15">
            <a:extLst xmlns:a="http://schemas.openxmlformats.org/drawingml/2006/main">
              <a:ext uri="{FF2B5EF4-FFF2-40B4-BE49-F238E27FC236}">
                <a16:creationId xmlns:a16="http://schemas.microsoft.com/office/drawing/2014/main" id="{7AA2E544-8471-4B53-BF39-A1EE1FE5BE5E}"/>
              </a:ext>
            </a:extLst>
          </p:cNvPr>
          <p:cNvSpPr>
            <a:spLocks xmlns:a="http://schemas.openxmlformats.org/drawingml/2006/main" noGrp="1"/>
          </p:cNvSpPr>
          <p:nvPr/>
        </p:nvSpPr>
        <p:spPr>
          <a:xfrm xmlns:a="http://schemas.openxmlformats.org/drawingml/2006/main" rot="0" flipH="0" flipV="0">
            <a:off x="2280285" y="2526506"/>
            <a:ext cx="1113392"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MODE PICKED</a:t>
            </a:r>
          </a:p>
        </p:txBody>
      </p:sp>
      <p:sp>
        <p:nvSpPr>
          <p:cNvPr id="16" name="TextBox 16">
            <a:extLst xmlns:a="http://schemas.openxmlformats.org/drawingml/2006/main">
              <a:ext uri="{FF2B5EF4-FFF2-40B4-BE49-F238E27FC236}">
                <a16:creationId xmlns:a16="http://schemas.microsoft.com/office/drawing/2014/main" id="{389A7E80-6389-4447-8916-71A9C056E251}"/>
              </a:ext>
            </a:extLst>
          </p:cNvPr>
          <p:cNvSpPr>
            <a:spLocks xmlns:a="http://schemas.openxmlformats.org/drawingml/2006/main" noGrp="1"/>
          </p:cNvSpPr>
          <p:nvPr/>
        </p:nvSpPr>
        <p:spPr>
          <a:xfrm xmlns:a="http://schemas.openxmlformats.org/drawingml/2006/main" rot="0" flipH="0" flipV="0">
            <a:off x="4471035" y="2526506"/>
            <a:ext cx="819808"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OUTCOME</a:t>
            </a:r>
          </a:p>
        </p:txBody>
      </p:sp>
      <p:sp>
        <p:nvSpPr>
          <p:cNvPr id="17" name="TextBox 17">
            <a:extLst xmlns:a="http://schemas.openxmlformats.org/drawingml/2006/main">
              <a:ext uri="{FF2B5EF4-FFF2-40B4-BE49-F238E27FC236}">
                <a16:creationId xmlns:a16="http://schemas.microsoft.com/office/drawing/2014/main" id="{204BA209-A599-4AF6-BB78-41151CDF2524}"/>
              </a:ext>
            </a:extLst>
          </p:cNvPr>
          <p:cNvSpPr>
            <a:spLocks xmlns:a="http://schemas.openxmlformats.org/drawingml/2006/main" noGrp="1"/>
          </p:cNvSpPr>
          <p:nvPr/>
        </p:nvSpPr>
        <p:spPr>
          <a:xfrm xmlns:a="http://schemas.openxmlformats.org/drawingml/2006/main" rot="0" flipH="0" flipV="0">
            <a:off x="8985885" y="2526506"/>
            <a:ext cx="677625" cy="220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0" b="1" spc="75">
                <a:solidFill>
                  <a:schemeClr val="accent1"/>
                </a:solidFill>
                <a:latin typeface="+mn-lt"/>
                <a:ea typeface="+mn-lt"/>
                <a:cs typeface="+mn-lt"/>
              </a:rPr>
              <a:t>VERDICT</a:t>
            </a:r>
          </a:p>
        </p:txBody>
      </p:sp>
      <p:sp>
        <p:nvSpPr>
          <p:cNvPr id="18" name="Line 18">
            <a:extLst xmlns:a="http://schemas.openxmlformats.org/drawingml/2006/main">
              <a:ext uri="{FF2B5EF4-FFF2-40B4-BE49-F238E27FC236}">
                <a16:creationId xmlns:a16="http://schemas.microsoft.com/office/drawing/2014/main" id="{D5780824-6D97-4CE3-8B22-3C4A855928A9}"/>
              </a:ext>
            </a:extLst>
          </p:cNvPr>
          <p:cNvSpPr>
            <a:spLocks xmlns:a="http://schemas.openxmlformats.org/drawingml/2006/main" noGrp="1"/>
          </p:cNvSpPr>
          <p:nvPr/>
        </p:nvSpPr>
        <p:spPr>
          <a:xfrm xmlns:a="http://schemas.openxmlformats.org/drawingml/2006/main" rot="0" flipH="0" flipV="0">
            <a:off x="457200" y="28003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19" name="TextBox 19">
            <a:extLst xmlns:a="http://schemas.openxmlformats.org/drawingml/2006/main">
              <a:ext uri="{FF2B5EF4-FFF2-40B4-BE49-F238E27FC236}">
                <a16:creationId xmlns:a16="http://schemas.microsoft.com/office/drawing/2014/main" id="{CC166EDC-C940-4DFE-9A9C-DC2615FE24A1}"/>
              </a:ext>
            </a:extLst>
          </p:cNvPr>
          <p:cNvSpPr>
            <a:spLocks xmlns:a="http://schemas.openxmlformats.org/drawingml/2006/main" noGrp="1"/>
          </p:cNvSpPr>
          <p:nvPr/>
        </p:nvSpPr>
        <p:spPr>
          <a:xfrm xmlns:a="http://schemas.openxmlformats.org/drawingml/2006/main" rot="0" flipH="0" flipV="0">
            <a:off x="677418" y="306038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Consolas"/>
                <a:ea typeface="Consolas"/>
                <a:cs typeface="Consolas"/>
              </a:rPr>
              <a:t>$300k</a:t>
            </a:r>
          </a:p>
        </p:txBody>
      </p:sp>
      <p:sp>
        <p:nvSpPr>
          <p:cNvPr id="20" name="TextBox 20">
            <a:extLst xmlns:a="http://schemas.openxmlformats.org/drawingml/2006/main">
              <a:ext uri="{FF2B5EF4-FFF2-40B4-BE49-F238E27FC236}">
                <a16:creationId xmlns:a16="http://schemas.microsoft.com/office/drawing/2014/main" id="{BDBE2C79-223A-4756-B2C8-F086C7297597}"/>
              </a:ext>
            </a:extLst>
          </p:cNvPr>
          <p:cNvSpPr>
            <a:spLocks xmlns:a="http://schemas.openxmlformats.org/drawingml/2006/main" noGrp="1"/>
          </p:cNvSpPr>
          <p:nvPr/>
        </p:nvSpPr>
        <p:spPr>
          <a:xfrm xmlns:a="http://schemas.openxmlformats.org/drawingml/2006/main" rot="0" flipH="0" flipV="0">
            <a:off x="2279142" y="3092768"/>
            <a:ext cx="124952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Consolas"/>
                <a:ea typeface="Consolas"/>
                <a:cs typeface="Consolas"/>
              </a:rPr>
              <a:t>max_coverage</a:t>
            </a:r>
          </a:p>
        </p:txBody>
      </p:sp>
      <p:sp>
        <p:nvSpPr>
          <p:cNvPr id="21" name="TextBox 21">
            <a:extLst xmlns:a="http://schemas.openxmlformats.org/drawingml/2006/main">
              <a:ext uri="{FF2B5EF4-FFF2-40B4-BE49-F238E27FC236}">
                <a16:creationId xmlns:a16="http://schemas.microsoft.com/office/drawing/2014/main" id="{CDFB373C-D441-4496-819E-A36500807F42}"/>
              </a:ext>
            </a:extLst>
          </p:cNvPr>
          <p:cNvSpPr>
            <a:spLocks xmlns:a="http://schemas.openxmlformats.org/drawingml/2006/main" noGrp="1"/>
          </p:cNvSpPr>
          <p:nvPr/>
        </p:nvSpPr>
        <p:spPr>
          <a:xfrm xmlns:a="http://schemas.openxmlformats.org/drawingml/2006/main" rot="0" flipH="0" flipV="0">
            <a:off x="4469892" y="3092768"/>
            <a:ext cx="363028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51.6% volume · $255k · 25 zero + 1 partial</a:t>
            </a:r>
          </a:p>
        </p:txBody>
      </p:sp>
      <p:sp>
        <p:nvSpPr>
          <p:cNvPr id="22" name="TextBox 22">
            <a:extLst xmlns:a="http://schemas.openxmlformats.org/drawingml/2006/main">
              <a:ext uri="{FF2B5EF4-FFF2-40B4-BE49-F238E27FC236}">
                <a16:creationId xmlns:a16="http://schemas.microsoft.com/office/drawing/2014/main" id="{98EBCD68-8F08-4FF8-9DBF-3D24E636CA06}"/>
              </a:ext>
            </a:extLst>
          </p:cNvPr>
          <p:cNvSpPr>
            <a:spLocks xmlns:a="http://schemas.openxmlformats.org/drawingml/2006/main" noGrp="1"/>
          </p:cNvSpPr>
          <p:nvPr/>
        </p:nvSpPr>
        <p:spPr>
          <a:xfrm xmlns:a="http://schemas.openxmlformats.org/drawingml/2006/main" rot="0" flipH="0" flipV="0">
            <a:off x="8984742" y="3092768"/>
            <a:ext cx="1691263"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Honest partial plan</a:t>
            </a:r>
          </a:p>
        </p:txBody>
      </p:sp>
      <p:sp>
        <p:nvSpPr>
          <p:cNvPr id="24" name="Line 24">
            <a:extLst xmlns:a="http://schemas.openxmlformats.org/drawingml/2006/main">
              <a:ext uri="{FF2B5EF4-FFF2-40B4-BE49-F238E27FC236}">
                <a16:creationId xmlns:a16="http://schemas.microsoft.com/office/drawing/2014/main" id="{6F6B2AF8-7C09-47E2-B1AA-5D78E079C8AC}"/>
              </a:ext>
            </a:extLst>
          </p:cNvPr>
          <p:cNvSpPr>
            <a:spLocks xmlns:a="http://schemas.openxmlformats.org/drawingml/2006/main" noGrp="1"/>
          </p:cNvSpPr>
          <p:nvPr/>
        </p:nvSpPr>
        <p:spPr>
          <a:xfrm xmlns:a="http://schemas.openxmlformats.org/drawingml/2006/main" rot="0" flipH="0" flipV="0">
            <a:off x="457200" y="34290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25" name="TextBox 25">
            <a:extLst xmlns:a="http://schemas.openxmlformats.org/drawingml/2006/main">
              <a:ext uri="{FF2B5EF4-FFF2-40B4-BE49-F238E27FC236}">
                <a16:creationId xmlns:a16="http://schemas.microsoft.com/office/drawing/2014/main" id="{4734622B-49B3-492D-80BB-70BBA0B3EF43}"/>
              </a:ext>
            </a:extLst>
          </p:cNvPr>
          <p:cNvSpPr>
            <a:spLocks xmlns:a="http://schemas.openxmlformats.org/drawingml/2006/main" noGrp="1"/>
          </p:cNvSpPr>
          <p:nvPr/>
        </p:nvSpPr>
        <p:spPr>
          <a:xfrm xmlns:a="http://schemas.openxmlformats.org/drawingml/2006/main" rot="0" flipH="0" flipV="0">
            <a:off x="677418" y="380333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accent1"/>
                </a:solidFill>
                <a:latin typeface="Consolas"/>
                <a:ea typeface="Consolas"/>
                <a:cs typeface="Consolas"/>
              </a:rPr>
              <a:t>$589k</a:t>
            </a:r>
          </a:p>
        </p:txBody>
      </p:sp>
      <p:sp>
        <p:nvSpPr>
          <p:cNvPr id="26" name="TextBox 26">
            <a:extLst xmlns:a="http://schemas.openxmlformats.org/drawingml/2006/main">
              <a:ext uri="{FF2B5EF4-FFF2-40B4-BE49-F238E27FC236}">
                <a16:creationId xmlns:a16="http://schemas.microsoft.com/office/drawing/2014/main" id="{87E629FC-4A7B-40A8-B571-9DBB5264D4A6}"/>
              </a:ext>
            </a:extLst>
          </p:cNvPr>
          <p:cNvSpPr>
            <a:spLocks xmlns:a="http://schemas.openxmlformats.org/drawingml/2006/main" noGrp="1"/>
          </p:cNvSpPr>
          <p:nvPr/>
        </p:nvSpPr>
        <p:spPr>
          <a:xfrm xmlns:a="http://schemas.openxmlformats.org/drawingml/2006/main" rot="0" flipH="0" flipV="0">
            <a:off x="2279142" y="3835718"/>
            <a:ext cx="84380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accent1"/>
                </a:solidFill>
                <a:latin typeface="Consolas"/>
                <a:ea typeface="Consolas"/>
                <a:cs typeface="Consolas"/>
              </a:rPr>
              <a:t>min_cost</a:t>
            </a:r>
          </a:p>
        </p:txBody>
      </p:sp>
      <p:sp>
        <p:nvSpPr>
          <p:cNvPr id="27" name="TextBox 27">
            <a:extLst xmlns:a="http://schemas.openxmlformats.org/drawingml/2006/main">
              <a:ext uri="{FF2B5EF4-FFF2-40B4-BE49-F238E27FC236}">
                <a16:creationId xmlns:a16="http://schemas.microsoft.com/office/drawing/2014/main" id="{F3FBFE53-2D0C-4162-8DE8-A54829203D08}"/>
              </a:ext>
            </a:extLst>
          </p:cNvPr>
          <p:cNvSpPr>
            <a:spLocks xmlns:a="http://schemas.openxmlformats.org/drawingml/2006/main" noGrp="1"/>
          </p:cNvSpPr>
          <p:nvPr/>
        </p:nvSpPr>
        <p:spPr>
          <a:xfrm xmlns:a="http://schemas.openxmlformats.org/drawingml/2006/main" rot="0" flipH="0" flipV="0">
            <a:off x="4469892" y="3835718"/>
            <a:ext cx="3075984"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100% covered · $589k · $0 unused</a:t>
            </a:r>
          </a:p>
        </p:txBody>
      </p:sp>
      <p:sp>
        <p:nvSpPr>
          <p:cNvPr id="28" name="TextBox 28">
            <a:extLst xmlns:a="http://schemas.openxmlformats.org/drawingml/2006/main">
              <a:ext uri="{FF2B5EF4-FFF2-40B4-BE49-F238E27FC236}">
                <a16:creationId xmlns:a16="http://schemas.microsoft.com/office/drawing/2014/main" id="{C70566A2-92DB-4CF7-B990-3232CC2D97FF}"/>
              </a:ext>
            </a:extLst>
          </p:cNvPr>
          <p:cNvSpPr>
            <a:spLocks xmlns:a="http://schemas.openxmlformats.org/drawingml/2006/main" noGrp="1"/>
          </p:cNvSpPr>
          <p:nvPr/>
        </p:nvSpPr>
        <p:spPr>
          <a:xfrm xmlns:a="http://schemas.openxmlformats.org/drawingml/2006/main" rot="0" flipH="0" flipV="0">
            <a:off x="8984742" y="3835718"/>
            <a:ext cx="189001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chemeClr val="accent1"/>
                </a:solidFill>
                <a:latin typeface="+mn-lt"/>
                <a:ea typeface="+mn-lt"/>
                <a:cs typeface="+mn-lt"/>
              </a:rPr>
              <a:t>Illustrative knee</a:t>
            </a:r>
          </a:p>
        </p:txBody>
      </p:sp>
      <p:sp>
        <p:nvSpPr>
          <p:cNvPr id="30" name="TextBox 30">
            <a:extLst xmlns:a="http://schemas.openxmlformats.org/drawingml/2006/main">
              <a:ext uri="{FF2B5EF4-FFF2-40B4-BE49-F238E27FC236}">
                <a16:creationId xmlns:a16="http://schemas.microsoft.com/office/drawing/2014/main" id="{6BECA430-BD9B-4741-9A5E-14CD8D5FDB78}"/>
              </a:ext>
            </a:extLst>
          </p:cNvPr>
          <p:cNvSpPr>
            <a:spLocks xmlns:a="http://schemas.openxmlformats.org/drawingml/2006/main" noGrp="1"/>
          </p:cNvSpPr>
          <p:nvPr/>
        </p:nvSpPr>
        <p:spPr>
          <a:xfrm xmlns:a="http://schemas.openxmlformats.org/drawingml/2006/main" rot="0" flipH="0" flipV="0">
            <a:off x="677418" y="4451032"/>
            <a:ext cx="658144" cy="32270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chemeClr val="dk1"/>
                </a:solidFill>
                <a:latin typeface="Consolas"/>
                <a:ea typeface="Consolas"/>
                <a:cs typeface="Consolas"/>
              </a:rPr>
              <a:t>$900k</a:t>
            </a:r>
          </a:p>
        </p:txBody>
      </p:sp>
      <p:sp>
        <p:nvSpPr>
          <p:cNvPr id="31" name="TextBox 31">
            <a:extLst xmlns:a="http://schemas.openxmlformats.org/drawingml/2006/main">
              <a:ext uri="{FF2B5EF4-FFF2-40B4-BE49-F238E27FC236}">
                <a16:creationId xmlns:a16="http://schemas.microsoft.com/office/drawing/2014/main" id="{C742B8CC-C176-4849-B3A6-346BE5C9934D}"/>
              </a:ext>
            </a:extLst>
          </p:cNvPr>
          <p:cNvSpPr>
            <a:spLocks xmlns:a="http://schemas.openxmlformats.org/drawingml/2006/main" noGrp="1"/>
          </p:cNvSpPr>
          <p:nvPr/>
        </p:nvSpPr>
        <p:spPr>
          <a:xfrm xmlns:a="http://schemas.openxmlformats.org/drawingml/2006/main" rot="0" flipH="0" flipV="0">
            <a:off x="2279142" y="4483418"/>
            <a:ext cx="80427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Consolas"/>
                <a:ea typeface="Consolas"/>
                <a:cs typeface="Consolas"/>
              </a:rPr>
              <a:t>min_cost</a:t>
            </a:r>
          </a:p>
        </p:txBody>
      </p:sp>
      <p:sp>
        <p:nvSpPr>
          <p:cNvPr id="32" name="TextBox 32">
            <a:extLst xmlns:a="http://schemas.openxmlformats.org/drawingml/2006/main">
              <a:ext uri="{FF2B5EF4-FFF2-40B4-BE49-F238E27FC236}">
                <a16:creationId xmlns:a16="http://schemas.microsoft.com/office/drawing/2014/main" id="{B901C4D9-C164-4092-9F32-4C85EC1E1EF8}"/>
              </a:ext>
            </a:extLst>
          </p:cNvPr>
          <p:cNvSpPr>
            <a:spLocks xmlns:a="http://schemas.openxmlformats.org/drawingml/2006/main" noGrp="1"/>
          </p:cNvSpPr>
          <p:nvPr/>
        </p:nvSpPr>
        <p:spPr>
          <a:xfrm xmlns:a="http://schemas.openxmlformats.org/drawingml/2006/main" rot="0" flipH="0" flipV="0">
            <a:off x="4469892" y="4483418"/>
            <a:ext cx="3130506"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same 6 sites · $311k budget unused</a:t>
            </a:r>
          </a:p>
        </p:txBody>
      </p:sp>
      <p:sp>
        <p:nvSpPr>
          <p:cNvPr id="33" name="TextBox 33">
            <a:extLst xmlns:a="http://schemas.openxmlformats.org/drawingml/2006/main">
              <a:ext uri="{FF2B5EF4-FFF2-40B4-BE49-F238E27FC236}">
                <a16:creationId xmlns:a16="http://schemas.microsoft.com/office/drawing/2014/main" id="{7B3953B6-7E94-4067-921A-F85683BF9C16}"/>
              </a:ext>
            </a:extLst>
          </p:cNvPr>
          <p:cNvSpPr>
            <a:spLocks xmlns:a="http://schemas.openxmlformats.org/drawingml/2006/main" noGrp="1"/>
          </p:cNvSpPr>
          <p:nvPr/>
        </p:nvSpPr>
        <p:spPr>
          <a:xfrm xmlns:a="http://schemas.openxmlformats.org/drawingml/2006/main" rot="0" flipH="0" flipV="0">
            <a:off x="8984742" y="4483418"/>
            <a:ext cx="1673373"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rgbClr val="475569"/>
                </a:solidFill>
                <a:latin typeface="+mn-lt"/>
                <a:ea typeface="+mn-lt"/>
                <a:cs typeface="+mn-lt"/>
              </a:rPr>
              <a:t>Leave surplus unspent</a:t>
            </a:r>
          </a:p>
        </p:txBody>
      </p:sp>
      <p:sp>
        <p:nvSpPr>
          <p:cNvPr id="35" name="Line 35">
            <a:extLst xmlns:a="http://schemas.openxmlformats.org/drawingml/2006/main">
              <a:ext uri="{FF2B5EF4-FFF2-40B4-BE49-F238E27FC236}">
                <a16:creationId xmlns:a16="http://schemas.microsoft.com/office/drawing/2014/main" id="{1A4CA292-A35B-4D19-9489-4A36693538B5}"/>
              </a:ext>
            </a:extLst>
          </p:cNvPr>
          <p:cNvSpPr>
            <a:spLocks xmlns:a="http://schemas.openxmlformats.org/drawingml/2006/main" noGrp="1"/>
          </p:cNvSpPr>
          <p:nvPr/>
        </p:nvSpPr>
        <p:spPr>
          <a:xfrm xmlns:a="http://schemas.openxmlformats.org/drawingml/2006/main" rot="0" flipH="0" flipV="0">
            <a:off x="457200" y="48387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37" name="Rectangle 37">
            <a:extLst xmlns:a="http://schemas.openxmlformats.org/drawingml/2006/main">
              <a:ext uri="{FF2B5EF4-FFF2-40B4-BE49-F238E27FC236}">
                <a16:creationId xmlns:a16="http://schemas.microsoft.com/office/drawing/2014/main" id="{9DB5DEDE-8B5A-4C9D-8F17-37744CD8D098}"/>
              </a:ext>
            </a:extLst>
          </p:cNvPr>
          <p:cNvSpPr>
            <a:spLocks xmlns:a="http://schemas.openxmlformats.org/drawingml/2006/main" noGrp="1"/>
          </p:cNvSpPr>
          <p:nvPr/>
        </p:nvSpPr>
        <p:spPr>
          <a:xfrm xmlns:a="http://schemas.openxmlformats.org/drawingml/2006/main" rot="0" flipH="0" flipV="0">
            <a:off x="457200" y="5219700"/>
            <a:ext cx="11277600" cy="628650"/>
          </a:xfrm>
          <a:prstGeom xmlns:a="http://schemas.openxmlformats.org/drawingml/2006/main" prst="roundRect">
            <a:avLst>
              <a:gd name="adj" fmla="val 12121"/>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8" name="Rectangle 38">
            <a:extLst xmlns:a="http://schemas.openxmlformats.org/drawingml/2006/main">
              <a:ext uri="{FF2B5EF4-FFF2-40B4-BE49-F238E27FC236}">
                <a16:creationId xmlns:a16="http://schemas.microsoft.com/office/drawing/2014/main" id="{4B79BA39-8DD4-442E-878C-1D00D8BC9EA6}"/>
              </a:ext>
            </a:extLst>
          </p:cNvPr>
          <p:cNvSpPr>
            <a:spLocks xmlns:a="http://schemas.openxmlformats.org/drawingml/2006/main" noGrp="1"/>
          </p:cNvSpPr>
          <p:nvPr/>
        </p:nvSpPr>
        <p:spPr>
          <a:xfrm xmlns:a="http://schemas.openxmlformats.org/drawingml/2006/main" rot="0" flipH="0" flipV="0">
            <a:off x="457200" y="5219700"/>
            <a:ext cx="57150" cy="62865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9" name="TextBox 39">
            <a:extLst xmlns:a="http://schemas.openxmlformats.org/drawingml/2006/main">
              <a:ext uri="{FF2B5EF4-FFF2-40B4-BE49-F238E27FC236}">
                <a16:creationId xmlns:a16="http://schemas.microsoft.com/office/drawing/2014/main" id="{99884FB0-4398-4FF4-BCB3-04868B636582}"/>
              </a:ext>
            </a:extLst>
          </p:cNvPr>
          <p:cNvSpPr>
            <a:spLocks xmlns:a="http://schemas.openxmlformats.org/drawingml/2006/main" noGrp="1"/>
          </p:cNvSpPr>
          <p:nvPr/>
        </p:nvSpPr>
        <p:spPr>
          <a:xfrm xmlns:a="http://schemas.openxmlformats.org/drawingml/2006/main" rot="0" flipH="0" flipV="0">
            <a:off x="717042" y="5378768"/>
            <a:ext cx="5453683"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Automatic fallback answers each budget consistently —</a:t>
            </a:r>
          </a:p>
        </p:txBody>
      </p:sp>
      <p:sp>
        <p:nvSpPr>
          <p:cNvPr id="40" name="TextBox 40">
            <a:extLst xmlns:a="http://schemas.openxmlformats.org/drawingml/2006/main">
              <a:ext uri="{FF2B5EF4-FFF2-40B4-BE49-F238E27FC236}">
                <a16:creationId xmlns:a16="http://schemas.microsoft.com/office/drawing/2014/main" id="{BC0FB860-1E1D-4492-9EDA-97147946AD4C}"/>
              </a:ext>
            </a:extLst>
          </p:cNvPr>
          <p:cNvSpPr>
            <a:spLocks xmlns:a="http://schemas.openxmlformats.org/drawingml/2006/main" noGrp="1"/>
          </p:cNvSpPr>
          <p:nvPr/>
        </p:nvSpPr>
        <p:spPr>
          <a:xfrm xmlns:a="http://schemas.openxmlformats.org/drawingml/2006/main" rot="0" flipH="0" flipV="0">
            <a:off x="717042" y="5607368"/>
            <a:ext cx="528408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and always returns the data/assumption scope warning.</a:t>
            </a:r>
          </a:p>
        </p:txBody>
      </p:sp>
      <p:sp>
        <p:nvSpPr>
          <p:cNvPr id="42" name="Line 42">
            <a:extLst xmlns:a="http://schemas.openxmlformats.org/drawingml/2006/main">
              <a:ext uri="{FF2B5EF4-FFF2-40B4-BE49-F238E27FC236}">
                <a16:creationId xmlns:a16="http://schemas.microsoft.com/office/drawing/2014/main" id="{13EB378A-6336-44CC-B9C1-07EFFF7BF76B}"/>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43" name="TextBox 43">
            <a:extLst xmlns:a="http://schemas.openxmlformats.org/drawingml/2006/main">
              <a:ext uri="{FF2B5EF4-FFF2-40B4-BE49-F238E27FC236}">
                <a16:creationId xmlns:a16="http://schemas.microsoft.com/office/drawing/2014/main" id="{E44ED3AD-D5B4-46C2-8478-21E8DC63D6A0}"/>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44" name="TextBox 44">
            <a:extLst xmlns:a="http://schemas.openxmlformats.org/drawingml/2006/main">
              <a:ext uri="{FF2B5EF4-FFF2-40B4-BE49-F238E27FC236}">
                <a16:creationId xmlns:a16="http://schemas.microsoft.com/office/drawing/2014/main" id="{197466B4-340C-4445-99B7-4CB34568270B}"/>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13 / 14</a:t>
            </a:r>
          </a:p>
        </p:txBody>
      </p:sp>
    </p:spTree>
    <p:extLst>
      <p:ext uri="{BB962C8B-B14F-4D97-AF65-F5344CB8AC3E}">
        <p14:creationId xmlns:p14="http://schemas.microsoft.com/office/powerpoint/2010/main" val="342092695"/>
      </p:ext>
    </p:extLst>
  </p:cSld>
</p:sld>
</file>

<file path=ppt/slides/slide14.xml><?xml version="1.0" encoding="utf-8"?>
<p:sld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 name="Line 2">
            <a:extLst xmlns:a="http://schemas.openxmlformats.org/drawingml/2006/main">
              <a:ext uri="{FF2B5EF4-FFF2-40B4-BE49-F238E27FC236}">
                <a16:creationId xmlns:a16="http://schemas.microsoft.com/office/drawing/2014/main" id="{271205E4-15CD-4AFA-95A7-A67ACD5FA83D}"/>
              </a:ext>
            </a:extLst>
          </p:cNvPr>
          <p:cNvSpPr>
            <a:spLocks xmlns:a="http://schemas.openxmlformats.org/drawingml/2006/main" noGrp="1"/>
          </p:cNvSpPr>
          <p:nvPr/>
        </p:nvSpPr>
        <p:spPr>
          <a:xfrm xmlns:a="http://schemas.openxmlformats.org/drawingml/2006/main">
            <a:off x="457200" y="5524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E1E0E958-2E09-42C3-88C8-8E0E8F454578}"/>
              </a:ext>
            </a:extLst>
          </p:cNvPr>
          <p:cNvSpPr>
            <a:spLocks xmlns:a="http://schemas.openxmlformats.org/drawingml/2006/main" noGrp="1"/>
          </p:cNvSpPr>
          <p:nvPr/>
        </p:nvSpPr>
        <p:spPr>
          <a:xfrm xmlns:a="http://schemas.openxmlformats.org/drawingml/2006/main" rot="0" flipH="0" flipV="0">
            <a:off x="451104" y="708660"/>
            <a:ext cx="184666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14 · CONCLUSIONS</a:t>
            </a:r>
          </a:p>
        </p:txBody>
      </p:sp>
      <p:sp>
        <p:nvSpPr>
          <p:cNvPr id="4" name="TextBox 4">
            <a:extLst xmlns:a="http://schemas.openxmlformats.org/drawingml/2006/main">
              <a:ext uri="{FF2B5EF4-FFF2-40B4-BE49-F238E27FC236}">
                <a16:creationId xmlns:a16="http://schemas.microsoft.com/office/drawing/2014/main" id="{9C6E973F-0022-46C6-8197-C97AFC153958}"/>
              </a:ext>
            </a:extLst>
          </p:cNvPr>
          <p:cNvSpPr>
            <a:spLocks xmlns:a="http://schemas.openxmlformats.org/drawingml/2006/main" noGrp="1"/>
          </p:cNvSpPr>
          <p:nvPr/>
        </p:nvSpPr>
        <p:spPr>
          <a:xfrm xmlns:a="http://schemas.openxmlformats.org/drawingml/2006/main" rot="0" flipH="0" flipV="0">
            <a:off x="441960" y="895350"/>
            <a:ext cx="10943688" cy="586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000" b="1">
                <a:solidFill>
                  <a:schemeClr val="dk1"/>
                </a:solidFill>
                <a:latin typeface="+mn-lt"/>
                <a:ea typeface="+mn-lt"/>
                <a:cs typeface="+mn-lt"/>
              </a:rPr>
              <a:t>Use the knee as a scenario; validate before commitment</a:t>
            </a:r>
          </a:p>
        </p:txBody>
      </p:sp>
      <p:sp>
        <p:nvSpPr>
          <p:cNvPr id="6" name="TextBox 6">
            <a:extLst xmlns:a="http://schemas.openxmlformats.org/drawingml/2006/main">
              <a:ext uri="{FF2B5EF4-FFF2-40B4-BE49-F238E27FC236}">
                <a16:creationId xmlns:a16="http://schemas.microsoft.com/office/drawing/2014/main" id="{3202EA59-F52B-490D-B2A7-B84EFF32D18F}"/>
              </a:ext>
            </a:extLst>
          </p:cNvPr>
          <p:cNvSpPr>
            <a:spLocks xmlns:a="http://schemas.openxmlformats.org/drawingml/2006/main" noGrp="1"/>
          </p:cNvSpPr>
          <p:nvPr/>
        </p:nvSpPr>
        <p:spPr>
          <a:xfrm xmlns:a="http://schemas.openxmlformats.org/drawingml/2006/main" rot="0" flipH="0" flipV="0">
            <a:off x="440436" y="181546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1</a:t>
            </a:r>
          </a:p>
        </p:txBody>
      </p:sp>
      <p:sp>
        <p:nvSpPr>
          <p:cNvPr id="7" name="TextBox 7">
            <a:extLst xmlns:a="http://schemas.openxmlformats.org/drawingml/2006/main">
              <a:ext uri="{FF2B5EF4-FFF2-40B4-BE49-F238E27FC236}">
                <a16:creationId xmlns:a16="http://schemas.microsoft.com/office/drawing/2014/main" id="{2E483B5F-920A-48CB-80A2-76A6DDC2C656}"/>
              </a:ext>
            </a:extLst>
          </p:cNvPr>
          <p:cNvSpPr>
            <a:spLocks xmlns:a="http://schemas.openxmlformats.org/drawingml/2006/main" noGrp="1"/>
          </p:cNvSpPr>
          <p:nvPr/>
        </p:nvSpPr>
        <p:spPr>
          <a:xfrm xmlns:a="http://schemas.openxmlformats.org/drawingml/2006/main" rot="0" flipH="0" flipV="0">
            <a:off x="1060704" y="1832610"/>
            <a:ext cx="90531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THE KNEE</a:t>
            </a:r>
          </a:p>
        </p:txBody>
      </p:sp>
      <p:sp>
        <p:nvSpPr>
          <p:cNvPr id="8" name="TextBox 8">
            <a:extLst xmlns:a="http://schemas.openxmlformats.org/drawingml/2006/main">
              <a:ext uri="{FF2B5EF4-FFF2-40B4-BE49-F238E27FC236}">
                <a16:creationId xmlns:a16="http://schemas.microsoft.com/office/drawing/2014/main" id="{B37BB344-37C2-41DA-B213-73A03D3C042C}"/>
              </a:ext>
            </a:extLst>
          </p:cNvPr>
          <p:cNvSpPr>
            <a:spLocks xmlns:a="http://schemas.openxmlformats.org/drawingml/2006/main" noGrp="1"/>
          </p:cNvSpPr>
          <p:nvPr/>
        </p:nvSpPr>
        <p:spPr>
          <a:xfrm xmlns:a="http://schemas.openxmlformats.org/drawingml/2006/main" rot="0" flipH="0" flipV="0">
            <a:off x="1059180" y="2105025"/>
            <a:ext cx="606171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Current proxy: $589k for 6 sites at 100% model coverage;</a:t>
            </a:r>
          </a:p>
        </p:txBody>
      </p:sp>
      <p:sp>
        <p:nvSpPr>
          <p:cNvPr id="9" name="TextBox 9">
            <a:extLst xmlns:a="http://schemas.openxmlformats.org/drawingml/2006/main">
              <a:ext uri="{FF2B5EF4-FFF2-40B4-BE49-F238E27FC236}">
                <a16:creationId xmlns:a16="http://schemas.microsoft.com/office/drawing/2014/main" id="{9DE347AE-67D7-4911-BF0A-A341D330EA8D}"/>
              </a:ext>
            </a:extLst>
          </p:cNvPr>
          <p:cNvSpPr>
            <a:spLocks xmlns:a="http://schemas.openxmlformats.org/drawingml/2006/main" noGrp="1"/>
          </p:cNvSpPr>
          <p:nvPr/>
        </p:nvSpPr>
        <p:spPr>
          <a:xfrm xmlns:a="http://schemas.openxmlformats.org/drawingml/2006/main" rot="0" flipH="0" flipV="0">
            <a:off x="1059180" y="2352675"/>
            <a:ext cx="5194744"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above the knee, the cost tie-break leaves surplus unspent.</a:t>
            </a:r>
          </a:p>
        </p:txBody>
      </p:sp>
      <p:sp>
        <p:nvSpPr>
          <p:cNvPr id="11" name="Line 11">
            <a:extLst xmlns:a="http://schemas.openxmlformats.org/drawingml/2006/main">
              <a:ext uri="{FF2B5EF4-FFF2-40B4-BE49-F238E27FC236}">
                <a16:creationId xmlns:a16="http://schemas.microsoft.com/office/drawing/2014/main" id="{C90C3C18-51F1-4B49-8296-56130C87EA9E}"/>
              </a:ext>
            </a:extLst>
          </p:cNvPr>
          <p:cNvSpPr>
            <a:spLocks xmlns:a="http://schemas.openxmlformats.org/drawingml/2006/main" noGrp="1"/>
          </p:cNvSpPr>
          <p:nvPr/>
        </p:nvSpPr>
        <p:spPr>
          <a:xfrm xmlns:a="http://schemas.openxmlformats.org/drawingml/2006/main" rot="0" flipH="0" flipV="0">
            <a:off x="457200" y="27241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12" name="TextBox 12">
            <a:extLst xmlns:a="http://schemas.openxmlformats.org/drawingml/2006/main">
              <a:ext uri="{FF2B5EF4-FFF2-40B4-BE49-F238E27FC236}">
                <a16:creationId xmlns:a16="http://schemas.microsoft.com/office/drawing/2014/main" id="{BD50B2A0-92D6-4752-8C52-F56F8A16F09A}"/>
              </a:ext>
            </a:extLst>
          </p:cNvPr>
          <p:cNvSpPr>
            <a:spLocks xmlns:a="http://schemas.openxmlformats.org/drawingml/2006/main" noGrp="1"/>
          </p:cNvSpPr>
          <p:nvPr/>
        </p:nvSpPr>
        <p:spPr>
          <a:xfrm xmlns:a="http://schemas.openxmlformats.org/drawingml/2006/main" rot="0" flipH="0" flipV="0">
            <a:off x="440436" y="286321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2</a:t>
            </a:r>
          </a:p>
        </p:txBody>
      </p:sp>
      <p:sp>
        <p:nvSpPr>
          <p:cNvPr id="13" name="TextBox 13">
            <a:extLst xmlns:a="http://schemas.openxmlformats.org/drawingml/2006/main">
              <a:ext uri="{FF2B5EF4-FFF2-40B4-BE49-F238E27FC236}">
                <a16:creationId xmlns:a16="http://schemas.microsoft.com/office/drawing/2014/main" id="{040C209B-D1EB-4BD6-AC6A-BCAFADF94B84}"/>
              </a:ext>
            </a:extLst>
          </p:cNvPr>
          <p:cNvSpPr>
            <a:spLocks xmlns:a="http://schemas.openxmlformats.org/drawingml/2006/main" noGrp="1"/>
          </p:cNvSpPr>
          <p:nvPr/>
        </p:nvSpPr>
        <p:spPr>
          <a:xfrm xmlns:a="http://schemas.openxmlformats.org/drawingml/2006/main" rot="0" flipH="0" flipV="0">
            <a:off x="1060704" y="2880360"/>
            <a:ext cx="177155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THE ROBUST CORE</a:t>
            </a:r>
          </a:p>
        </p:txBody>
      </p:sp>
      <p:sp>
        <p:nvSpPr>
          <p:cNvPr id="14" name="TextBox 14">
            <a:extLst xmlns:a="http://schemas.openxmlformats.org/drawingml/2006/main">
              <a:ext uri="{FF2B5EF4-FFF2-40B4-BE49-F238E27FC236}">
                <a16:creationId xmlns:a16="http://schemas.microsoft.com/office/drawing/2014/main" id="{5AA9BD02-C4A2-420B-AACF-A03F296B83E3}"/>
              </a:ext>
            </a:extLst>
          </p:cNvPr>
          <p:cNvSpPr>
            <a:spLocks xmlns:a="http://schemas.openxmlformats.org/drawingml/2006/main" noGrp="1"/>
          </p:cNvSpPr>
          <p:nvPr/>
        </p:nvSpPr>
        <p:spPr>
          <a:xfrm xmlns:a="http://schemas.openxmlformats.org/drawingml/2006/main" rot="0" flipH="0" flipV="0">
            <a:off x="1059180" y="3152775"/>
            <a:ext cx="6121400"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S16 / S18 / S13 score 100% / 94% / 87% after equal weighting;</a:t>
            </a:r>
          </a:p>
        </p:txBody>
      </p:sp>
      <p:sp>
        <p:nvSpPr>
          <p:cNvPr id="15" name="TextBox 15">
            <a:extLst xmlns:a="http://schemas.openxmlformats.org/drawingml/2006/main">
              <a:ext uri="{FF2B5EF4-FFF2-40B4-BE49-F238E27FC236}">
                <a16:creationId xmlns:a16="http://schemas.microsoft.com/office/drawing/2014/main" id="{CB5F4352-B70A-4774-8391-F55B70C97915}"/>
              </a:ext>
            </a:extLst>
          </p:cNvPr>
          <p:cNvSpPr>
            <a:spLocks xmlns:a="http://schemas.openxmlformats.org/drawingml/2006/main" noGrp="1"/>
          </p:cNvSpPr>
          <p:nvPr/>
        </p:nvSpPr>
        <p:spPr>
          <a:xfrm xmlns:a="http://schemas.openxmlformats.org/drawingml/2006/main" rot="0" flipH="0" flipV="0">
            <a:off x="1059180" y="3400425"/>
            <a:ext cx="4192037"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treat as provisional until grid, ownership and equity checks.</a:t>
            </a:r>
          </a:p>
        </p:txBody>
      </p:sp>
      <p:sp>
        <p:nvSpPr>
          <p:cNvPr id="17" name="Line 17">
            <a:extLst xmlns:a="http://schemas.openxmlformats.org/drawingml/2006/main">
              <a:ext uri="{FF2B5EF4-FFF2-40B4-BE49-F238E27FC236}">
                <a16:creationId xmlns:a16="http://schemas.microsoft.com/office/drawing/2014/main" id="{E623D80D-22AE-4DA3-8DB3-FEAAFE4B3BBA}"/>
              </a:ext>
            </a:extLst>
          </p:cNvPr>
          <p:cNvSpPr>
            <a:spLocks xmlns:a="http://schemas.openxmlformats.org/drawingml/2006/main" noGrp="1"/>
          </p:cNvSpPr>
          <p:nvPr/>
        </p:nvSpPr>
        <p:spPr>
          <a:xfrm xmlns:a="http://schemas.openxmlformats.org/drawingml/2006/main" rot="0" flipH="0" flipV="0">
            <a:off x="457200" y="37719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18" name="TextBox 18">
            <a:extLst xmlns:a="http://schemas.openxmlformats.org/drawingml/2006/main">
              <a:ext uri="{FF2B5EF4-FFF2-40B4-BE49-F238E27FC236}">
                <a16:creationId xmlns:a16="http://schemas.microsoft.com/office/drawing/2014/main" id="{FA8AA239-31F4-45E0-BF3A-C8487813EE6E}"/>
              </a:ext>
            </a:extLst>
          </p:cNvPr>
          <p:cNvSpPr>
            <a:spLocks xmlns:a="http://schemas.openxmlformats.org/drawingml/2006/main" noGrp="1"/>
          </p:cNvSpPr>
          <p:nvPr/>
        </p:nvSpPr>
        <p:spPr>
          <a:xfrm xmlns:a="http://schemas.openxmlformats.org/drawingml/2006/main" rot="0" flipH="0" flipV="0">
            <a:off x="440436" y="3910965"/>
            <a:ext cx="290080" cy="64541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3300" b="1">
                <a:solidFill>
                  <a:schemeClr val="accent1"/>
                </a:solidFill>
                <a:latin typeface="Consolas"/>
                <a:ea typeface="Consolas"/>
                <a:cs typeface="Consolas"/>
              </a:rPr>
              <a:t>3</a:t>
            </a:r>
          </a:p>
        </p:txBody>
      </p:sp>
      <p:sp>
        <p:nvSpPr>
          <p:cNvPr id="19" name="TextBox 19">
            <a:extLst xmlns:a="http://schemas.openxmlformats.org/drawingml/2006/main">
              <a:ext uri="{FF2B5EF4-FFF2-40B4-BE49-F238E27FC236}">
                <a16:creationId xmlns:a16="http://schemas.microsoft.com/office/drawing/2014/main" id="{2524AE2A-B1FF-4180-A24E-D9A6A1A7C43A}"/>
              </a:ext>
            </a:extLst>
          </p:cNvPr>
          <p:cNvSpPr>
            <a:spLocks xmlns:a="http://schemas.openxmlformats.org/drawingml/2006/main" noGrp="1"/>
          </p:cNvSpPr>
          <p:nvPr/>
        </p:nvSpPr>
        <p:spPr>
          <a:xfrm xmlns:a="http://schemas.openxmlformats.org/drawingml/2006/main" rot="0" flipH="0" flipV="0">
            <a:off x="1060704" y="3928110"/>
            <a:ext cx="2161581"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RISKIEST ASSUMPTION</a:t>
            </a:r>
          </a:p>
        </p:txBody>
      </p:sp>
      <p:sp>
        <p:nvSpPr>
          <p:cNvPr id="20" name="TextBox 20">
            <a:extLst xmlns:a="http://schemas.openxmlformats.org/drawingml/2006/main">
              <a:ext uri="{FF2B5EF4-FFF2-40B4-BE49-F238E27FC236}">
                <a16:creationId xmlns:a16="http://schemas.microsoft.com/office/drawing/2014/main" id="{F9C1DBD2-E3E3-4196-B803-505D6A1B4222}"/>
              </a:ext>
            </a:extLst>
          </p:cNvPr>
          <p:cNvSpPr>
            <a:spLocks xmlns:a="http://schemas.openxmlformats.org/drawingml/2006/main" noGrp="1"/>
          </p:cNvSpPr>
          <p:nvPr/>
        </p:nvSpPr>
        <p:spPr>
          <a:xfrm xmlns:a="http://schemas.openxmlformats.org/drawingml/2006/main" rot="0" flipH="0" flipV="0">
            <a:off x="1059180" y="4200525"/>
            <a:ext cx="5908743"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Capacity gives a strong lower bound; geography can require</a:t>
            </a:r>
          </a:p>
        </p:txBody>
      </p:sp>
      <p:sp>
        <p:nvSpPr>
          <p:cNvPr id="21" name="TextBox 21">
            <a:extLst xmlns:a="http://schemas.openxmlformats.org/drawingml/2006/main">
              <a:ext uri="{FF2B5EF4-FFF2-40B4-BE49-F238E27FC236}">
                <a16:creationId xmlns:a16="http://schemas.microsoft.com/office/drawing/2014/main" id="{DCAA460F-FFD9-4AA7-A62C-5455B0947677}"/>
              </a:ext>
            </a:extLst>
          </p:cNvPr>
          <p:cNvSpPr>
            <a:spLocks xmlns:a="http://schemas.openxmlformats.org/drawingml/2006/main" noGrp="1"/>
          </p:cNvSpPr>
          <p:nvPr/>
        </p:nvSpPr>
        <p:spPr>
          <a:xfrm xmlns:a="http://schemas.openxmlformats.org/drawingml/2006/main" rot="0" flipH="0" flipV="0">
            <a:off x="1059180" y="4448175"/>
            <a:ext cx="3326892" cy="29337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500">
                <a:solidFill>
                  <a:schemeClr val="dk1"/>
                </a:solidFill>
                <a:latin typeface="+mn-lt"/>
                <a:ea typeface="+mn-lt"/>
                <a:cs typeface="+mn-lt"/>
              </a:rPr>
              <a:t>additional sites and determines which combination works.</a:t>
            </a:r>
          </a:p>
        </p:txBody>
      </p:sp>
      <p:sp>
        <p:nvSpPr>
          <p:cNvPr id="24" name="Rectangle 24">
            <a:extLst xmlns:a="http://schemas.openxmlformats.org/drawingml/2006/main">
              <a:ext uri="{FF2B5EF4-FFF2-40B4-BE49-F238E27FC236}">
                <a16:creationId xmlns:a16="http://schemas.microsoft.com/office/drawing/2014/main" id="{E07B0223-1DD0-4566-A9D7-7F5913B96B75}"/>
              </a:ext>
            </a:extLst>
          </p:cNvPr>
          <p:cNvSpPr>
            <a:spLocks xmlns:a="http://schemas.openxmlformats.org/drawingml/2006/main" noGrp="1"/>
          </p:cNvSpPr>
          <p:nvPr/>
        </p:nvSpPr>
        <p:spPr>
          <a:xfrm xmlns:a="http://schemas.openxmlformats.org/drawingml/2006/main" rot="0" flipH="0" flipV="0">
            <a:off x="457200" y="4781550"/>
            <a:ext cx="5448300" cy="1409700"/>
          </a:xfrm>
          <a:prstGeom xmlns:a="http://schemas.openxmlformats.org/drawingml/2006/main" prst="roundRect">
            <a:avLst>
              <a:gd name="adj" fmla="val 6757"/>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25" name="Freeform 25">
            <a:extLst xmlns:a="http://schemas.openxmlformats.org/drawingml/2006/main">
              <a:ext uri="{FF2B5EF4-FFF2-40B4-BE49-F238E27FC236}">
                <a16:creationId xmlns:a16="http://schemas.microsoft.com/office/drawing/2014/main" id="{0F8FB35B-22DB-41CF-BCC2-3D888C015E6E}"/>
              </a:ext>
            </a:extLst>
          </p:cNvPr>
          <p:cNvSpPr>
            <a:spLocks xmlns:a="http://schemas.openxmlformats.org/drawingml/2006/main" noGrp="1"/>
          </p:cNvSpPr>
          <p:nvPr/>
        </p:nvSpPr>
        <p:spPr>
          <a:xfrm xmlns:a="http://schemas.openxmlformats.org/drawingml/2006/main" rot="0" flipH="0" flipV="0">
            <a:off x="733425" y="5143500"/>
            <a:ext cx="95250" cy="9525"/>
          </a:xfrm>
          <a:custGeom xmlns:a="http://schemas.openxmlformats.org/drawingml/2006/main">
            <a:rect l="l" t="t" r="r" b="b"/>
            <a:pathLst>
              <a:path w="95250" h="9525">
                <a:moveTo>
                  <a:pt x="0" y="0"/>
                </a:moveTo>
                <a:lnTo>
                  <a:pt x="95250"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6" name="Freeform 26">
            <a:extLst xmlns:a="http://schemas.openxmlformats.org/drawingml/2006/main">
              <a:ext uri="{FF2B5EF4-FFF2-40B4-BE49-F238E27FC236}">
                <a16:creationId xmlns:a16="http://schemas.microsoft.com/office/drawing/2014/main" id="{C6B93778-6A04-4A50-9410-AFA4B9BAD9E8}"/>
              </a:ext>
            </a:extLst>
          </p:cNvPr>
          <p:cNvSpPr>
            <a:spLocks xmlns:a="http://schemas.openxmlformats.org/drawingml/2006/main" noGrp="1"/>
          </p:cNvSpPr>
          <p:nvPr/>
        </p:nvSpPr>
        <p:spPr>
          <a:xfrm xmlns:a="http://schemas.openxmlformats.org/drawingml/2006/main" rot="0" flipH="0" flipV="0">
            <a:off x="723900" y="5000625"/>
            <a:ext cx="114300" cy="9525"/>
          </a:xfrm>
          <a:custGeom xmlns:a="http://schemas.openxmlformats.org/drawingml/2006/main">
            <a:rect l="l" t="t" r="r" b="b"/>
            <a:pathLst>
              <a:path w="114300" h="9525">
                <a:moveTo>
                  <a:pt x="0" y="9525"/>
                </a:moveTo>
                <a:lnTo>
                  <a:pt x="57150" y="0"/>
                </a:lnTo>
                <a:lnTo>
                  <a:pt x="114300" y="9525"/>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7" name="Freeform 27">
            <a:extLst xmlns:a="http://schemas.openxmlformats.org/drawingml/2006/main">
              <a:ext uri="{FF2B5EF4-FFF2-40B4-BE49-F238E27FC236}">
                <a16:creationId xmlns:a16="http://schemas.microsoft.com/office/drawing/2014/main" id="{DB8794BE-0B47-4D2B-84F1-E48F107AB121}"/>
              </a:ext>
            </a:extLst>
          </p:cNvPr>
          <p:cNvSpPr>
            <a:spLocks xmlns:a="http://schemas.openxmlformats.org/drawingml/2006/main" noGrp="1"/>
          </p:cNvSpPr>
          <p:nvPr/>
        </p:nvSpPr>
        <p:spPr>
          <a:xfrm xmlns:a="http://schemas.openxmlformats.org/drawingml/2006/main" rot="0" flipH="0" flipV="0">
            <a:off x="781050" y="4981575"/>
            <a:ext cx="9525" cy="161925"/>
          </a:xfrm>
          <a:custGeom xmlns:a="http://schemas.openxmlformats.org/drawingml/2006/main">
            <a:rect l="l" t="t" r="r" b="b"/>
            <a:pathLst>
              <a:path w="9525" h="161925">
                <a:moveTo>
                  <a:pt x="0" y="0"/>
                </a:moveTo>
                <a:lnTo>
                  <a:pt x="0" y="161925"/>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8" name="Freeform 28">
            <a:extLst xmlns:a="http://schemas.openxmlformats.org/drawingml/2006/main">
              <a:ext uri="{FF2B5EF4-FFF2-40B4-BE49-F238E27FC236}">
                <a16:creationId xmlns:a16="http://schemas.microsoft.com/office/drawing/2014/main" id="{D05BC85F-720D-45B9-8FCB-1678C42A7B6B}"/>
              </a:ext>
            </a:extLst>
          </p:cNvPr>
          <p:cNvSpPr>
            <a:spLocks xmlns:a="http://schemas.openxmlformats.org/drawingml/2006/main" noGrp="1"/>
          </p:cNvSpPr>
          <p:nvPr/>
        </p:nvSpPr>
        <p:spPr>
          <a:xfrm xmlns:a="http://schemas.openxmlformats.org/drawingml/2006/main" rot="0" flipH="0" flipV="0">
            <a:off x="695325" y="5010150"/>
            <a:ext cx="57150" cy="85725"/>
          </a:xfrm>
          <a:custGeom xmlns:a="http://schemas.openxmlformats.org/drawingml/2006/main">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29" name="Freeform 29">
            <a:extLst xmlns:a="http://schemas.openxmlformats.org/drawingml/2006/main">
              <a:ext uri="{FF2B5EF4-FFF2-40B4-BE49-F238E27FC236}">
                <a16:creationId xmlns:a16="http://schemas.microsoft.com/office/drawing/2014/main" id="{EDE7D277-7A75-46AF-80CD-2AF7BE8E5F8C}"/>
              </a:ext>
            </a:extLst>
          </p:cNvPr>
          <p:cNvSpPr>
            <a:spLocks xmlns:a="http://schemas.openxmlformats.org/drawingml/2006/main" noGrp="1"/>
          </p:cNvSpPr>
          <p:nvPr/>
        </p:nvSpPr>
        <p:spPr>
          <a:xfrm xmlns:a="http://schemas.openxmlformats.org/drawingml/2006/main" rot="0" flipH="0" flipV="0">
            <a:off x="809625" y="5010150"/>
            <a:ext cx="57150" cy="85725"/>
          </a:xfrm>
          <a:custGeom xmlns:a="http://schemas.openxmlformats.org/drawingml/2006/main">
            <a:rect l="l" t="t" r="r" b="b"/>
            <a:pathLst>
              <a:path w="57150" h="85725">
                <a:moveTo>
                  <a:pt x="57150" y="57150"/>
                </a:moveTo>
                <a:lnTo>
                  <a:pt x="28575" y="0"/>
                </a:lnTo>
                <a:lnTo>
                  <a:pt x="0" y="57150"/>
                </a:lnTo>
                <a:cubicBezTo>
                  <a:pt x="0" y="72932"/>
                  <a:pt x="12793" y="85725"/>
                  <a:pt x="28575" y="85725"/>
                </a:cubicBezTo>
                <a:cubicBezTo>
                  <a:pt x="44357" y="85725"/>
                  <a:pt x="57150" y="72932"/>
                  <a:pt x="57150" y="57150"/>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1" name="TextBox 31">
            <a:extLst xmlns:a="http://schemas.openxmlformats.org/drawingml/2006/main">
              <a:ext uri="{FF2B5EF4-FFF2-40B4-BE49-F238E27FC236}">
                <a16:creationId xmlns:a16="http://schemas.microsoft.com/office/drawing/2014/main" id="{5A3BCCAE-AD2A-4706-9880-46490BCBB642}"/>
              </a:ext>
            </a:extLst>
          </p:cNvPr>
          <p:cNvSpPr>
            <a:spLocks xmlns:a="http://schemas.openxmlformats.org/drawingml/2006/main" noGrp="1"/>
          </p:cNvSpPr>
          <p:nvPr/>
        </p:nvSpPr>
        <p:spPr>
          <a:xfrm xmlns:a="http://schemas.openxmlformats.org/drawingml/2006/main" rot="0" flipH="0" flipV="0">
            <a:off x="965454" y="4994910"/>
            <a:ext cx="1540703"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KEY TRADE-OFF</a:t>
            </a:r>
          </a:p>
        </p:txBody>
      </p:sp>
      <p:sp>
        <p:nvSpPr>
          <p:cNvPr id="32" name="TextBox 32">
            <a:extLst xmlns:a="http://schemas.openxmlformats.org/drawingml/2006/main">
              <a:ext uri="{FF2B5EF4-FFF2-40B4-BE49-F238E27FC236}">
                <a16:creationId xmlns:a16="http://schemas.microsoft.com/office/drawing/2014/main" id="{EA66A8BB-8EE2-4F8F-AECE-65EAEA8919C7}"/>
              </a:ext>
            </a:extLst>
          </p:cNvPr>
          <p:cNvSpPr>
            <a:spLocks xmlns:a="http://schemas.openxmlformats.org/drawingml/2006/main" noGrp="1"/>
          </p:cNvSpPr>
          <p:nvPr/>
        </p:nvSpPr>
        <p:spPr>
          <a:xfrm xmlns:a="http://schemas.openxmlformats.org/drawingml/2006/main" rot="0" flipH="0" flipV="0">
            <a:off x="659892" y="5321618"/>
            <a:ext cx="4081433"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Real licensed geography plus ACS population proxy;</a:t>
            </a:r>
          </a:p>
        </p:txBody>
      </p:sp>
      <p:sp>
        <p:nvSpPr>
          <p:cNvPr id="33" name="TextBox 33">
            <a:extLst xmlns:a="http://schemas.openxmlformats.org/drawingml/2006/main">
              <a:ext uri="{FF2B5EF4-FFF2-40B4-BE49-F238E27FC236}">
                <a16:creationId xmlns:a16="http://schemas.microsoft.com/office/drawing/2014/main" id="{88B22133-67E0-4808-9298-FD838BCC49B7}"/>
              </a:ext>
            </a:extLst>
          </p:cNvPr>
          <p:cNvSpPr>
            <a:spLocks xmlns:a="http://schemas.openxmlformats.org/drawingml/2006/main" noGrp="1"/>
          </p:cNvSpPr>
          <p:nvPr/>
        </p:nvSpPr>
        <p:spPr>
          <a:xfrm xmlns:a="http://schemas.openxmlformats.org/drawingml/2006/main" rot="0" flipH="0" flipV="0">
            <a:off x="659892" y="5569268"/>
            <a:ext cx="380293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site costs, capacities and total EV demand remain</a:t>
            </a:r>
          </a:p>
        </p:txBody>
      </p:sp>
      <p:sp>
        <p:nvSpPr>
          <p:cNvPr id="34" name="TextBox 34">
            <a:extLst xmlns:a="http://schemas.openxmlformats.org/drawingml/2006/main">
              <a:ext uri="{FF2B5EF4-FFF2-40B4-BE49-F238E27FC236}">
                <a16:creationId xmlns:a16="http://schemas.microsoft.com/office/drawing/2014/main" id="{6DB9B836-DA46-4BC3-8632-BEDEEAE88D1F}"/>
              </a:ext>
            </a:extLst>
          </p:cNvPr>
          <p:cNvSpPr>
            <a:spLocks xmlns:a="http://schemas.openxmlformats.org/drawingml/2006/main" noGrp="1"/>
          </p:cNvSpPr>
          <p:nvPr/>
        </p:nvSpPr>
        <p:spPr>
          <a:xfrm xmlns:a="http://schemas.openxmlformats.org/drawingml/2006/main" rot="0" flipH="0" flipV="0">
            <a:off x="659892" y="5816918"/>
            <a:ext cx="2803379"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scenario assumptions rather than measured inputs.</a:t>
            </a:r>
          </a:p>
        </p:txBody>
      </p:sp>
      <p:sp>
        <p:nvSpPr>
          <p:cNvPr id="36" name="Rectangle 36">
            <a:extLst xmlns:a="http://schemas.openxmlformats.org/drawingml/2006/main">
              <a:ext uri="{FF2B5EF4-FFF2-40B4-BE49-F238E27FC236}">
                <a16:creationId xmlns:a16="http://schemas.microsoft.com/office/drawing/2014/main" id="{F4226A02-B308-4C15-A83F-252393E6D213}"/>
              </a:ext>
            </a:extLst>
          </p:cNvPr>
          <p:cNvSpPr>
            <a:spLocks xmlns:a="http://schemas.openxmlformats.org/drawingml/2006/main" noGrp="1"/>
          </p:cNvSpPr>
          <p:nvPr/>
        </p:nvSpPr>
        <p:spPr>
          <a:xfrm xmlns:a="http://schemas.openxmlformats.org/drawingml/2006/main" rot="0" flipH="0" flipV="0">
            <a:off x="6286500" y="4781550"/>
            <a:ext cx="5448300" cy="1409700"/>
          </a:xfrm>
          <a:prstGeom xmlns:a="http://schemas.openxmlformats.org/drawingml/2006/main" prst="roundRect">
            <a:avLst>
              <a:gd name="adj" fmla="val 6757"/>
            </a:avLst>
          </a:prstGeom>
          <a:solidFill xmlns:a="http://schemas.openxmlformats.org/drawingml/2006/main">
            <a:schemeClr val="lt2"/>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37" name="Freeform 37">
            <a:extLst xmlns:a="http://schemas.openxmlformats.org/drawingml/2006/main">
              <a:ext uri="{FF2B5EF4-FFF2-40B4-BE49-F238E27FC236}">
                <a16:creationId xmlns:a16="http://schemas.microsoft.com/office/drawing/2014/main" id="{099A8FA6-474E-4099-9CFE-CDCE51D69198}"/>
              </a:ext>
            </a:extLst>
          </p:cNvPr>
          <p:cNvSpPr>
            <a:spLocks xmlns:a="http://schemas.openxmlformats.org/drawingml/2006/main" noGrp="1"/>
          </p:cNvSpPr>
          <p:nvPr/>
        </p:nvSpPr>
        <p:spPr>
          <a:xfrm xmlns:a="http://schemas.openxmlformats.org/drawingml/2006/main" rot="0" flipH="0" flipV="0">
            <a:off x="6524625" y="4981575"/>
            <a:ext cx="171450" cy="85725"/>
          </a:xfrm>
          <a:custGeom xmlns:a="http://schemas.openxmlformats.org/drawingml/2006/main">
            <a:rect l="l" t="t" r="r" b="b"/>
            <a:pathLst>
              <a:path w="171450" h="85725">
                <a:moveTo>
                  <a:pt x="0" y="85725"/>
                </a:moveTo>
                <a:lnTo>
                  <a:pt x="9525" y="85725"/>
                </a:lnTo>
                <a:moveTo>
                  <a:pt x="85725" y="0"/>
                </a:moveTo>
                <a:lnTo>
                  <a:pt x="85725" y="9525"/>
                </a:lnTo>
                <a:moveTo>
                  <a:pt x="161925" y="85725"/>
                </a:moveTo>
                <a:lnTo>
                  <a:pt x="171450" y="85725"/>
                </a:lnTo>
                <a:moveTo>
                  <a:pt x="24765" y="24765"/>
                </a:moveTo>
                <a:lnTo>
                  <a:pt x="31432" y="31432"/>
                </a:lnTo>
                <a:moveTo>
                  <a:pt x="146685" y="24765"/>
                </a:moveTo>
                <a:lnTo>
                  <a:pt x="140018" y="31432"/>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8" name="Freeform 38">
            <a:extLst xmlns:a="http://schemas.openxmlformats.org/drawingml/2006/main">
              <a:ext uri="{FF2B5EF4-FFF2-40B4-BE49-F238E27FC236}">
                <a16:creationId xmlns:a16="http://schemas.microsoft.com/office/drawing/2014/main" id="{BBBF8E57-02D3-4E63-B168-F7362C1EB2A1}"/>
              </a:ext>
            </a:extLst>
          </p:cNvPr>
          <p:cNvSpPr>
            <a:spLocks xmlns:a="http://schemas.openxmlformats.org/drawingml/2006/main" noGrp="1"/>
          </p:cNvSpPr>
          <p:nvPr/>
        </p:nvSpPr>
        <p:spPr>
          <a:xfrm xmlns:a="http://schemas.openxmlformats.org/drawingml/2006/main" rot="0" flipH="0" flipV="0">
            <a:off x="6558687" y="5019675"/>
            <a:ext cx="103327" cy="133350"/>
          </a:xfrm>
          <a:custGeom xmlns:a="http://schemas.openxmlformats.org/drawingml/2006/main">
            <a:rect l="l" t="t" r="r" b="b"/>
            <a:pathLst>
              <a:path w="103327" h="133350">
                <a:moveTo>
                  <a:pt x="23088" y="85725"/>
                </a:moveTo>
                <a:cubicBezTo>
                  <a:pt x="6689" y="73425"/>
                  <a:pt x="0" y="52012"/>
                  <a:pt x="6482" y="32565"/>
                </a:cubicBezTo>
                <a:cubicBezTo>
                  <a:pt x="12965" y="13117"/>
                  <a:pt x="31164" y="0"/>
                  <a:pt x="51663" y="0"/>
                </a:cubicBezTo>
                <a:cubicBezTo>
                  <a:pt x="72163" y="0"/>
                  <a:pt x="90362" y="13117"/>
                  <a:pt x="96845" y="32565"/>
                </a:cubicBezTo>
                <a:cubicBezTo>
                  <a:pt x="103327" y="52012"/>
                  <a:pt x="96638" y="73425"/>
                  <a:pt x="80238" y="85725"/>
                </a:cubicBezTo>
                <a:cubicBezTo>
                  <a:pt x="72696" y="93191"/>
                  <a:pt x="69159" y="103802"/>
                  <a:pt x="70713" y="114300"/>
                </a:cubicBezTo>
                <a:cubicBezTo>
                  <a:pt x="70713" y="124821"/>
                  <a:pt x="62184" y="133350"/>
                  <a:pt x="51663" y="133350"/>
                </a:cubicBezTo>
                <a:cubicBezTo>
                  <a:pt x="41142" y="133350"/>
                  <a:pt x="32613" y="124821"/>
                  <a:pt x="32613" y="114300"/>
                </a:cubicBezTo>
                <a:cubicBezTo>
                  <a:pt x="34168" y="103802"/>
                  <a:pt x="30631" y="93191"/>
                  <a:pt x="23088" y="85725"/>
                </a:cubicBez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39" name="Freeform 39">
            <a:extLst xmlns:a="http://schemas.openxmlformats.org/drawingml/2006/main">
              <a:ext uri="{FF2B5EF4-FFF2-40B4-BE49-F238E27FC236}">
                <a16:creationId xmlns:a16="http://schemas.microsoft.com/office/drawing/2014/main" id="{220562C3-F173-4901-8F85-F615C8DA05F1}"/>
              </a:ext>
            </a:extLst>
          </p:cNvPr>
          <p:cNvSpPr>
            <a:spLocks xmlns:a="http://schemas.openxmlformats.org/drawingml/2006/main" noGrp="1"/>
          </p:cNvSpPr>
          <p:nvPr/>
        </p:nvSpPr>
        <p:spPr>
          <a:xfrm xmlns:a="http://schemas.openxmlformats.org/drawingml/2006/main" rot="0" flipH="0" flipV="0">
            <a:off x="6588442" y="5114925"/>
            <a:ext cx="43815" cy="9525"/>
          </a:xfrm>
          <a:custGeom xmlns:a="http://schemas.openxmlformats.org/drawingml/2006/main">
            <a:rect l="l" t="t" r="r" b="b"/>
            <a:pathLst>
              <a:path w="43815" h="9525">
                <a:moveTo>
                  <a:pt x="0" y="0"/>
                </a:moveTo>
                <a:lnTo>
                  <a:pt x="43815" y="0"/>
                </a:lnTo>
              </a:path>
            </a:pathLst>
          </a:custGeom>
          <a:noFill xmlns:a="http://schemas.openxmlformats.org/drawingml/2006/main"/>
          <a:ln xmlns:a="http://schemas.openxmlformats.org/drawingml/2006/main" w="19050">
            <a:solidFill>
              <a:schemeClr val="accent1"/>
            </a:solidFill>
          </a:ln>
        </p:spPr>
        <p:txBody>
          <a:bodyPr xmlns:a="http://schemas.openxmlformats.org/drawingml/2006/main"/>
          <a:lstStyle xmlns:a="http://schemas.openxmlformats.org/drawingml/2006/main"/>
          <a:p xmlns:a="http://schemas.openxmlformats.org/drawingml/2006/main">
            <a:endParaRPr/>
          </a:p>
        </p:txBody>
      </p:sp>
      <p:sp>
        <p:nvSpPr>
          <p:cNvPr id="41" name="TextBox 41">
            <a:extLst xmlns:a="http://schemas.openxmlformats.org/drawingml/2006/main">
              <a:ext uri="{FF2B5EF4-FFF2-40B4-BE49-F238E27FC236}">
                <a16:creationId xmlns:a16="http://schemas.microsoft.com/office/drawing/2014/main" id="{FBBB5DD2-DA32-4CE2-95C7-A0A265B84CC6}"/>
              </a:ext>
            </a:extLst>
          </p:cNvPr>
          <p:cNvSpPr>
            <a:spLocks xmlns:a="http://schemas.openxmlformats.org/drawingml/2006/main" noGrp="1"/>
          </p:cNvSpPr>
          <p:nvPr/>
        </p:nvSpPr>
        <p:spPr>
          <a:xfrm xmlns:a="http://schemas.openxmlformats.org/drawingml/2006/main" rot="0" flipH="0" flipV="0">
            <a:off x="6794754" y="4994910"/>
            <a:ext cx="3058119"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spc="150">
                <a:solidFill>
                  <a:schemeClr val="accent1"/>
                </a:solidFill>
                <a:latin typeface="+mn-lt"/>
                <a:ea typeface="+mn-lt"/>
                <a:cs typeface="+mn-lt"/>
              </a:rPr>
              <a:t>LIMITATIONS / WHAT WE'D ADD</a:t>
            </a:r>
          </a:p>
        </p:txBody>
      </p:sp>
      <p:sp>
        <p:nvSpPr>
          <p:cNvPr id="42" name="Ellipse 42">
            <a:extLst xmlns:a="http://schemas.openxmlformats.org/drawingml/2006/main">
              <a:ext uri="{FF2B5EF4-FFF2-40B4-BE49-F238E27FC236}">
                <a16:creationId xmlns:a16="http://schemas.microsoft.com/office/drawing/2014/main" id="{734F006B-477E-40AF-BEF2-922535B7BA84}"/>
              </a:ext>
            </a:extLst>
          </p:cNvPr>
          <p:cNvSpPr>
            <a:spLocks xmlns:a="http://schemas.openxmlformats.org/drawingml/2006/main" noGrp="1"/>
          </p:cNvSpPr>
          <p:nvPr/>
        </p:nvSpPr>
        <p:spPr>
          <a:xfrm xmlns:a="http://schemas.openxmlformats.org/drawingml/2006/main" rot="0" flipH="0" flipV="0">
            <a:off x="6553200" y="5353050"/>
            <a:ext cx="76200" cy="762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3" name="TextBox 43">
            <a:extLst xmlns:a="http://schemas.openxmlformats.org/drawingml/2006/main">
              <a:ext uri="{FF2B5EF4-FFF2-40B4-BE49-F238E27FC236}">
                <a16:creationId xmlns:a16="http://schemas.microsoft.com/office/drawing/2014/main" id="{774174C0-B7DA-4DD4-B170-405F29495556}"/>
              </a:ext>
            </a:extLst>
          </p:cNvPr>
          <p:cNvSpPr>
            <a:spLocks xmlns:a="http://schemas.openxmlformats.org/drawingml/2006/main" noGrp="1"/>
          </p:cNvSpPr>
          <p:nvPr/>
        </p:nvSpPr>
        <p:spPr>
          <a:xfrm xmlns:a="http://schemas.openxmlformats.org/drawingml/2006/main" rot="0" flipH="0" flipV="0">
            <a:off x="6717792" y="5302568"/>
            <a:ext cx="3436610"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Road-network travel time + existing chargers</a:t>
            </a:r>
          </a:p>
        </p:txBody>
      </p:sp>
      <p:sp>
        <p:nvSpPr>
          <p:cNvPr id="44" name="Ellipse 44">
            <a:extLst xmlns:a="http://schemas.openxmlformats.org/drawingml/2006/main">
              <a:ext uri="{FF2B5EF4-FFF2-40B4-BE49-F238E27FC236}">
                <a16:creationId xmlns:a16="http://schemas.microsoft.com/office/drawing/2014/main" id="{14CDADBF-DB0D-4E94-ADF1-A4770421A173}"/>
              </a:ext>
            </a:extLst>
          </p:cNvPr>
          <p:cNvSpPr>
            <a:spLocks xmlns:a="http://schemas.openxmlformats.org/drawingml/2006/main" noGrp="1"/>
          </p:cNvSpPr>
          <p:nvPr/>
        </p:nvSpPr>
        <p:spPr>
          <a:xfrm xmlns:a="http://schemas.openxmlformats.org/drawingml/2006/main" rot="0" flipH="0" flipV="0">
            <a:off x="6553200" y="5600700"/>
            <a:ext cx="76200" cy="762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5" name="TextBox 45">
            <a:extLst xmlns:a="http://schemas.openxmlformats.org/drawingml/2006/main">
              <a:ext uri="{FF2B5EF4-FFF2-40B4-BE49-F238E27FC236}">
                <a16:creationId xmlns:a16="http://schemas.microsoft.com/office/drawing/2014/main" id="{108C189D-83C3-4938-A398-5C63404E8023}"/>
              </a:ext>
            </a:extLst>
          </p:cNvPr>
          <p:cNvSpPr>
            <a:spLocks xmlns:a="http://schemas.openxmlformats.org/drawingml/2006/main" noGrp="1"/>
          </p:cNvSpPr>
          <p:nvPr/>
        </p:nvSpPr>
        <p:spPr>
          <a:xfrm xmlns:a="http://schemas.openxmlformats.org/drawingml/2006/main" rot="0" flipH="0" flipV="0">
            <a:off x="6717792" y="5550218"/>
            <a:ext cx="3264522"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Utility/grid feasibility + ownership + equity</a:t>
            </a:r>
          </a:p>
        </p:txBody>
      </p:sp>
      <p:sp>
        <p:nvSpPr>
          <p:cNvPr id="46" name="Ellipse 46">
            <a:extLst xmlns:a="http://schemas.openxmlformats.org/drawingml/2006/main">
              <a:ext uri="{FF2B5EF4-FFF2-40B4-BE49-F238E27FC236}">
                <a16:creationId xmlns:a16="http://schemas.microsoft.com/office/drawing/2014/main" id="{964AB4E6-12F8-453D-9AEC-B65B39C9773A}"/>
              </a:ext>
            </a:extLst>
          </p:cNvPr>
          <p:cNvSpPr>
            <a:spLocks xmlns:a="http://schemas.openxmlformats.org/drawingml/2006/main" noGrp="1"/>
          </p:cNvSpPr>
          <p:nvPr/>
        </p:nvSpPr>
        <p:spPr>
          <a:xfrm xmlns:a="http://schemas.openxmlformats.org/drawingml/2006/main" rot="0" flipH="0" flipV="0">
            <a:off x="6553200" y="5848350"/>
            <a:ext cx="76200" cy="76200"/>
          </a:xfrm>
          <a:prstGeom xmlns:a="http://schemas.openxmlformats.org/drawingml/2006/main" prst="ellipse">
            <a:avLst/>
          </a:prstGeom>
          <a:solidFill xmlns:a="http://schemas.openxmlformats.org/drawingml/2006/main">
            <a:schemeClr val="accent1"/>
          </a:solidFill>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47" name="TextBox 47">
            <a:extLst xmlns:a="http://schemas.openxmlformats.org/drawingml/2006/main">
              <a:ext uri="{FF2B5EF4-FFF2-40B4-BE49-F238E27FC236}">
                <a16:creationId xmlns:a16="http://schemas.microsoft.com/office/drawing/2014/main" id="{43D70CC0-1A05-4682-878F-B440868AA863}"/>
              </a:ext>
            </a:extLst>
          </p:cNvPr>
          <p:cNvSpPr>
            <a:spLocks xmlns:a="http://schemas.openxmlformats.org/drawingml/2006/main" noGrp="1"/>
          </p:cNvSpPr>
          <p:nvPr/>
        </p:nvSpPr>
        <p:spPr>
          <a:xfrm xmlns:a="http://schemas.openxmlformats.org/drawingml/2006/main" rot="0" flipH="0" flipV="0">
            <a:off x="6717792" y="5797868"/>
            <a:ext cx="5045208" cy="26403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a:solidFill>
                  <a:schemeClr val="dk1"/>
                </a:solidFill>
                <a:latin typeface="+mn-lt"/>
                <a:ea typeface="+mn-lt"/>
                <a:cs typeface="+mn-lt"/>
              </a:rPr>
              <a:t>Measured EV demand + charger-count and phasing decisions</a:t>
            </a:r>
          </a:p>
        </p:txBody>
      </p:sp>
      <p:sp>
        <p:nvSpPr>
          <p:cNvPr id="49" name="Line 49">
            <a:extLst xmlns:a="http://schemas.openxmlformats.org/drawingml/2006/main">
              <a:ext uri="{FF2B5EF4-FFF2-40B4-BE49-F238E27FC236}">
                <a16:creationId xmlns:a16="http://schemas.microsoft.com/office/drawing/2014/main" id="{94DCA1AE-1DC8-49BE-A4FF-3B9231B9688F}"/>
              </a:ext>
            </a:extLst>
          </p:cNvPr>
          <p:cNvSpPr>
            <a:spLocks xmlns:a="http://schemas.openxmlformats.org/drawingml/2006/main" noGrp="1"/>
          </p:cNvSpPr>
          <p:nvPr/>
        </p:nvSpPr>
        <p:spPr>
          <a:xfrm xmlns:a="http://schemas.openxmlformats.org/drawingml/2006/main" rot="0" flipH="0" flipV="0">
            <a:off x="457200" y="64008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chemeClr val="accent5"/>
            </a:solidFill>
          </a:ln>
        </p:spPr>
        <p:txBody>
          <a:bodyPr xmlns:a="http://schemas.openxmlformats.org/drawingml/2006/main"/>
          <a:lstStyle xmlns:a="http://schemas.openxmlformats.org/drawingml/2006/main"/>
          <a:p xmlns:a="http://schemas.openxmlformats.org/drawingml/2006/main">
            <a:endParaRPr/>
          </a:p>
        </p:txBody>
      </p:sp>
      <p:sp>
        <p:nvSpPr>
          <p:cNvPr id="50" name="TextBox 50">
            <a:extLst xmlns:a="http://schemas.openxmlformats.org/drawingml/2006/main">
              <a:ext uri="{FF2B5EF4-FFF2-40B4-BE49-F238E27FC236}">
                <a16:creationId xmlns:a16="http://schemas.microsoft.com/office/drawing/2014/main" id="{A5C7ED5E-DFF5-4B4A-9A6C-6E14FC8F1D29}"/>
              </a:ext>
            </a:extLst>
          </p:cNvPr>
          <p:cNvSpPr>
            <a:spLocks xmlns:a="http://schemas.openxmlformats.org/drawingml/2006/main" noGrp="1"/>
          </p:cNvSpPr>
          <p:nvPr/>
        </p:nvSpPr>
        <p:spPr>
          <a:xfrm xmlns:a="http://schemas.openxmlformats.org/drawingml/2006/main" rot="0" flipH="0" flipV="0">
            <a:off x="451104" y="6518910"/>
            <a:ext cx="3339667"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6B7280"/>
                </a:solidFill>
                <a:latin typeface="+mn-lt"/>
                <a:ea typeface="+mn-lt"/>
                <a:cs typeface="+mn-lt"/>
              </a:rPr>
              <a:t>EV Charging Siting · Optimization Methods</a:t>
            </a:r>
          </a:p>
        </p:txBody>
      </p:sp>
      <p:sp>
        <p:nvSpPr>
          <p:cNvPr id="51" name="TextBox 51">
            <a:extLst xmlns:a="http://schemas.openxmlformats.org/drawingml/2006/main">
              <a:ext uri="{FF2B5EF4-FFF2-40B4-BE49-F238E27FC236}">
                <a16:creationId xmlns:a16="http://schemas.microsoft.com/office/drawing/2014/main" id="{979FDD26-084B-4839-8036-6C2E13A2DA3C}"/>
              </a:ext>
            </a:extLst>
          </p:cNvPr>
          <p:cNvSpPr>
            <a:spLocks xmlns:a="http://schemas.openxmlformats.org/drawingml/2006/main" noGrp="1"/>
          </p:cNvSpPr>
          <p:nvPr/>
        </p:nvSpPr>
        <p:spPr>
          <a:xfrm xmlns:a="http://schemas.openxmlformats.org/drawingml/2006/main" rot="0" flipH="0" flipV="0">
            <a:off x="11187532" y="6518910"/>
            <a:ext cx="553364" cy="2346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1200">
                <a:solidFill>
                  <a:srgbClr val="6B7280"/>
                </a:solidFill>
                <a:latin typeface="+mn-lt"/>
                <a:ea typeface="+mn-lt"/>
                <a:cs typeface="+mn-lt"/>
              </a:rPr>
              <a:t>14 / 14</a:t>
            </a:r>
          </a:p>
        </p:txBody>
      </p:sp>
    </p:spTree>
    <p:extLst>
      <p:ext uri="{BB962C8B-B14F-4D97-AF65-F5344CB8AC3E}">
        <p14:creationId xmlns:p14="http://schemas.microsoft.com/office/powerpoint/2010/main" val="340600349"/>
      </p:ext>
    </p:extLst>
  </p:cSld>
</p:sld>
</file>

<file path=ppt/theme/theme1.xml><?xml version="1.0" encoding="utf-8"?>
<a:theme xmlns:a="http://schemas.openxmlformats.org/drawingml/2006/main" name="ev_charging_siting">
  <a:themeElements>
    <a:clrScheme name="ev_charging_siting">
      <a:dk1>
        <a:srgbClr val="1F2937"/>
      </a:dk1>
      <a:lt1>
        <a:srgbClr val="FFFFFF"/>
      </a:lt1>
      <a:dk2>
        <a:srgbClr val="1F497D"/>
      </a:dk2>
      <a:lt2>
        <a:srgbClr val="F1F5F5"/>
      </a:lt2>
      <a:accent1>
        <a:srgbClr val="0E7C6B"/>
      </a:accent1>
      <a:accent2>
        <a:srgbClr val="F59E0B"/>
      </a:accent2>
      <a:accent3>
        <a:srgbClr val="DC2626"/>
      </a:accent3>
      <a:accent4>
        <a:srgbClr val="0E7C6B"/>
      </a:accent4>
      <a:accent5>
        <a:srgbClr val="E2E8F0"/>
      </a:accent5>
      <a:accent6>
        <a:srgbClr val="F79646"/>
      </a:accent6>
      <a:hlink>
        <a:srgbClr val="F59E0B"/>
      </a:hlink>
      <a:folHlink>
        <a:srgbClr val="DC2626"/>
      </a:folHlink>
    </a:clrScheme>
    <a:fontScheme name="ev_charging_siting">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_charging_sit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2026-08-17T01:12:41.1570000Z</dcterms:created>
  <dcterms:modified xsi:type="dcterms:W3CDTF">2026-08-17T01:12:41.1570000Z</dcterms:modified>
</coreProperties>
</file>